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1.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82" r:id="rId6"/>
    <p:sldId id="283" r:id="rId7"/>
    <p:sldId id="284" r:id="rId8"/>
    <p:sldId id="261" r:id="rId9"/>
    <p:sldId id="262" r:id="rId10"/>
    <p:sldId id="260" r:id="rId11"/>
    <p:sldId id="330" r:id="rId12"/>
    <p:sldId id="263" r:id="rId13"/>
    <p:sldId id="264" r:id="rId14"/>
    <p:sldId id="265" r:id="rId15"/>
    <p:sldId id="266" r:id="rId16"/>
    <p:sldId id="267" r:id="rId17"/>
    <p:sldId id="268" r:id="rId18"/>
    <p:sldId id="269" r:id="rId19"/>
    <p:sldId id="270" r:id="rId20"/>
    <p:sldId id="285" r:id="rId21"/>
    <p:sldId id="272" r:id="rId22"/>
    <p:sldId id="273" r:id="rId23"/>
    <p:sldId id="271" r:id="rId24"/>
    <p:sldId id="274" r:id="rId25"/>
    <p:sldId id="276" r:id="rId26"/>
    <p:sldId id="278" r:id="rId27"/>
    <p:sldId id="287" r:id="rId28"/>
    <p:sldId id="277" r:id="rId29"/>
    <p:sldId id="279" r:id="rId30"/>
    <p:sldId id="275" r:id="rId31"/>
    <p:sldId id="280" r:id="rId32"/>
    <p:sldId id="286" r:id="rId33"/>
    <p:sldId id="281" r:id="rId34"/>
    <p:sldId id="288" r:id="rId35"/>
    <p:sldId id="290" r:id="rId36"/>
    <p:sldId id="291" r:id="rId37"/>
    <p:sldId id="292" r:id="rId38"/>
    <p:sldId id="293" r:id="rId39"/>
    <p:sldId id="294" r:id="rId40"/>
    <p:sldId id="295" r:id="rId41"/>
    <p:sldId id="297" r:id="rId42"/>
    <p:sldId id="298" r:id="rId43"/>
    <p:sldId id="299" r:id="rId44"/>
    <p:sldId id="300" r:id="rId45"/>
    <p:sldId id="296" r:id="rId46"/>
    <p:sldId id="289" r:id="rId47"/>
    <p:sldId id="301" r:id="rId48"/>
    <p:sldId id="302" r:id="rId49"/>
    <p:sldId id="303"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XX" initials="L" lastIdx="3" clrIdx="0">
    <p:extLst>
      <p:ext uri="{19B8F6BF-5375-455C-9EA6-DF929625EA0E}">
        <p15:presenceInfo xmlns:p15="http://schemas.microsoft.com/office/powerpoint/2012/main" userId="bf358a13fe5e2a5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36" autoAdjust="0"/>
    <p:restoredTop sz="78486" autoAdjust="0"/>
  </p:normalViewPr>
  <p:slideViewPr>
    <p:cSldViewPr snapToGrid="0">
      <p:cViewPr varScale="1">
        <p:scale>
          <a:sx n="103" d="100"/>
          <a:sy n="103" d="100"/>
        </p:scale>
        <p:origin x="653"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9-16T17:45:34.867" idx="3">
    <p:pos x="2" y="34"/>
    <p:text>clear;clc;close all;
%% Initialize
addpath(genpath('E:\2022-TIGRE-master'))
%% Define angles of projection and load cube4 image
%% Define Geometry
% Geometic parameters
geo.DSD = 1279+178;                                   % Distance Source Detector      (mm)
geo.DSO = 1279;                                      % Distance Source Origin        (mm)
% Detector parameters
geo.nDetector = [256;256];					       % Number of pixels              (px)
geo.dDetector = [0.78;0.78]; 				           % Size of each pixel            (mm)
geo.sDetector = geo.nDetector.*geo.dDetector;      % Total size of the detector    (mm)
view = 720;
% Image parameters
geo.nVoxel = [256;256;256];                         % number of voxels              (vx)
geo.sVoxel = geo.nVoxel.*[0.78;0.78;0.78];         % total size of the image       (mm)
geo.dVoxel = geo.sVoxel./geo.nVoxel;               % size of each voxel            (mm)
% Offset
geo.COR= 0;
geo.offDetector=zeros(2,view);
% geo.offDetector(1:1,:) = ones(1,view).*(0);
geo.offOrigin = zeros(3,view);
% Detector rotation
geo.rotDetector = zeros(3,view); 
% geo.rotDetector(3:3,:) = 0/180*pi;                 % Rotation of the detector, by 
% Auxiliary 
geo.accuracy = 0.5;                                % Accuracy of FWD proj          (vx/sample)
geo.mode = 'cone';   
%% angle-扫描方式定义-通过欧拉角实现偏转旋转轴  ZYZ
angles=[linspace(0,2*pi,view)];
% cone_angle = atan(100/373)*180/pi;
%% Load data and generate projections 
% load('cube9.mat');
% cube = single(cube9);
% cube = permute(cube,[2 3 1]);
shepp_type='Modified Shepp-Logan';                    % (default).
shepp=sheppLogan3D([256,256,256],shepp_type);         % Default are 128^3 and Modified shepp-logan
shepp=permute(shepp,[1 3 2]);
% shepp =shepp(206:236,:,:);
CT_proj=Ax(shepp,geo,angles);
% plotImg([CT_proj],'Dim',3);
CT_FDK=FDK(CT_proj(:,:,1:1:view),geo,angles);
% plotImg(CT_FDK,'Dim','Y')
% imtool(squeeze(CT_FDK(:,128,:)))
%% Save Projections_DATA
save_slices_as_bmp(CT_proj,'CT_proj');
%% 获取 imgFDK 数据的大小，假设 imgFDK 是 3D 数组
save_slices_as_bmp(CT_FDK,'CT_FDK');
figure(),imshow(squeeze(CT_FDK(:,128,:))',[0 1]);
figure(),imshow(squeeze(CT_FDK(128,:,:))',[0 1]);
% figure(),imshow(squeeze(CT_FDK(:,:,256)),[]);</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A12BA-E484-4875-BB33-4A6568F56436}" type="datetimeFigureOut">
              <a:rPr lang="zh-CN" altLang="en-US" smtClean="0"/>
              <a:t>2024/10/31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E50BA-577E-4E91-BAB7-8D724902351B}" type="slidenum">
              <a:rPr lang="zh-CN" altLang="en-US" smtClean="0"/>
              <a:t>‹#›</a:t>
            </a:fld>
            <a:endParaRPr lang="zh-CN" altLang="en-US"/>
          </a:p>
        </p:txBody>
      </p:sp>
    </p:spTree>
    <p:extLst>
      <p:ext uri="{BB962C8B-B14F-4D97-AF65-F5344CB8AC3E}">
        <p14:creationId xmlns:p14="http://schemas.microsoft.com/office/powerpoint/2010/main" val="3457492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smtClean="0"/>
              <a:t>Medical Physics - 2018 - Tang - On the data acquisition  image reconstruction  cone beam artifacts  and their suppression</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2</a:t>
            </a:fld>
            <a:endParaRPr lang="zh-CN" altLang="en-US"/>
          </a:p>
        </p:txBody>
      </p:sp>
    </p:spTree>
    <p:extLst>
      <p:ext uri="{BB962C8B-B14F-4D97-AF65-F5344CB8AC3E}">
        <p14:creationId xmlns:p14="http://schemas.microsoft.com/office/powerpoint/2010/main" val="4241828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处理非理想探测器性质的方法</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4</a:t>
            </a:fld>
            <a:endParaRPr lang="zh-CN" altLang="en-US"/>
          </a:p>
        </p:txBody>
      </p:sp>
    </p:spTree>
    <p:extLst>
      <p:ext uri="{BB962C8B-B14F-4D97-AF65-F5344CB8AC3E}">
        <p14:creationId xmlns:p14="http://schemas.microsoft.com/office/powerpoint/2010/main" val="893121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处理非理想探测器性质的方法</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5</a:t>
            </a:fld>
            <a:endParaRPr lang="zh-CN" altLang="en-US"/>
          </a:p>
        </p:txBody>
      </p:sp>
    </p:spTree>
    <p:extLst>
      <p:ext uri="{BB962C8B-B14F-4D97-AF65-F5344CB8AC3E}">
        <p14:creationId xmlns:p14="http://schemas.microsoft.com/office/powerpoint/2010/main" val="384630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处理非理想探测器性质的方法</a:t>
            </a:r>
            <a:endParaRPr lang="en-US" altLang="zh-CN" dirty="0" smtClean="0"/>
          </a:p>
          <a:p>
            <a:endParaRPr lang="zh-CN" altLang="en-US" dirty="0" smtClean="0"/>
          </a:p>
          <a:p>
            <a:r>
              <a:rPr lang="zh-CN" altLang="en-US" dirty="0" smtClean="0"/>
              <a:t>纵向采样率（</a:t>
            </a:r>
            <a:r>
              <a:rPr lang="en-US" altLang="zh-CN" dirty="0" smtClean="0"/>
              <a:t>Vertical Sampling Rate</a:t>
            </a:r>
            <a:r>
              <a:rPr lang="zh-CN" altLang="en-US" dirty="0" smtClean="0"/>
              <a:t>）通常出现在与图像或视频处理相关的领域，指的是在垂直方向（如图像的高度方向）进行采样的频率。它描述了图像或视频在垂直方向上每单位距离内采集数据的密度，类似于横向采样率（</a:t>
            </a:r>
            <a:r>
              <a:rPr lang="en-US" altLang="zh-CN" dirty="0" smtClean="0"/>
              <a:t>Horizontal Sampling Rate</a:t>
            </a:r>
            <a:r>
              <a:rPr lang="zh-CN" altLang="en-US" dirty="0" smtClean="0"/>
              <a:t>）描述图像宽度方向的采样密度。</a:t>
            </a:r>
          </a:p>
          <a:p>
            <a:r>
              <a:rPr lang="zh-CN" altLang="en-US" b="1" dirty="0" smtClean="0"/>
              <a:t>具体解释：</a:t>
            </a:r>
          </a:p>
          <a:p>
            <a:r>
              <a:rPr lang="zh-CN" altLang="en-US" dirty="0" smtClean="0"/>
              <a:t>在数字图像中，采样率决定了每一行或每一列中采样点（像素）的数量。对于图像处理中的纵向采样率，通常表示为每单位长度（例如</a:t>
            </a:r>
            <a:r>
              <a:rPr lang="en-US" altLang="zh-CN" dirty="0" smtClean="0"/>
              <a:t>1</a:t>
            </a:r>
            <a:r>
              <a:rPr lang="zh-CN" altLang="en-US" dirty="0" smtClean="0"/>
              <a:t>米、</a:t>
            </a:r>
            <a:r>
              <a:rPr lang="en-US" altLang="zh-CN" dirty="0" smtClean="0"/>
              <a:t>1</a:t>
            </a:r>
            <a:r>
              <a:rPr lang="zh-CN" altLang="en-US" dirty="0" smtClean="0"/>
              <a:t>毫米）在图像高度方向上采集到的像素数量。例如，在一个高清图像中，纵向采样率越高，意味着图像在垂直方向上能更清晰地捕捉到细节。</a:t>
            </a:r>
          </a:p>
          <a:p>
            <a:r>
              <a:rPr lang="zh-CN" altLang="en-US" dirty="0" smtClean="0"/>
              <a:t>在视频处理中，纵向采样率还可能与帧率相结合，影响整体的空间和时间分辨率。因此，调整纵向采样率可以影响到图像或视频的质量，特别是在垂直方向的清晰度或分辨率上。</a:t>
            </a:r>
          </a:p>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6</a:t>
            </a:fld>
            <a:endParaRPr lang="zh-CN" altLang="en-US"/>
          </a:p>
        </p:txBody>
      </p:sp>
    </p:spTree>
    <p:extLst>
      <p:ext uri="{BB962C8B-B14F-4D97-AF65-F5344CB8AC3E}">
        <p14:creationId xmlns:p14="http://schemas.microsoft.com/office/powerpoint/2010/main" val="1340968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检查</a:t>
            </a:r>
            <a:r>
              <a:rPr lang="en-US" altLang="zh-CN" dirty="0" smtClean="0"/>
              <a:t>FDK</a:t>
            </a:r>
            <a:r>
              <a:rPr lang="zh-CN" altLang="en-US" dirty="0" smtClean="0"/>
              <a:t>算法重建的图像</a:t>
            </a:r>
            <a:r>
              <a:rPr lang="en-US" altLang="zh-CN" dirty="0" smtClean="0"/>
              <a:t>[</a:t>
            </a:r>
            <a:r>
              <a:rPr lang="zh-CN" altLang="en-US" dirty="0" smtClean="0"/>
              <a:t>图</a:t>
            </a:r>
            <a:r>
              <a:rPr lang="en-US" altLang="zh-CN" dirty="0" smtClean="0"/>
              <a:t>13</a:t>
            </a:r>
            <a:r>
              <a:rPr lang="zh-CN" altLang="en-US" dirty="0" smtClean="0"/>
              <a:t>中的磁盘幻影和图</a:t>
            </a:r>
            <a:r>
              <a:rPr lang="en-US" altLang="zh-CN" dirty="0" smtClean="0"/>
              <a:t>15(b)</a:t>
            </a:r>
            <a:r>
              <a:rPr lang="zh-CN" altLang="en-US" dirty="0" smtClean="0"/>
              <a:t>中的</a:t>
            </a:r>
            <a:r>
              <a:rPr lang="en-US" altLang="zh-CN" dirty="0" err="1" smtClean="0"/>
              <a:t>Defrise</a:t>
            </a:r>
            <a:r>
              <a:rPr lang="zh-CN" altLang="en-US" dirty="0" smtClean="0"/>
              <a:t>幻影</a:t>
            </a:r>
            <a:r>
              <a:rPr lang="en-US" altLang="zh-CN" dirty="0" smtClean="0"/>
              <a:t>]</a:t>
            </a:r>
            <a:r>
              <a:rPr lang="zh-CN" altLang="en-US" dirty="0" smtClean="0"/>
              <a:t>表明，</a:t>
            </a:r>
            <a:r>
              <a:rPr lang="en-US" altLang="zh-CN" dirty="0" smtClean="0"/>
              <a:t>CB</a:t>
            </a:r>
            <a:r>
              <a:rPr lang="zh-CN" altLang="en-US" dirty="0" smtClean="0"/>
              <a:t>伪影表现为阴影</a:t>
            </a:r>
            <a:r>
              <a:rPr lang="en-US" altLang="zh-CN" dirty="0" smtClean="0"/>
              <a:t>/</a:t>
            </a:r>
            <a:r>
              <a:rPr lang="zh-CN" altLang="en-US" dirty="0" smtClean="0"/>
              <a:t>眩光和</a:t>
            </a:r>
            <a:r>
              <a:rPr lang="en-US" altLang="zh-CN" dirty="0" smtClean="0"/>
              <a:t>/</a:t>
            </a:r>
            <a:r>
              <a:rPr lang="zh-CN" altLang="en-US" dirty="0" smtClean="0"/>
              <a:t>或条纹伪影，围绕着与软组织</a:t>
            </a:r>
            <a:r>
              <a:rPr lang="en-US" altLang="zh-CN" dirty="0" smtClean="0"/>
              <a:t>(</a:t>
            </a:r>
            <a:r>
              <a:rPr lang="zh-CN" altLang="en-US" dirty="0" smtClean="0"/>
              <a:t>例如骨结构或</a:t>
            </a:r>
            <a:r>
              <a:rPr lang="en-US" altLang="zh-CN" dirty="0" smtClean="0"/>
              <a:t>airy</a:t>
            </a:r>
            <a:r>
              <a:rPr lang="zh-CN" altLang="en-US" dirty="0" smtClean="0"/>
              <a:t>包</a:t>
            </a:r>
            <a:r>
              <a:rPr lang="en-US" altLang="zh-CN" dirty="0" smtClean="0"/>
              <a:t>)</a:t>
            </a:r>
            <a:r>
              <a:rPr lang="zh-CN" altLang="en-US" dirty="0" smtClean="0"/>
              <a:t>相比衰减极高或极低的结构。进一步的检查表明，它们在形态上与</a:t>
            </a:r>
            <a:r>
              <a:rPr lang="en-US" altLang="zh-CN" dirty="0" smtClean="0"/>
              <a:t>MDCT/CBCT</a:t>
            </a:r>
            <a:r>
              <a:rPr lang="zh-CN" altLang="en-US" dirty="0" smtClean="0"/>
              <a:t>图像</a:t>
            </a:r>
            <a:r>
              <a:rPr lang="en-US" altLang="zh-CN" dirty="0" smtClean="0"/>
              <a:t>head</a:t>
            </a:r>
            <a:r>
              <a:rPr lang="zh-CN" altLang="en-US" dirty="0" smtClean="0"/>
              <a:t>中常见的所谓的束</a:t>
            </a:r>
            <a:r>
              <a:rPr lang="zh-CN" altLang="en-US" b="1" dirty="0" smtClean="0">
                <a:solidFill>
                  <a:srgbClr val="FF0000"/>
                </a:solidFill>
              </a:rPr>
              <a:t>硬化伪影</a:t>
            </a:r>
            <a:r>
              <a:rPr lang="zh-CN" altLang="en-US" dirty="0" smtClean="0"/>
              <a:t>相似。</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7</a:t>
            </a:fld>
            <a:endParaRPr lang="zh-CN" altLang="en-US"/>
          </a:p>
        </p:txBody>
      </p:sp>
    </p:spTree>
    <p:extLst>
      <p:ext uri="{BB962C8B-B14F-4D97-AF65-F5344CB8AC3E}">
        <p14:creationId xmlns:p14="http://schemas.microsoft.com/office/powerpoint/2010/main" val="1089117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平移探测器的方式得到的等效理想</a:t>
            </a:r>
            <a:r>
              <a:rPr lang="en-US" altLang="zh-CN" dirty="0" smtClean="0"/>
              <a:t>CT</a:t>
            </a:r>
            <a:r>
              <a:rPr lang="zh-CN" altLang="en-US" dirty="0" smtClean="0"/>
              <a:t>成像效果两种方式几何等价？？？感觉有点问题</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10</a:t>
            </a:fld>
            <a:endParaRPr lang="zh-CN" altLang="en-US"/>
          </a:p>
        </p:txBody>
      </p:sp>
    </p:spTree>
    <p:extLst>
      <p:ext uri="{BB962C8B-B14F-4D97-AF65-F5344CB8AC3E}">
        <p14:creationId xmlns:p14="http://schemas.microsoft.com/office/powerpoint/2010/main" val="4131891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smtClean="0"/>
              <a:t>5 16 25</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12</a:t>
            </a:fld>
            <a:endParaRPr lang="zh-CN" altLang="en-US"/>
          </a:p>
        </p:txBody>
      </p:sp>
    </p:spTree>
    <p:extLst>
      <p:ext uri="{BB962C8B-B14F-4D97-AF65-F5344CB8AC3E}">
        <p14:creationId xmlns:p14="http://schemas.microsoft.com/office/powerpoint/2010/main" val="514864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14</a:t>
            </a:fld>
            <a:endParaRPr lang="zh-CN" altLang="en-US"/>
          </a:p>
        </p:txBody>
      </p:sp>
    </p:spTree>
    <p:extLst>
      <p:ext uri="{BB962C8B-B14F-4D97-AF65-F5344CB8AC3E}">
        <p14:creationId xmlns:p14="http://schemas.microsoft.com/office/powerpoint/2010/main" val="1313852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18</a:t>
            </a:fld>
            <a:endParaRPr lang="zh-CN" altLang="en-US"/>
          </a:p>
        </p:txBody>
      </p:sp>
    </p:spTree>
    <p:extLst>
      <p:ext uri="{BB962C8B-B14F-4D97-AF65-F5344CB8AC3E}">
        <p14:creationId xmlns:p14="http://schemas.microsoft.com/office/powerpoint/2010/main" val="1087112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23</a:t>
            </a:fld>
            <a:endParaRPr lang="zh-CN" altLang="en-US"/>
          </a:p>
        </p:txBody>
      </p:sp>
    </p:spTree>
    <p:extLst>
      <p:ext uri="{BB962C8B-B14F-4D97-AF65-F5344CB8AC3E}">
        <p14:creationId xmlns:p14="http://schemas.microsoft.com/office/powerpoint/2010/main" val="4055382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err="1" smtClean="0"/>
              <a:t>Cone_angle</a:t>
            </a:r>
            <a:r>
              <a:rPr lang="en-US" altLang="zh-CN" dirty="0" smtClean="0"/>
              <a:t>=14.07</a:t>
            </a:r>
          </a:p>
          <a:p>
            <a:r>
              <a:rPr lang="en-US" altLang="zh-CN" sz="1200" b="0" i="0" u="none" strike="noStrike" kern="1200" baseline="0" dirty="0" smtClean="0">
                <a:solidFill>
                  <a:schemeClr val="tx1"/>
                </a:solidFill>
                <a:latin typeface="+mn-lt"/>
                <a:ea typeface="+mn-ea"/>
                <a:cs typeface="+mn-cs"/>
              </a:rPr>
              <a:t>figure, </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(squeeze(rec(:,:,256)),[]);</a:t>
            </a:r>
          </a:p>
          <a:p>
            <a:r>
              <a:rPr lang="en-US" altLang="zh-CN" sz="1200" b="0" i="0" u="none" strike="noStrike" kern="1200" baseline="0" dirty="0" smtClean="0">
                <a:solidFill>
                  <a:schemeClr val="tx1"/>
                </a:solidFill>
                <a:latin typeface="+mn-lt"/>
                <a:ea typeface="+mn-ea"/>
                <a:cs typeface="+mn-cs"/>
              </a:rPr>
              <a:t>figure, </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(squeeze(rec(:,256,:)),[]);</a:t>
            </a:r>
          </a:p>
          <a:p>
            <a:r>
              <a:rPr lang="en-US" altLang="zh-CN" sz="1200" b="0" i="0" u="none" strike="noStrike" kern="1200" baseline="0" dirty="0" smtClean="0">
                <a:solidFill>
                  <a:schemeClr val="tx1"/>
                </a:solidFill>
                <a:latin typeface="+mn-lt"/>
                <a:ea typeface="+mn-ea"/>
                <a:cs typeface="+mn-cs"/>
              </a:rPr>
              <a:t>figure, </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(squeeze(rec(256,:,:)),[]);</a:t>
            </a:r>
          </a:p>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24</a:t>
            </a:fld>
            <a:endParaRPr lang="zh-CN" altLang="en-US"/>
          </a:p>
        </p:txBody>
      </p:sp>
    </p:spTree>
    <p:extLst>
      <p:ext uri="{BB962C8B-B14F-4D97-AF65-F5344CB8AC3E}">
        <p14:creationId xmlns:p14="http://schemas.microsoft.com/office/powerpoint/2010/main" val="2617580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1200" b="0" i="0" u="none" strike="noStrike" kern="1200" baseline="0" dirty="0" err="1" smtClean="0">
                <a:solidFill>
                  <a:schemeClr val="tx1"/>
                </a:solidFill>
                <a:latin typeface="+mn-lt"/>
                <a:ea typeface="+mn-ea"/>
                <a:cs typeface="+mn-cs"/>
              </a:rPr>
              <a:t>clear;clc;close</a:t>
            </a:r>
            <a:r>
              <a:rPr lang="en-US" altLang="zh-CN" sz="1200" b="0" i="0" u="none" strike="noStrike" kern="1200" baseline="0" dirty="0" smtClean="0">
                <a:solidFill>
                  <a:schemeClr val="tx1"/>
                </a:solidFill>
                <a:latin typeface="+mn-lt"/>
                <a:ea typeface="+mn-ea"/>
                <a:cs typeface="+mn-cs"/>
              </a:rPr>
              <a:t> all;</a:t>
            </a:r>
          </a:p>
          <a:p>
            <a:r>
              <a:rPr lang="en-US" altLang="zh-CN" sz="1200" b="0" i="0" u="none" strike="noStrike" kern="1200" baseline="0" dirty="0" smtClean="0">
                <a:solidFill>
                  <a:schemeClr val="tx1"/>
                </a:solidFill>
                <a:latin typeface="+mn-lt"/>
                <a:ea typeface="+mn-ea"/>
                <a:cs typeface="+mn-cs"/>
              </a:rPr>
              <a:t>%% Initialize</a:t>
            </a:r>
          </a:p>
          <a:p>
            <a:r>
              <a:rPr lang="en-US" altLang="zh-CN" sz="1200" b="0" i="0" u="none" strike="noStrike" kern="1200" baseline="0" dirty="0" err="1" smtClean="0">
                <a:solidFill>
                  <a:schemeClr val="tx1"/>
                </a:solidFill>
                <a:latin typeface="+mn-lt"/>
                <a:ea typeface="+mn-ea"/>
                <a:cs typeface="+mn-cs"/>
              </a:rPr>
              <a:t>addpath</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genpath</a:t>
            </a:r>
            <a:r>
              <a:rPr lang="en-US" altLang="zh-CN" sz="1200" b="0" i="0" u="none" strike="noStrike" kern="1200" baseline="0" dirty="0" smtClean="0">
                <a:solidFill>
                  <a:schemeClr val="tx1"/>
                </a:solidFill>
                <a:latin typeface="+mn-lt"/>
                <a:ea typeface="+mn-ea"/>
                <a:cs typeface="+mn-cs"/>
              </a:rPr>
              <a:t>('E:\2022-TIGRE-master'))</a:t>
            </a:r>
          </a:p>
          <a:p>
            <a:r>
              <a:rPr lang="en-US" altLang="zh-CN" sz="1200" b="0" i="0" u="none" strike="noStrike" kern="1200" baseline="0" dirty="0" smtClean="0">
                <a:solidFill>
                  <a:schemeClr val="tx1"/>
                </a:solidFill>
                <a:latin typeface="+mn-lt"/>
                <a:ea typeface="+mn-ea"/>
                <a:cs typeface="+mn-cs"/>
              </a:rPr>
              <a:t>%% Define angles of projection and load cube4 image</a:t>
            </a:r>
          </a:p>
          <a:p>
            <a:r>
              <a:rPr lang="en-US" altLang="zh-CN" sz="1200" b="0" i="0" u="none" strike="noStrike" kern="1200" baseline="0" dirty="0" smtClean="0">
                <a:solidFill>
                  <a:schemeClr val="tx1"/>
                </a:solidFill>
                <a:latin typeface="+mn-lt"/>
                <a:ea typeface="+mn-ea"/>
                <a:cs typeface="+mn-cs"/>
              </a:rPr>
              <a:t>%% Define Geometry</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Geometic</a:t>
            </a:r>
            <a:r>
              <a:rPr lang="en-US" altLang="zh-CN" sz="1200" b="0" i="0" u="none" strike="noStrike" kern="1200" baseline="0" dirty="0" smtClean="0">
                <a:solidFill>
                  <a:schemeClr val="tx1"/>
                </a:solidFill>
                <a:latin typeface="+mn-lt"/>
                <a:ea typeface="+mn-ea"/>
                <a:cs typeface="+mn-cs"/>
              </a:rPr>
              <a:t> parameters</a:t>
            </a:r>
          </a:p>
          <a:p>
            <a:r>
              <a:rPr lang="en-US" altLang="zh-CN" sz="1200" b="0" i="0" u="none" strike="noStrike" kern="1200" baseline="0" dirty="0" err="1" smtClean="0">
                <a:solidFill>
                  <a:schemeClr val="tx1"/>
                </a:solidFill>
                <a:latin typeface="+mn-lt"/>
                <a:ea typeface="+mn-ea"/>
                <a:cs typeface="+mn-cs"/>
              </a:rPr>
              <a:t>geo.DSD</a:t>
            </a:r>
            <a:r>
              <a:rPr lang="en-US" altLang="zh-CN" sz="1200" b="0" i="0" u="none" strike="noStrike" kern="1200" baseline="0" dirty="0" smtClean="0">
                <a:solidFill>
                  <a:schemeClr val="tx1"/>
                </a:solidFill>
                <a:latin typeface="+mn-lt"/>
                <a:ea typeface="+mn-ea"/>
                <a:cs typeface="+mn-cs"/>
              </a:rPr>
              <a:t> = 1279+178;                                   % Distance Source Detector      (mm)</a:t>
            </a:r>
          </a:p>
          <a:p>
            <a:r>
              <a:rPr lang="en-US" altLang="zh-CN" sz="1200" b="0" i="0" u="none" strike="noStrike" kern="1200" baseline="0" dirty="0" err="1" smtClean="0">
                <a:solidFill>
                  <a:schemeClr val="tx1"/>
                </a:solidFill>
                <a:latin typeface="+mn-lt"/>
                <a:ea typeface="+mn-ea"/>
                <a:cs typeface="+mn-cs"/>
              </a:rPr>
              <a:t>geo.DSO</a:t>
            </a:r>
            <a:r>
              <a:rPr lang="en-US" altLang="zh-CN" sz="1200" b="0" i="0" u="none" strike="noStrike" kern="1200" baseline="0" dirty="0" smtClean="0">
                <a:solidFill>
                  <a:schemeClr val="tx1"/>
                </a:solidFill>
                <a:latin typeface="+mn-lt"/>
                <a:ea typeface="+mn-ea"/>
                <a:cs typeface="+mn-cs"/>
              </a:rPr>
              <a:t> = 1279;                                      % Distance Source Origin        (mm)</a:t>
            </a:r>
          </a:p>
          <a:p>
            <a:r>
              <a:rPr lang="en-US" altLang="zh-CN" sz="1200" b="0" i="0" u="none" strike="noStrike" kern="1200" baseline="0" dirty="0" smtClean="0">
                <a:solidFill>
                  <a:schemeClr val="tx1"/>
                </a:solidFill>
                <a:latin typeface="+mn-lt"/>
                <a:ea typeface="+mn-ea"/>
                <a:cs typeface="+mn-cs"/>
              </a:rPr>
              <a:t>% Detector parameters</a:t>
            </a:r>
          </a:p>
          <a:p>
            <a:r>
              <a:rPr lang="en-US" altLang="zh-CN" sz="1200" b="0" i="0" u="none" strike="noStrike" kern="1200" baseline="0" dirty="0" err="1" smtClean="0">
                <a:solidFill>
                  <a:schemeClr val="tx1"/>
                </a:solidFill>
                <a:latin typeface="+mn-lt"/>
                <a:ea typeface="+mn-ea"/>
                <a:cs typeface="+mn-cs"/>
              </a:rPr>
              <a:t>geo.nDetector</a:t>
            </a:r>
            <a:r>
              <a:rPr lang="en-US" altLang="zh-CN" sz="1200" b="0" i="0" u="none" strike="noStrike" kern="1200" baseline="0" dirty="0" smtClean="0">
                <a:solidFill>
                  <a:schemeClr val="tx1"/>
                </a:solidFill>
                <a:latin typeface="+mn-lt"/>
                <a:ea typeface="+mn-ea"/>
                <a:cs typeface="+mn-cs"/>
              </a:rPr>
              <a:t> = [256;256];                         % Number of pixels              (</a:t>
            </a:r>
            <a:r>
              <a:rPr lang="en-US" altLang="zh-CN" sz="1200" b="0" i="0" u="none" strike="noStrike" kern="1200" baseline="0" dirty="0" err="1" smtClean="0">
                <a:solidFill>
                  <a:schemeClr val="tx1"/>
                </a:solidFill>
                <a:latin typeface="+mn-lt"/>
                <a:ea typeface="+mn-ea"/>
                <a:cs typeface="+mn-cs"/>
              </a:rPr>
              <a:t>px</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err="1" smtClean="0">
                <a:solidFill>
                  <a:schemeClr val="tx1"/>
                </a:solidFill>
                <a:latin typeface="+mn-lt"/>
                <a:ea typeface="+mn-ea"/>
                <a:cs typeface="+mn-cs"/>
              </a:rPr>
              <a:t>geo.dDetector</a:t>
            </a:r>
            <a:r>
              <a:rPr lang="en-US" altLang="zh-CN" sz="1200" b="0" i="0" u="none" strike="noStrike" kern="1200" baseline="0" dirty="0" smtClean="0">
                <a:solidFill>
                  <a:schemeClr val="tx1"/>
                </a:solidFill>
                <a:latin typeface="+mn-lt"/>
                <a:ea typeface="+mn-ea"/>
                <a:cs typeface="+mn-cs"/>
              </a:rPr>
              <a:t> = [0.78;0.78];                           % Size of each pixel            (mm)</a:t>
            </a:r>
          </a:p>
          <a:p>
            <a:r>
              <a:rPr lang="en-US" altLang="zh-CN" sz="1200" b="0" i="0" u="none" strike="noStrike" kern="1200" baseline="0" dirty="0" err="1" smtClean="0">
                <a:solidFill>
                  <a:schemeClr val="tx1"/>
                </a:solidFill>
                <a:latin typeface="+mn-lt"/>
                <a:ea typeface="+mn-ea"/>
                <a:cs typeface="+mn-cs"/>
              </a:rPr>
              <a:t>geo.sDetector</a:t>
            </a:r>
            <a:r>
              <a:rPr lang="en-US" altLang="zh-CN" sz="1200" b="0" i="0" u="none" strike="noStrike" kern="1200" baseline="0" dirty="0" smtClean="0">
                <a:solidFill>
                  <a:schemeClr val="tx1"/>
                </a:solidFill>
                <a:latin typeface="+mn-lt"/>
                <a:ea typeface="+mn-ea"/>
                <a:cs typeface="+mn-cs"/>
              </a:rPr>
              <a:t> = </a:t>
            </a:r>
            <a:r>
              <a:rPr lang="en-US" altLang="zh-CN" sz="1200" b="0" i="0" u="none" strike="noStrike" kern="1200" baseline="0" dirty="0" err="1" smtClean="0">
                <a:solidFill>
                  <a:schemeClr val="tx1"/>
                </a:solidFill>
                <a:latin typeface="+mn-lt"/>
                <a:ea typeface="+mn-ea"/>
                <a:cs typeface="+mn-cs"/>
              </a:rPr>
              <a:t>geo.nDetector</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geo.dDetector</a:t>
            </a:r>
            <a:r>
              <a:rPr lang="en-US" altLang="zh-CN" sz="1200" b="0" i="0" u="none" strike="noStrike" kern="1200" baseline="0" dirty="0" smtClean="0">
                <a:solidFill>
                  <a:schemeClr val="tx1"/>
                </a:solidFill>
                <a:latin typeface="+mn-lt"/>
                <a:ea typeface="+mn-ea"/>
                <a:cs typeface="+mn-cs"/>
              </a:rPr>
              <a:t>;      % Total size of the detector    (mm)</a:t>
            </a:r>
          </a:p>
          <a:p>
            <a:r>
              <a:rPr lang="en-US" altLang="zh-CN" sz="1200" b="0" i="0" u="none" strike="noStrike" kern="1200" baseline="0" dirty="0" smtClean="0">
                <a:solidFill>
                  <a:schemeClr val="tx1"/>
                </a:solidFill>
                <a:latin typeface="+mn-lt"/>
                <a:ea typeface="+mn-ea"/>
                <a:cs typeface="+mn-cs"/>
              </a:rPr>
              <a:t>view = 720;</a:t>
            </a:r>
          </a:p>
          <a:p>
            <a:r>
              <a:rPr lang="en-US" altLang="zh-CN" sz="1200" b="0" i="0" u="none" strike="noStrike" kern="1200" baseline="0" dirty="0" smtClean="0">
                <a:solidFill>
                  <a:schemeClr val="tx1"/>
                </a:solidFill>
                <a:latin typeface="+mn-lt"/>
                <a:ea typeface="+mn-ea"/>
                <a:cs typeface="+mn-cs"/>
              </a:rPr>
              <a:t>% Image parameters</a:t>
            </a:r>
          </a:p>
          <a:p>
            <a:r>
              <a:rPr lang="en-US" altLang="zh-CN" sz="1200" b="0" i="0" u="none" strike="noStrike" kern="1200" baseline="0" dirty="0" err="1" smtClean="0">
                <a:solidFill>
                  <a:schemeClr val="tx1"/>
                </a:solidFill>
                <a:latin typeface="+mn-lt"/>
                <a:ea typeface="+mn-ea"/>
                <a:cs typeface="+mn-cs"/>
              </a:rPr>
              <a:t>geo.nVoxel</a:t>
            </a:r>
            <a:r>
              <a:rPr lang="en-US" altLang="zh-CN" sz="1200" b="0" i="0" u="none" strike="noStrike" kern="1200" baseline="0" dirty="0" smtClean="0">
                <a:solidFill>
                  <a:schemeClr val="tx1"/>
                </a:solidFill>
                <a:latin typeface="+mn-lt"/>
                <a:ea typeface="+mn-ea"/>
                <a:cs typeface="+mn-cs"/>
              </a:rPr>
              <a:t> = [256;256;256];                         % number of voxels              (</a:t>
            </a:r>
            <a:r>
              <a:rPr lang="en-US" altLang="zh-CN" sz="1200" b="0" i="0" u="none" strike="noStrike" kern="1200" baseline="0" dirty="0" err="1" smtClean="0">
                <a:solidFill>
                  <a:schemeClr val="tx1"/>
                </a:solidFill>
                <a:latin typeface="+mn-lt"/>
                <a:ea typeface="+mn-ea"/>
                <a:cs typeface="+mn-cs"/>
              </a:rPr>
              <a:t>vx</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err="1" smtClean="0">
                <a:solidFill>
                  <a:schemeClr val="tx1"/>
                </a:solidFill>
                <a:latin typeface="+mn-lt"/>
                <a:ea typeface="+mn-ea"/>
                <a:cs typeface="+mn-cs"/>
              </a:rPr>
              <a:t>geo.sVoxel</a:t>
            </a:r>
            <a:r>
              <a:rPr lang="en-US" altLang="zh-CN" sz="1200" b="0" i="0" u="none" strike="noStrike" kern="1200" baseline="0" dirty="0" smtClean="0">
                <a:solidFill>
                  <a:schemeClr val="tx1"/>
                </a:solidFill>
                <a:latin typeface="+mn-lt"/>
                <a:ea typeface="+mn-ea"/>
                <a:cs typeface="+mn-cs"/>
              </a:rPr>
              <a:t> = </a:t>
            </a:r>
            <a:r>
              <a:rPr lang="en-US" altLang="zh-CN" sz="1200" b="0" i="0" u="none" strike="noStrike" kern="1200" baseline="0" dirty="0" err="1" smtClean="0">
                <a:solidFill>
                  <a:schemeClr val="tx1"/>
                </a:solidFill>
                <a:latin typeface="+mn-lt"/>
                <a:ea typeface="+mn-ea"/>
                <a:cs typeface="+mn-cs"/>
              </a:rPr>
              <a:t>geo.nVoxel</a:t>
            </a:r>
            <a:r>
              <a:rPr lang="en-US" altLang="zh-CN" sz="1200" b="0" i="0" u="none" strike="noStrike" kern="1200" baseline="0" dirty="0" smtClean="0">
                <a:solidFill>
                  <a:schemeClr val="tx1"/>
                </a:solidFill>
                <a:latin typeface="+mn-lt"/>
                <a:ea typeface="+mn-ea"/>
                <a:cs typeface="+mn-cs"/>
              </a:rPr>
              <a:t>.*[0.78;0.78;0.78];         % total size of the image       (mm)</a:t>
            </a:r>
          </a:p>
          <a:p>
            <a:r>
              <a:rPr lang="en-US" altLang="zh-CN" sz="1200" b="0" i="0" u="none" strike="noStrike" kern="1200" baseline="0" dirty="0" err="1" smtClean="0">
                <a:solidFill>
                  <a:schemeClr val="tx1"/>
                </a:solidFill>
                <a:latin typeface="+mn-lt"/>
                <a:ea typeface="+mn-ea"/>
                <a:cs typeface="+mn-cs"/>
              </a:rPr>
              <a:t>geo.dVoxel</a:t>
            </a:r>
            <a:r>
              <a:rPr lang="en-US" altLang="zh-CN" sz="1200" b="0" i="0" u="none" strike="noStrike" kern="1200" baseline="0" dirty="0" smtClean="0">
                <a:solidFill>
                  <a:schemeClr val="tx1"/>
                </a:solidFill>
                <a:latin typeface="+mn-lt"/>
                <a:ea typeface="+mn-ea"/>
                <a:cs typeface="+mn-cs"/>
              </a:rPr>
              <a:t> = </a:t>
            </a:r>
            <a:r>
              <a:rPr lang="en-US" altLang="zh-CN" sz="1200" b="0" i="0" u="none" strike="noStrike" kern="1200" baseline="0" dirty="0" err="1" smtClean="0">
                <a:solidFill>
                  <a:schemeClr val="tx1"/>
                </a:solidFill>
                <a:latin typeface="+mn-lt"/>
                <a:ea typeface="+mn-ea"/>
                <a:cs typeface="+mn-cs"/>
              </a:rPr>
              <a:t>geo.sVoxel</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geo.nVoxel</a:t>
            </a:r>
            <a:r>
              <a:rPr lang="en-US" altLang="zh-CN" sz="1200" b="0" i="0" u="none" strike="noStrike" kern="1200" baseline="0" dirty="0" smtClean="0">
                <a:solidFill>
                  <a:schemeClr val="tx1"/>
                </a:solidFill>
                <a:latin typeface="+mn-lt"/>
                <a:ea typeface="+mn-ea"/>
                <a:cs typeface="+mn-cs"/>
              </a:rPr>
              <a:t>;               % size of each voxel            (mm)</a:t>
            </a:r>
          </a:p>
          <a:p>
            <a:r>
              <a:rPr lang="en-US" altLang="zh-CN" sz="1200" b="0" i="0" u="none" strike="noStrike" kern="1200" baseline="0" dirty="0" smtClean="0">
                <a:solidFill>
                  <a:schemeClr val="tx1"/>
                </a:solidFill>
                <a:latin typeface="+mn-lt"/>
                <a:ea typeface="+mn-ea"/>
                <a:cs typeface="+mn-cs"/>
              </a:rPr>
              <a:t>% Offset</a:t>
            </a:r>
          </a:p>
          <a:p>
            <a:r>
              <a:rPr lang="en-US" altLang="zh-CN" sz="1200" b="0" i="0" u="none" strike="noStrike" kern="1200" baseline="0" dirty="0" err="1" smtClean="0">
                <a:solidFill>
                  <a:schemeClr val="tx1"/>
                </a:solidFill>
                <a:latin typeface="+mn-lt"/>
                <a:ea typeface="+mn-ea"/>
                <a:cs typeface="+mn-cs"/>
              </a:rPr>
              <a:t>geo.COR</a:t>
            </a:r>
            <a:r>
              <a:rPr lang="en-US" altLang="zh-CN" sz="1200" b="0" i="0" u="none" strike="noStrike" kern="1200" baseline="0" dirty="0" smtClean="0">
                <a:solidFill>
                  <a:schemeClr val="tx1"/>
                </a:solidFill>
                <a:latin typeface="+mn-lt"/>
                <a:ea typeface="+mn-ea"/>
                <a:cs typeface="+mn-cs"/>
              </a:rPr>
              <a:t>= 0;</a:t>
            </a:r>
          </a:p>
          <a:p>
            <a:r>
              <a:rPr lang="en-US" altLang="zh-CN" sz="1200" b="0" i="0" u="none" strike="noStrike" kern="1200" baseline="0" dirty="0" err="1" smtClean="0">
                <a:solidFill>
                  <a:schemeClr val="tx1"/>
                </a:solidFill>
                <a:latin typeface="+mn-lt"/>
                <a:ea typeface="+mn-ea"/>
                <a:cs typeface="+mn-cs"/>
              </a:rPr>
              <a:t>geo.offDetector</a:t>
            </a:r>
            <a:r>
              <a:rPr lang="en-US" altLang="zh-CN" sz="1200" b="0" i="0" u="none" strike="noStrike" kern="1200" baseline="0" dirty="0" smtClean="0">
                <a:solidFill>
                  <a:schemeClr val="tx1"/>
                </a:solidFill>
                <a:latin typeface="+mn-lt"/>
                <a:ea typeface="+mn-ea"/>
                <a:cs typeface="+mn-cs"/>
              </a:rPr>
              <a:t>=zeros(2,view);</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geo.offDetector</a:t>
            </a:r>
            <a:r>
              <a:rPr lang="en-US" altLang="zh-CN" sz="1200" b="0" i="0" u="none" strike="noStrike" kern="1200" baseline="0" dirty="0" smtClean="0">
                <a:solidFill>
                  <a:schemeClr val="tx1"/>
                </a:solidFill>
                <a:latin typeface="+mn-lt"/>
                <a:ea typeface="+mn-ea"/>
                <a:cs typeface="+mn-cs"/>
              </a:rPr>
              <a:t>(1:1,:) = ones(1,view).*(0);</a:t>
            </a:r>
          </a:p>
          <a:p>
            <a:r>
              <a:rPr lang="en-US" altLang="zh-CN" sz="1200" b="0" i="0" u="none" strike="noStrike" kern="1200" baseline="0" dirty="0" err="1" smtClean="0">
                <a:solidFill>
                  <a:schemeClr val="tx1"/>
                </a:solidFill>
                <a:latin typeface="+mn-lt"/>
                <a:ea typeface="+mn-ea"/>
                <a:cs typeface="+mn-cs"/>
              </a:rPr>
              <a:t>geo.offOrigin</a:t>
            </a:r>
            <a:r>
              <a:rPr lang="en-US" altLang="zh-CN" sz="1200" b="0" i="0" u="none" strike="noStrike" kern="1200" baseline="0" dirty="0" smtClean="0">
                <a:solidFill>
                  <a:schemeClr val="tx1"/>
                </a:solidFill>
                <a:latin typeface="+mn-lt"/>
                <a:ea typeface="+mn-ea"/>
                <a:cs typeface="+mn-cs"/>
              </a:rPr>
              <a:t> = zeros(3,view);</a:t>
            </a:r>
          </a:p>
          <a:p>
            <a:r>
              <a:rPr lang="en-US" altLang="zh-CN" sz="1200" b="0" i="0" u="none" strike="noStrike" kern="1200" baseline="0" dirty="0" smtClean="0">
                <a:solidFill>
                  <a:schemeClr val="tx1"/>
                </a:solidFill>
                <a:latin typeface="+mn-lt"/>
                <a:ea typeface="+mn-ea"/>
                <a:cs typeface="+mn-cs"/>
              </a:rPr>
              <a:t>% Detector rotation</a:t>
            </a:r>
          </a:p>
          <a:p>
            <a:r>
              <a:rPr lang="en-US" altLang="zh-CN" sz="1200" b="0" i="0" u="none" strike="noStrike" kern="1200" baseline="0" dirty="0" err="1" smtClean="0">
                <a:solidFill>
                  <a:schemeClr val="tx1"/>
                </a:solidFill>
                <a:latin typeface="+mn-lt"/>
                <a:ea typeface="+mn-ea"/>
                <a:cs typeface="+mn-cs"/>
              </a:rPr>
              <a:t>geo.rotDetector</a:t>
            </a:r>
            <a:r>
              <a:rPr lang="en-US" altLang="zh-CN" sz="1200" b="0" i="0" u="none" strike="noStrike" kern="1200" baseline="0" dirty="0" smtClean="0">
                <a:solidFill>
                  <a:schemeClr val="tx1"/>
                </a:solidFill>
                <a:latin typeface="+mn-lt"/>
                <a:ea typeface="+mn-ea"/>
                <a:cs typeface="+mn-cs"/>
              </a:rPr>
              <a:t> = zeros(3,view); </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geo.rotDetector</a:t>
            </a:r>
            <a:r>
              <a:rPr lang="en-US" altLang="zh-CN" sz="1200" b="0" i="0" u="none" strike="noStrike" kern="1200" baseline="0" dirty="0" smtClean="0">
                <a:solidFill>
                  <a:schemeClr val="tx1"/>
                </a:solidFill>
                <a:latin typeface="+mn-lt"/>
                <a:ea typeface="+mn-ea"/>
                <a:cs typeface="+mn-cs"/>
              </a:rPr>
              <a:t>(3:3,:) = 0/180*pi;                 % Rotation of the detector, by </a:t>
            </a:r>
          </a:p>
          <a:p>
            <a:r>
              <a:rPr lang="en-US" altLang="zh-CN" sz="1200" b="0" i="0" u="none" strike="noStrike" kern="1200" baseline="0" dirty="0" smtClean="0">
                <a:solidFill>
                  <a:schemeClr val="tx1"/>
                </a:solidFill>
                <a:latin typeface="+mn-lt"/>
                <a:ea typeface="+mn-ea"/>
                <a:cs typeface="+mn-cs"/>
              </a:rPr>
              <a:t>% Auxiliary </a:t>
            </a:r>
          </a:p>
          <a:p>
            <a:r>
              <a:rPr lang="en-US" altLang="zh-CN" sz="1200" b="0" i="0" u="none" strike="noStrike" kern="1200" baseline="0" dirty="0" err="1" smtClean="0">
                <a:solidFill>
                  <a:schemeClr val="tx1"/>
                </a:solidFill>
                <a:latin typeface="+mn-lt"/>
                <a:ea typeface="+mn-ea"/>
                <a:cs typeface="+mn-cs"/>
              </a:rPr>
              <a:t>geo.accuracy</a:t>
            </a:r>
            <a:r>
              <a:rPr lang="en-US" altLang="zh-CN" sz="1200" b="0" i="0" u="none" strike="noStrike" kern="1200" baseline="0" dirty="0" smtClean="0">
                <a:solidFill>
                  <a:schemeClr val="tx1"/>
                </a:solidFill>
                <a:latin typeface="+mn-lt"/>
                <a:ea typeface="+mn-ea"/>
                <a:cs typeface="+mn-cs"/>
              </a:rPr>
              <a:t> = 0.5;                                % Accuracy of FWD </a:t>
            </a:r>
            <a:r>
              <a:rPr lang="en-US" altLang="zh-CN" sz="1200" b="0" i="0" u="none" strike="noStrike" kern="1200" baseline="0" dirty="0" err="1" smtClean="0">
                <a:solidFill>
                  <a:schemeClr val="tx1"/>
                </a:solidFill>
                <a:latin typeface="+mn-lt"/>
                <a:ea typeface="+mn-ea"/>
                <a:cs typeface="+mn-cs"/>
              </a:rPr>
              <a:t>proj</a:t>
            </a:r>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vx</a:t>
            </a:r>
            <a:r>
              <a:rPr lang="en-US" altLang="zh-CN" sz="1200" b="0" i="0" u="none" strike="noStrike" kern="1200" baseline="0" dirty="0" smtClean="0">
                <a:solidFill>
                  <a:schemeClr val="tx1"/>
                </a:solidFill>
                <a:latin typeface="+mn-lt"/>
                <a:ea typeface="+mn-ea"/>
                <a:cs typeface="+mn-cs"/>
              </a:rPr>
              <a:t>/sample)</a:t>
            </a:r>
          </a:p>
          <a:p>
            <a:r>
              <a:rPr lang="en-US" altLang="zh-CN" sz="1200" b="0" i="0" u="none" strike="noStrike" kern="1200" baseline="0" dirty="0" err="1" smtClean="0">
                <a:solidFill>
                  <a:schemeClr val="tx1"/>
                </a:solidFill>
                <a:latin typeface="+mn-lt"/>
                <a:ea typeface="+mn-ea"/>
                <a:cs typeface="+mn-cs"/>
              </a:rPr>
              <a:t>geo.mode</a:t>
            </a:r>
            <a:r>
              <a:rPr lang="en-US" altLang="zh-CN" sz="1200" b="0" i="0" u="none" strike="noStrike" kern="1200" baseline="0" dirty="0" smtClean="0">
                <a:solidFill>
                  <a:schemeClr val="tx1"/>
                </a:solidFill>
                <a:latin typeface="+mn-lt"/>
                <a:ea typeface="+mn-ea"/>
                <a:cs typeface="+mn-cs"/>
              </a:rPr>
              <a:t> = 'cone';   </a:t>
            </a:r>
          </a:p>
          <a:p>
            <a:r>
              <a:rPr lang="zh-CN" altLang="en-US" sz="1200" b="0" i="0" u="none" strike="noStrike" kern="1200" baseline="0" dirty="0" smtClean="0">
                <a:solidFill>
                  <a:schemeClr val="tx1"/>
                </a:solidFill>
                <a:latin typeface="+mn-lt"/>
                <a:ea typeface="+mn-ea"/>
                <a:cs typeface="+mn-cs"/>
              </a:rPr>
              <a:t> </a:t>
            </a:r>
          </a:p>
          <a:p>
            <a:r>
              <a:rPr lang="en-US" altLang="zh-CN" sz="1200" b="0" i="0" u="none" strike="noStrike" kern="1200" baseline="0" dirty="0" smtClean="0">
                <a:solidFill>
                  <a:schemeClr val="tx1"/>
                </a:solidFill>
                <a:latin typeface="+mn-lt"/>
                <a:ea typeface="+mn-ea"/>
                <a:cs typeface="+mn-cs"/>
              </a:rPr>
              <a:t>%% angle-É¨Ãè·½Ê½¶¨Òå-Í¨¹ýÅ·À­½ÇÊµÏÖÆ«×ª</a:t>
            </a:r>
            <a:r>
              <a:rPr lang="en-US" altLang="zh-CN" sz="1200" b="0" i="0" u="none" strike="noStrike" kern="1200" baseline="0" dirty="0" err="1" smtClean="0">
                <a:solidFill>
                  <a:schemeClr val="tx1"/>
                </a:solidFill>
                <a:latin typeface="+mn-lt"/>
                <a:ea typeface="+mn-ea"/>
                <a:cs typeface="+mn-cs"/>
              </a:rPr>
              <a:t>Ðý</a:t>
            </a:r>
            <a:r>
              <a:rPr lang="en-US" altLang="zh-CN" sz="1200" b="0" i="0" u="none" strike="noStrike" kern="1200" baseline="0" dirty="0" smtClean="0">
                <a:solidFill>
                  <a:schemeClr val="tx1"/>
                </a:solidFill>
                <a:latin typeface="+mn-lt"/>
                <a:ea typeface="+mn-ea"/>
                <a:cs typeface="+mn-cs"/>
              </a:rPr>
              <a:t>×ª</a:t>
            </a:r>
            <a:r>
              <a:rPr lang="en-US" altLang="zh-CN" sz="1200" b="0" i="0" u="none" strike="noStrike" kern="1200" baseline="0" dirty="0" err="1" smtClean="0">
                <a:solidFill>
                  <a:schemeClr val="tx1"/>
                </a:solidFill>
                <a:latin typeface="+mn-lt"/>
                <a:ea typeface="+mn-ea"/>
                <a:cs typeface="+mn-cs"/>
              </a:rPr>
              <a:t>Öá</a:t>
            </a:r>
            <a:r>
              <a:rPr lang="en-US" altLang="zh-CN" sz="1200" b="0" i="0" u="none" strike="noStrike" kern="1200" baseline="0" dirty="0" smtClean="0">
                <a:solidFill>
                  <a:schemeClr val="tx1"/>
                </a:solidFill>
                <a:latin typeface="+mn-lt"/>
                <a:ea typeface="+mn-ea"/>
                <a:cs typeface="+mn-cs"/>
              </a:rPr>
              <a:t>  ZYZ</a:t>
            </a:r>
          </a:p>
          <a:p>
            <a:r>
              <a:rPr lang="en-US" altLang="zh-CN" sz="1200" b="0" i="0" u="none" strike="noStrike" kern="1200" baseline="0" dirty="0" smtClean="0">
                <a:solidFill>
                  <a:schemeClr val="tx1"/>
                </a:solidFill>
                <a:latin typeface="+mn-lt"/>
                <a:ea typeface="+mn-ea"/>
                <a:cs typeface="+mn-cs"/>
              </a:rPr>
              <a:t>angles=[</a:t>
            </a:r>
            <a:r>
              <a:rPr lang="en-US" altLang="zh-CN" sz="1200" b="0" i="0" u="none" strike="noStrike" kern="1200" baseline="0" dirty="0" err="1" smtClean="0">
                <a:solidFill>
                  <a:schemeClr val="tx1"/>
                </a:solidFill>
                <a:latin typeface="+mn-lt"/>
                <a:ea typeface="+mn-ea"/>
                <a:cs typeface="+mn-cs"/>
              </a:rPr>
              <a:t>linspace</a:t>
            </a:r>
            <a:r>
              <a:rPr lang="en-US" altLang="zh-CN" sz="1200" b="0" i="0" u="none" strike="noStrike" kern="1200" baseline="0" dirty="0" smtClean="0">
                <a:solidFill>
                  <a:schemeClr val="tx1"/>
                </a:solidFill>
                <a:latin typeface="+mn-lt"/>
                <a:ea typeface="+mn-ea"/>
                <a:cs typeface="+mn-cs"/>
              </a:rPr>
              <a:t>(0,2*</a:t>
            </a:r>
            <a:r>
              <a:rPr lang="en-US" altLang="zh-CN" sz="1200" b="0" i="0" u="none" strike="noStrike" kern="1200" baseline="0" dirty="0" err="1" smtClean="0">
                <a:solidFill>
                  <a:schemeClr val="tx1"/>
                </a:solidFill>
                <a:latin typeface="+mn-lt"/>
                <a:ea typeface="+mn-ea"/>
                <a:cs typeface="+mn-cs"/>
              </a:rPr>
              <a:t>pi,view</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cone_angle</a:t>
            </a:r>
            <a:r>
              <a:rPr lang="en-US" altLang="zh-CN" sz="1200" b="0" i="0" u="none" strike="noStrike" kern="1200" baseline="0" dirty="0" smtClean="0">
                <a:solidFill>
                  <a:schemeClr val="tx1"/>
                </a:solidFill>
                <a:latin typeface="+mn-lt"/>
                <a:ea typeface="+mn-ea"/>
                <a:cs typeface="+mn-cs"/>
              </a:rPr>
              <a:t> = </a:t>
            </a:r>
            <a:r>
              <a:rPr lang="en-US" altLang="zh-CN" sz="1200" b="0" i="0" u="none" strike="noStrike" kern="1200" baseline="0" dirty="0" err="1" smtClean="0">
                <a:solidFill>
                  <a:schemeClr val="tx1"/>
                </a:solidFill>
                <a:latin typeface="+mn-lt"/>
                <a:ea typeface="+mn-ea"/>
                <a:cs typeface="+mn-cs"/>
              </a:rPr>
              <a:t>atan</a:t>
            </a:r>
            <a:r>
              <a:rPr lang="en-US" altLang="zh-CN" sz="1200" b="0" i="0" u="none" strike="noStrike" kern="1200" baseline="0" dirty="0" smtClean="0">
                <a:solidFill>
                  <a:schemeClr val="tx1"/>
                </a:solidFill>
                <a:latin typeface="+mn-lt"/>
                <a:ea typeface="+mn-ea"/>
                <a:cs typeface="+mn-cs"/>
              </a:rPr>
              <a:t>(100/373)*180/pi;</a:t>
            </a:r>
          </a:p>
          <a:p>
            <a:r>
              <a:rPr lang="en-US" altLang="zh-CN" sz="1200" b="0" i="0" u="none" strike="noStrike" kern="1200" baseline="0" dirty="0" smtClean="0">
                <a:solidFill>
                  <a:schemeClr val="tx1"/>
                </a:solidFill>
                <a:latin typeface="+mn-lt"/>
                <a:ea typeface="+mn-ea"/>
                <a:cs typeface="+mn-cs"/>
              </a:rPr>
              <a:t>%% Load data and generate projections </a:t>
            </a:r>
          </a:p>
          <a:p>
            <a:r>
              <a:rPr lang="en-US" altLang="zh-CN" sz="1200" b="0" i="0" u="none" strike="noStrike" kern="1200" baseline="0" dirty="0" smtClean="0">
                <a:solidFill>
                  <a:schemeClr val="tx1"/>
                </a:solidFill>
                <a:latin typeface="+mn-lt"/>
                <a:ea typeface="+mn-ea"/>
                <a:cs typeface="+mn-cs"/>
              </a:rPr>
              <a:t>% load('cube9.mat');</a:t>
            </a:r>
          </a:p>
          <a:p>
            <a:r>
              <a:rPr lang="en-US" altLang="zh-CN" sz="1200" b="0" i="0" u="none" strike="noStrike" kern="1200" baseline="0" dirty="0" smtClean="0">
                <a:solidFill>
                  <a:schemeClr val="tx1"/>
                </a:solidFill>
                <a:latin typeface="+mn-lt"/>
                <a:ea typeface="+mn-ea"/>
                <a:cs typeface="+mn-cs"/>
              </a:rPr>
              <a:t>% cube = single(cube9);</a:t>
            </a:r>
          </a:p>
          <a:p>
            <a:r>
              <a:rPr lang="es-ES" altLang="zh-CN" sz="1200" b="0" i="0" u="none" strike="noStrike" kern="1200" baseline="0" dirty="0" smtClean="0">
                <a:solidFill>
                  <a:schemeClr val="tx1"/>
                </a:solidFill>
                <a:latin typeface="+mn-lt"/>
                <a:ea typeface="+mn-ea"/>
                <a:cs typeface="+mn-cs"/>
              </a:rPr>
              <a:t>% cube = permute(cube,[2 3 1]);</a:t>
            </a:r>
          </a:p>
          <a:p>
            <a:r>
              <a:rPr lang="en-US" altLang="zh-CN" sz="1200" b="0" i="0" u="none" strike="noStrike" kern="1200" baseline="0" dirty="0" err="1" smtClean="0">
                <a:solidFill>
                  <a:schemeClr val="tx1"/>
                </a:solidFill>
                <a:latin typeface="+mn-lt"/>
                <a:ea typeface="+mn-ea"/>
                <a:cs typeface="+mn-cs"/>
              </a:rPr>
              <a:t>shepp_type</a:t>
            </a:r>
            <a:r>
              <a:rPr lang="en-US" altLang="zh-CN" sz="1200" b="0" i="0" u="none" strike="noStrike" kern="1200" baseline="0" dirty="0" smtClean="0">
                <a:solidFill>
                  <a:schemeClr val="tx1"/>
                </a:solidFill>
                <a:latin typeface="+mn-lt"/>
                <a:ea typeface="+mn-ea"/>
                <a:cs typeface="+mn-cs"/>
              </a:rPr>
              <a:t>='Modified </a:t>
            </a:r>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-Logan';                    % (default).</a:t>
            </a:r>
          </a:p>
          <a:p>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=sheppLogan3D([256,256,256],</a:t>
            </a:r>
            <a:r>
              <a:rPr lang="en-US" altLang="zh-CN" sz="1200" b="0" i="0" u="none" strike="noStrike" kern="1200" baseline="0" dirty="0" err="1" smtClean="0">
                <a:solidFill>
                  <a:schemeClr val="tx1"/>
                </a:solidFill>
                <a:latin typeface="+mn-lt"/>
                <a:ea typeface="+mn-ea"/>
                <a:cs typeface="+mn-cs"/>
              </a:rPr>
              <a:t>shepp_type</a:t>
            </a:r>
            <a:r>
              <a:rPr lang="en-US" altLang="zh-CN" sz="1200" b="0" i="0" u="none" strike="noStrike" kern="1200" baseline="0" dirty="0" smtClean="0">
                <a:solidFill>
                  <a:schemeClr val="tx1"/>
                </a:solidFill>
                <a:latin typeface="+mn-lt"/>
                <a:ea typeface="+mn-ea"/>
                <a:cs typeface="+mn-cs"/>
              </a:rPr>
              <a:t>);         % Default are 128^3 and Modified </a:t>
            </a:r>
            <a:r>
              <a:rPr lang="en-US" altLang="zh-CN" sz="1200" b="0" i="0" u="none" strike="noStrike" kern="1200" baseline="0" dirty="0" err="1" smtClean="0">
                <a:solidFill>
                  <a:schemeClr val="tx1"/>
                </a:solidFill>
                <a:latin typeface="+mn-lt"/>
                <a:ea typeface="+mn-ea"/>
                <a:cs typeface="+mn-cs"/>
              </a:rPr>
              <a:t>shepp-logan</a:t>
            </a:r>
            <a:endParaRPr lang="en-US" altLang="zh-CN" sz="1200" b="0" i="0" u="none" strike="noStrike" kern="1200" baseline="0" dirty="0" smtClean="0">
              <a:solidFill>
                <a:schemeClr val="tx1"/>
              </a:solidFill>
              <a:latin typeface="+mn-lt"/>
              <a:ea typeface="+mn-ea"/>
              <a:cs typeface="+mn-cs"/>
            </a:endParaRPr>
          </a:p>
          <a:p>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=permute(</a:t>
            </a:r>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,[1 3 2]);</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shepp</a:t>
            </a:r>
            <a:r>
              <a:rPr lang="en-US" altLang="zh-CN" sz="1200" b="0" i="0" u="none" strike="noStrike" kern="1200" baseline="0" dirty="0" smtClean="0">
                <a:solidFill>
                  <a:schemeClr val="tx1"/>
                </a:solidFill>
                <a:latin typeface="+mn-lt"/>
                <a:ea typeface="+mn-ea"/>
                <a:cs typeface="+mn-cs"/>
              </a:rPr>
              <a:t>(206:236,:,:);</a:t>
            </a:r>
          </a:p>
          <a:p>
            <a:r>
              <a:rPr lang="en-US" altLang="zh-CN" sz="1200" b="0" i="0" u="none" strike="noStrike" kern="1200" baseline="0" dirty="0" err="1" smtClean="0">
                <a:solidFill>
                  <a:schemeClr val="tx1"/>
                </a:solidFill>
                <a:latin typeface="+mn-lt"/>
                <a:ea typeface="+mn-ea"/>
                <a:cs typeface="+mn-cs"/>
              </a:rPr>
              <a:t>CT_proj</a:t>
            </a:r>
            <a:r>
              <a:rPr lang="en-US" altLang="zh-CN" sz="1200" b="0" i="0" u="none" strike="noStrike" kern="1200" baseline="0" dirty="0" smtClean="0">
                <a:solidFill>
                  <a:schemeClr val="tx1"/>
                </a:solidFill>
                <a:latin typeface="+mn-lt"/>
                <a:ea typeface="+mn-ea"/>
                <a:cs typeface="+mn-cs"/>
              </a:rPr>
              <a:t>=Ax(</a:t>
            </a:r>
            <a:r>
              <a:rPr lang="en-US" altLang="zh-CN" sz="1200" b="0" i="0" u="none" strike="noStrike" kern="1200" baseline="0" dirty="0" err="1" smtClean="0">
                <a:solidFill>
                  <a:schemeClr val="tx1"/>
                </a:solidFill>
                <a:latin typeface="+mn-lt"/>
                <a:ea typeface="+mn-ea"/>
                <a:cs typeface="+mn-cs"/>
              </a:rPr>
              <a:t>shepp,geo,angles</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plotImg</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CT_proj</a:t>
            </a:r>
            <a:r>
              <a:rPr lang="en-US" altLang="zh-CN" sz="1200" b="0" i="0" u="none" strike="noStrike" kern="1200" baseline="0" dirty="0" smtClean="0">
                <a:solidFill>
                  <a:schemeClr val="tx1"/>
                </a:solidFill>
                <a:latin typeface="+mn-lt"/>
                <a:ea typeface="+mn-ea"/>
                <a:cs typeface="+mn-cs"/>
              </a:rPr>
              <a:t>],'Dim',3);</a:t>
            </a:r>
          </a:p>
          <a:p>
            <a:r>
              <a:rPr lang="en-US" altLang="zh-CN" sz="1200" b="0" i="0" u="none" strike="noStrike" kern="1200" baseline="0" dirty="0" smtClean="0">
                <a:solidFill>
                  <a:schemeClr val="tx1"/>
                </a:solidFill>
                <a:latin typeface="+mn-lt"/>
                <a:ea typeface="+mn-ea"/>
                <a:cs typeface="+mn-cs"/>
              </a:rPr>
              <a:t>CT_FDK=FDK(</a:t>
            </a:r>
            <a:r>
              <a:rPr lang="en-US" altLang="zh-CN" sz="1200" b="0" i="0" u="none" strike="noStrike" kern="1200" baseline="0" dirty="0" err="1" smtClean="0">
                <a:solidFill>
                  <a:schemeClr val="tx1"/>
                </a:solidFill>
                <a:latin typeface="+mn-lt"/>
                <a:ea typeface="+mn-ea"/>
                <a:cs typeface="+mn-cs"/>
              </a:rPr>
              <a:t>CT_proj</a:t>
            </a:r>
            <a:r>
              <a:rPr lang="en-US" altLang="zh-CN" sz="1200" b="0" i="0" u="none" strike="noStrike" kern="1200" baseline="0" dirty="0" smtClean="0">
                <a:solidFill>
                  <a:schemeClr val="tx1"/>
                </a:solidFill>
                <a:latin typeface="+mn-lt"/>
                <a:ea typeface="+mn-ea"/>
                <a:cs typeface="+mn-cs"/>
              </a:rPr>
              <a:t>(:,:,1:1:view),</a:t>
            </a:r>
            <a:r>
              <a:rPr lang="en-US" altLang="zh-CN" sz="1200" b="0" i="0" u="none" strike="noStrike" kern="1200" baseline="0" dirty="0" err="1" smtClean="0">
                <a:solidFill>
                  <a:schemeClr val="tx1"/>
                </a:solidFill>
                <a:latin typeface="+mn-lt"/>
                <a:ea typeface="+mn-ea"/>
                <a:cs typeface="+mn-cs"/>
              </a:rPr>
              <a:t>geo,angles</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plotImg</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CT_FDK,'Dim','Y</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imtool</a:t>
            </a:r>
            <a:r>
              <a:rPr lang="en-US" altLang="zh-CN" sz="1200" b="0" i="0" u="none" strike="noStrike" kern="1200" baseline="0" dirty="0" smtClean="0">
                <a:solidFill>
                  <a:schemeClr val="tx1"/>
                </a:solidFill>
                <a:latin typeface="+mn-lt"/>
                <a:ea typeface="+mn-ea"/>
                <a:cs typeface="+mn-cs"/>
              </a:rPr>
              <a:t>(squeeze(CT_FDK(:,128,:)))</a:t>
            </a:r>
          </a:p>
          <a:p>
            <a:r>
              <a:rPr lang="en-US" altLang="zh-CN" sz="1200" b="0" i="0" u="none" strike="noStrike" kern="1200" baseline="0" dirty="0" smtClean="0">
                <a:solidFill>
                  <a:schemeClr val="tx1"/>
                </a:solidFill>
                <a:latin typeface="+mn-lt"/>
                <a:ea typeface="+mn-ea"/>
                <a:cs typeface="+mn-cs"/>
              </a:rPr>
              <a:t>%% Save </a:t>
            </a:r>
            <a:r>
              <a:rPr lang="en-US" altLang="zh-CN" sz="1200" b="0" i="0" u="none" strike="noStrike" kern="1200" baseline="0" dirty="0" err="1" smtClean="0">
                <a:solidFill>
                  <a:schemeClr val="tx1"/>
                </a:solidFill>
                <a:latin typeface="+mn-lt"/>
                <a:ea typeface="+mn-ea"/>
                <a:cs typeface="+mn-cs"/>
              </a:rPr>
              <a:t>Projections_DATA</a:t>
            </a:r>
            <a:endParaRPr lang="en-US" altLang="zh-CN" sz="1200" b="0" i="0" u="none" strike="noStrike" kern="1200" baseline="0" dirty="0" smtClean="0">
              <a:solidFill>
                <a:schemeClr val="tx1"/>
              </a:solidFill>
              <a:latin typeface="+mn-lt"/>
              <a:ea typeface="+mn-ea"/>
              <a:cs typeface="+mn-cs"/>
            </a:endParaRPr>
          </a:p>
          <a:p>
            <a:r>
              <a:rPr lang="en-US" altLang="zh-CN" sz="1200" b="0" i="0" u="none" strike="noStrike" kern="1200" baseline="0" dirty="0" err="1" smtClean="0">
                <a:solidFill>
                  <a:schemeClr val="tx1"/>
                </a:solidFill>
                <a:latin typeface="+mn-lt"/>
                <a:ea typeface="+mn-ea"/>
                <a:cs typeface="+mn-cs"/>
              </a:rPr>
              <a:t>save_slices_as_bmp</a:t>
            </a:r>
            <a:r>
              <a:rPr lang="en-US" altLang="zh-CN" sz="1200" b="0" i="0" u="none" strike="noStrike" kern="1200" baseline="0" dirty="0" smtClean="0">
                <a:solidFill>
                  <a:schemeClr val="tx1"/>
                </a:solidFill>
                <a:latin typeface="+mn-lt"/>
                <a:ea typeface="+mn-ea"/>
                <a:cs typeface="+mn-cs"/>
              </a:rPr>
              <a:t>(CT_</a:t>
            </a:r>
            <a:r>
              <a:rPr lang="en-US" altLang="zh-CN" sz="1200" b="0" i="0" u="none" strike="noStrike" kern="1200" baseline="0" dirty="0" err="1" smtClean="0">
                <a:solidFill>
                  <a:schemeClr val="tx1"/>
                </a:solidFill>
                <a:latin typeface="+mn-lt"/>
                <a:ea typeface="+mn-ea"/>
                <a:cs typeface="+mn-cs"/>
              </a:rPr>
              <a:t>proj</a:t>
            </a:r>
            <a:r>
              <a:rPr lang="en-US" altLang="zh-CN" sz="1200" b="0" i="0" u="none" strike="noStrike" kern="1200" baseline="0" dirty="0" smtClean="0">
                <a:solidFill>
                  <a:schemeClr val="tx1"/>
                </a:solidFill>
                <a:latin typeface="+mn-lt"/>
                <a:ea typeface="+mn-ea"/>
                <a:cs typeface="+mn-cs"/>
              </a:rPr>
              <a:t>,'</a:t>
            </a:r>
            <a:r>
              <a:rPr lang="en-US" altLang="zh-CN" sz="1200" b="0" i="0" u="none" strike="noStrike" kern="1200" baseline="0" dirty="0" err="1" smtClean="0">
                <a:solidFill>
                  <a:schemeClr val="tx1"/>
                </a:solidFill>
                <a:latin typeface="+mn-lt"/>
                <a:ea typeface="+mn-ea"/>
                <a:cs typeface="+mn-cs"/>
              </a:rPr>
              <a:t>CT_proj</a:t>
            </a:r>
            <a:r>
              <a:rPr lang="en-US" altLang="zh-CN" sz="1200" b="0" i="0" u="none" strike="noStrike" kern="1200" baseline="0" dirty="0" smtClean="0">
                <a:solidFill>
                  <a:schemeClr val="tx1"/>
                </a:solidFill>
                <a:latin typeface="+mn-lt"/>
                <a:ea typeface="+mn-ea"/>
                <a:cs typeface="+mn-cs"/>
              </a:rPr>
              <a:t>');</a:t>
            </a:r>
          </a:p>
          <a:p>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ñÈ</a:t>
            </a:r>
            <a:r>
              <a:rPr lang="en-US" altLang="zh-CN" sz="1200" b="0" i="0" u="none" strike="noStrike" kern="1200" baseline="0" dirty="0" smtClean="0">
                <a:solidFill>
                  <a:schemeClr val="tx1"/>
                </a:solidFill>
                <a:latin typeface="+mn-lt"/>
                <a:ea typeface="+mn-ea"/>
                <a:cs typeface="+mn-cs"/>
              </a:rPr>
              <a:t>¡ </a:t>
            </a:r>
            <a:r>
              <a:rPr lang="en-US" altLang="zh-CN" sz="1200" b="0" i="0" u="none" strike="noStrike" kern="1200" baseline="0" dirty="0" err="1" smtClean="0">
                <a:solidFill>
                  <a:schemeClr val="tx1"/>
                </a:solidFill>
                <a:latin typeface="+mn-lt"/>
                <a:ea typeface="+mn-ea"/>
                <a:cs typeface="+mn-cs"/>
              </a:rPr>
              <a:t>imgFDK</a:t>
            </a:r>
            <a:r>
              <a:rPr lang="en-US" altLang="zh-CN" sz="1200" b="0" i="0" u="none" strike="noStrike" kern="1200" baseline="0" dirty="0" smtClean="0">
                <a:solidFill>
                  <a:schemeClr val="tx1"/>
                </a:solidFill>
                <a:latin typeface="+mn-lt"/>
                <a:ea typeface="+mn-ea"/>
                <a:cs typeface="+mn-cs"/>
              </a:rPr>
              <a:t> Êý¾ÝµÄ´óÐ¡£¬¼ÙÉè </a:t>
            </a:r>
            <a:r>
              <a:rPr lang="en-US" altLang="zh-CN" sz="1200" b="0" i="0" u="none" strike="noStrike" kern="1200" baseline="0" dirty="0" err="1" smtClean="0">
                <a:solidFill>
                  <a:schemeClr val="tx1"/>
                </a:solidFill>
                <a:latin typeface="+mn-lt"/>
                <a:ea typeface="+mn-ea"/>
                <a:cs typeface="+mn-cs"/>
              </a:rPr>
              <a:t>imgFDK</a:t>
            </a:r>
            <a:r>
              <a:rPr lang="en-US" altLang="zh-CN" sz="1200" b="0" i="0" u="none" strike="noStrike" kern="1200" baseline="0" dirty="0" smtClean="0">
                <a:solidFill>
                  <a:schemeClr val="tx1"/>
                </a:solidFill>
                <a:latin typeface="+mn-lt"/>
                <a:ea typeface="+mn-ea"/>
                <a:cs typeface="+mn-cs"/>
              </a:rPr>
              <a:t> ÊÇ 3D </a:t>
            </a:r>
            <a:r>
              <a:rPr lang="en-US" altLang="zh-CN" sz="1200" b="0" i="0" u="none" strike="noStrike" kern="1200" baseline="0" dirty="0" err="1" smtClean="0">
                <a:solidFill>
                  <a:schemeClr val="tx1"/>
                </a:solidFill>
                <a:latin typeface="+mn-lt"/>
                <a:ea typeface="+mn-ea"/>
                <a:cs typeface="+mn-cs"/>
              </a:rPr>
              <a:t>Êý×é</a:t>
            </a:r>
            <a:endParaRPr lang="en-US" altLang="zh-CN" sz="1200" b="0" i="0" u="none" strike="noStrike" kern="1200" baseline="0" dirty="0" smtClean="0">
              <a:solidFill>
                <a:schemeClr val="tx1"/>
              </a:solidFill>
              <a:latin typeface="+mn-lt"/>
              <a:ea typeface="+mn-ea"/>
              <a:cs typeface="+mn-cs"/>
            </a:endParaRPr>
          </a:p>
          <a:p>
            <a:r>
              <a:rPr lang="en-US" altLang="zh-CN" sz="1200" b="0" i="0" u="none" strike="noStrike" kern="1200" baseline="0" dirty="0" err="1" smtClean="0">
                <a:solidFill>
                  <a:schemeClr val="tx1"/>
                </a:solidFill>
                <a:latin typeface="+mn-lt"/>
                <a:ea typeface="+mn-ea"/>
                <a:cs typeface="+mn-cs"/>
              </a:rPr>
              <a:t>save_slices_as_bmp</a:t>
            </a:r>
            <a:r>
              <a:rPr lang="en-US" altLang="zh-CN" sz="1200" b="0" i="0" u="none" strike="noStrike" kern="1200" baseline="0" dirty="0" smtClean="0">
                <a:solidFill>
                  <a:schemeClr val="tx1"/>
                </a:solidFill>
                <a:latin typeface="+mn-lt"/>
                <a:ea typeface="+mn-ea"/>
                <a:cs typeface="+mn-cs"/>
              </a:rPr>
              <a:t>(CT_FDK,'CT_FDK');</a:t>
            </a:r>
          </a:p>
          <a:p>
            <a:r>
              <a:rPr lang="zh-CN" altLang="en-US" sz="1200" b="0" i="0" u="none" strike="noStrike" kern="1200" baseline="0" dirty="0" smtClean="0">
                <a:solidFill>
                  <a:schemeClr val="tx1"/>
                </a:solidFill>
                <a:latin typeface="+mn-lt"/>
                <a:ea typeface="+mn-ea"/>
                <a:cs typeface="+mn-cs"/>
              </a:rPr>
              <a:t> </a:t>
            </a:r>
          </a:p>
          <a:p>
            <a:r>
              <a:rPr lang="en-US" altLang="zh-CN" sz="1200" b="0" i="0" u="none" strike="noStrike" kern="1200" baseline="0" dirty="0" smtClean="0">
                <a:solidFill>
                  <a:schemeClr val="tx1"/>
                </a:solidFill>
                <a:latin typeface="+mn-lt"/>
                <a:ea typeface="+mn-ea"/>
                <a:cs typeface="+mn-cs"/>
              </a:rPr>
              <a:t>figure(),</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(squeeze(CT_FDK(:,128,:))',[0 1]);</a:t>
            </a:r>
          </a:p>
          <a:p>
            <a:r>
              <a:rPr lang="en-US" altLang="zh-CN" sz="1200" b="0" i="0" u="none" strike="noStrike" kern="1200" baseline="0" dirty="0" smtClean="0">
                <a:solidFill>
                  <a:schemeClr val="tx1"/>
                </a:solidFill>
                <a:latin typeface="+mn-lt"/>
                <a:ea typeface="+mn-ea"/>
                <a:cs typeface="+mn-cs"/>
              </a:rPr>
              <a:t>figure(),</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(squeeze(CT_FDK(128,:,:))',[0 1]);</a:t>
            </a:r>
          </a:p>
          <a:p>
            <a:r>
              <a:rPr lang="en-US" altLang="zh-CN" sz="1200" b="0" i="0" u="none" strike="noStrike" kern="1200" baseline="0" dirty="0" smtClean="0">
                <a:solidFill>
                  <a:schemeClr val="tx1"/>
                </a:solidFill>
                <a:latin typeface="+mn-lt"/>
                <a:ea typeface="+mn-ea"/>
                <a:cs typeface="+mn-cs"/>
              </a:rPr>
              <a:t>% figure(),</a:t>
            </a:r>
            <a:r>
              <a:rPr lang="en-US" altLang="zh-CN" sz="1200" b="0" i="0" u="none" strike="noStrike" kern="1200" baseline="0" dirty="0" err="1" smtClean="0">
                <a:solidFill>
                  <a:schemeClr val="tx1"/>
                </a:solidFill>
                <a:latin typeface="+mn-lt"/>
                <a:ea typeface="+mn-ea"/>
                <a:cs typeface="+mn-cs"/>
              </a:rPr>
              <a:t>imshow</a:t>
            </a:r>
            <a:r>
              <a:rPr lang="en-US" altLang="zh-CN" sz="1200" b="0" i="0" u="none" strike="noStrike" kern="1200" baseline="0" dirty="0" smtClean="0">
                <a:solidFill>
                  <a:schemeClr val="tx1"/>
                </a:solidFill>
                <a:latin typeface="+mn-lt"/>
                <a:ea typeface="+mn-ea"/>
                <a:cs typeface="+mn-cs"/>
              </a:rPr>
              <a:t>(squeeze(CT_FDK(:,:,256)),[]);</a:t>
            </a:r>
          </a:p>
          <a:p>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26</a:t>
            </a:fld>
            <a:endParaRPr lang="zh-CN" altLang="en-US"/>
          </a:p>
        </p:txBody>
      </p:sp>
    </p:spTree>
    <p:extLst>
      <p:ext uri="{BB962C8B-B14F-4D97-AF65-F5344CB8AC3E}">
        <p14:creationId xmlns:p14="http://schemas.microsoft.com/office/powerpoint/2010/main" val="425489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smtClean="0"/>
              <a:t>光是简单的旋转探测器是得不到理想转换投影的，因为不仅要旋转，探测器的中心也发生了改变；</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27</a:t>
            </a:fld>
            <a:endParaRPr lang="zh-CN" altLang="en-US"/>
          </a:p>
        </p:txBody>
      </p:sp>
    </p:spTree>
    <p:extLst>
      <p:ext uri="{BB962C8B-B14F-4D97-AF65-F5344CB8AC3E}">
        <p14:creationId xmlns:p14="http://schemas.microsoft.com/office/powerpoint/2010/main" val="718641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smtClean="0"/>
              <a:t>%% 7. </a:t>
            </a:r>
            <a:r>
              <a:rPr lang="zh-CN" altLang="en-US" dirty="0" smtClean="0"/>
              <a:t>损耗公式 </a:t>
            </a:r>
            <a:r>
              <a:rPr lang="en-US" altLang="zh-CN" dirty="0" err="1" smtClean="0"/>
              <a:t>P_c</a:t>
            </a:r>
            <a:r>
              <a:rPr lang="en-US" altLang="zh-CN" dirty="0" smtClean="0"/>
              <a:t>(T) = k(T) * </a:t>
            </a:r>
            <a:r>
              <a:rPr lang="en-US" altLang="zh-CN" dirty="0" err="1" smtClean="0"/>
              <a:t>f^alpha</a:t>
            </a:r>
            <a:r>
              <a:rPr lang="en-US" altLang="zh-CN" dirty="0" smtClean="0"/>
              <a:t> * </a:t>
            </a:r>
            <a:r>
              <a:rPr lang="en-US" altLang="zh-CN" dirty="0" err="1" smtClean="0"/>
              <a:t>Bmax^beta</a:t>
            </a:r>
            <a:r>
              <a:rPr lang="en-US" altLang="zh-CN" dirty="0" smtClean="0"/>
              <a:t> % </a:t>
            </a:r>
            <a:r>
              <a:rPr lang="zh-CN" altLang="en-US" dirty="0" smtClean="0"/>
              <a:t>其中 </a:t>
            </a:r>
            <a:r>
              <a:rPr lang="en-US" altLang="zh-CN" dirty="0" smtClean="0"/>
              <a:t>k(T) = k0 * (1 + c1 * T + c2 * T^2 + c3 * T^3)) </a:t>
            </a:r>
            <a:r>
              <a:rPr lang="en-US" altLang="zh-CN" dirty="0" err="1" smtClean="0"/>
              <a:t>T_f_Bmax</a:t>
            </a:r>
            <a:r>
              <a:rPr lang="en-US" altLang="zh-CN" dirty="0" smtClean="0"/>
              <a:t> = [</a:t>
            </a:r>
            <a:r>
              <a:rPr lang="en-US" altLang="zh-CN" dirty="0" err="1" smtClean="0"/>
              <a:t>T_sine</a:t>
            </a:r>
            <a:r>
              <a:rPr lang="en-US" altLang="zh-CN" dirty="0" smtClean="0"/>
              <a:t>, </a:t>
            </a:r>
            <a:r>
              <a:rPr lang="en-US" altLang="zh-CN" dirty="0" err="1" smtClean="0"/>
              <a:t>f_sine</a:t>
            </a:r>
            <a:r>
              <a:rPr lang="en-US" altLang="zh-CN" dirty="0" smtClean="0"/>
              <a:t>, </a:t>
            </a:r>
            <a:r>
              <a:rPr lang="en-US" altLang="zh-CN" dirty="0" err="1" smtClean="0"/>
              <a:t>Bmax</a:t>
            </a:r>
            <a:r>
              <a:rPr lang="en-US" altLang="zh-CN" dirty="0" smtClean="0"/>
              <a:t>]; % </a:t>
            </a:r>
            <a:r>
              <a:rPr lang="zh-CN" altLang="en-US" dirty="0" smtClean="0"/>
              <a:t>将温度、频率、</a:t>
            </a:r>
            <a:r>
              <a:rPr lang="en-US" altLang="zh-CN" dirty="0" err="1" smtClean="0"/>
              <a:t>Bmax</a:t>
            </a:r>
            <a:r>
              <a:rPr lang="en-US" altLang="zh-CN" dirty="0" smtClean="0"/>
              <a:t> </a:t>
            </a:r>
            <a:r>
              <a:rPr lang="zh-CN" altLang="en-US" dirty="0" smtClean="0"/>
              <a:t>组合成一个矩阵 </a:t>
            </a:r>
            <a:r>
              <a:rPr lang="en-US" altLang="zh-CN" dirty="0" err="1" smtClean="0"/>
              <a:t>Pc_exp_data</a:t>
            </a:r>
            <a:r>
              <a:rPr lang="en-US" altLang="zh-CN" dirty="0" smtClean="0"/>
              <a:t> = </a:t>
            </a:r>
            <a:r>
              <a:rPr lang="en-US" altLang="zh-CN" dirty="0" err="1" smtClean="0"/>
              <a:t>Pc_exp_sine</a:t>
            </a:r>
            <a:r>
              <a:rPr lang="en-US" altLang="zh-CN" dirty="0" smtClean="0"/>
              <a:t>; % </a:t>
            </a:r>
            <a:r>
              <a:rPr lang="zh-CN" altLang="en-US" dirty="0" smtClean="0"/>
              <a:t>使用实验得到的磁芯损耗作为目标值 </a:t>
            </a:r>
            <a:r>
              <a:rPr lang="en-US" altLang="zh-CN" dirty="0" err="1" smtClean="0"/>
              <a:t>loss_function</a:t>
            </a:r>
            <a:r>
              <a:rPr lang="en-US" altLang="zh-CN" dirty="0" smtClean="0"/>
              <a:t> = @(</a:t>
            </a:r>
            <a:r>
              <a:rPr lang="en-US" altLang="zh-CN" dirty="0" err="1" smtClean="0"/>
              <a:t>params</a:t>
            </a:r>
            <a:r>
              <a:rPr lang="en-US" altLang="zh-CN" dirty="0" smtClean="0"/>
              <a:t>, </a:t>
            </a:r>
            <a:r>
              <a:rPr lang="en-US" altLang="zh-CN" dirty="0" err="1" smtClean="0"/>
              <a:t>T_f_Bmax</a:t>
            </a:r>
            <a:r>
              <a:rPr lang="en-US" altLang="zh-CN" dirty="0" smtClean="0"/>
              <a:t>) </a:t>
            </a:r>
            <a:r>
              <a:rPr lang="en-US" altLang="zh-CN" dirty="0" err="1" smtClean="0"/>
              <a:t>params</a:t>
            </a:r>
            <a:r>
              <a:rPr lang="en-US" altLang="zh-CN" dirty="0" smtClean="0"/>
              <a:t>(1) * (1 + </a:t>
            </a:r>
            <a:r>
              <a:rPr lang="en-US" altLang="zh-CN" dirty="0" err="1" smtClean="0"/>
              <a:t>params</a:t>
            </a:r>
            <a:r>
              <a:rPr lang="en-US" altLang="zh-CN" dirty="0" smtClean="0"/>
              <a:t>(2) * </a:t>
            </a:r>
            <a:r>
              <a:rPr lang="en-US" altLang="zh-CN" dirty="0" err="1" smtClean="0"/>
              <a:t>T_f_Bmax</a:t>
            </a:r>
            <a:r>
              <a:rPr lang="en-US" altLang="zh-CN" dirty="0" smtClean="0"/>
              <a:t>(:,1) + ... </a:t>
            </a:r>
            <a:r>
              <a:rPr lang="en-US" altLang="zh-CN" dirty="0" err="1" smtClean="0"/>
              <a:t>params</a:t>
            </a:r>
            <a:r>
              <a:rPr lang="en-US" altLang="zh-CN" dirty="0" smtClean="0"/>
              <a:t>(3) * </a:t>
            </a:r>
            <a:r>
              <a:rPr lang="en-US" altLang="zh-CN" dirty="0" err="1" smtClean="0"/>
              <a:t>T_f_Bmax</a:t>
            </a:r>
            <a:r>
              <a:rPr lang="en-US" altLang="zh-CN" dirty="0" smtClean="0"/>
              <a:t>(:,1).^2 + ... </a:t>
            </a:r>
            <a:r>
              <a:rPr lang="en-US" altLang="zh-CN" dirty="0" err="1" smtClean="0"/>
              <a:t>params</a:t>
            </a:r>
            <a:r>
              <a:rPr lang="en-US" altLang="zh-CN" dirty="0" smtClean="0"/>
              <a:t>(4) * </a:t>
            </a:r>
            <a:r>
              <a:rPr lang="en-US" altLang="zh-CN" dirty="0" err="1" smtClean="0"/>
              <a:t>T_f_Bmax</a:t>
            </a:r>
            <a:r>
              <a:rPr lang="en-US" altLang="zh-CN" dirty="0" smtClean="0"/>
              <a:t>(:,1).^3) .* ... </a:t>
            </a:r>
            <a:r>
              <a:rPr lang="en-US" altLang="zh-CN" dirty="0" err="1" smtClean="0"/>
              <a:t>T_f_Bmax</a:t>
            </a:r>
            <a:r>
              <a:rPr lang="en-US" altLang="zh-CN" dirty="0" smtClean="0"/>
              <a:t>(:,2).^ </a:t>
            </a:r>
            <a:r>
              <a:rPr lang="en-US" altLang="zh-CN" dirty="0" err="1" smtClean="0"/>
              <a:t>params</a:t>
            </a:r>
            <a:r>
              <a:rPr lang="en-US" altLang="zh-CN" dirty="0" smtClean="0"/>
              <a:t>(5) .* ... </a:t>
            </a:r>
            <a:r>
              <a:rPr lang="en-US" altLang="zh-CN" dirty="0" err="1" smtClean="0"/>
              <a:t>T_f_Bmax</a:t>
            </a:r>
            <a:r>
              <a:rPr lang="en-US" altLang="zh-CN" dirty="0" smtClean="0"/>
              <a:t>(:,3).^ </a:t>
            </a:r>
            <a:r>
              <a:rPr lang="en-US" altLang="zh-CN" dirty="0" err="1" smtClean="0"/>
              <a:t>params</a:t>
            </a:r>
            <a:r>
              <a:rPr lang="en-US" altLang="zh-CN" dirty="0" smtClean="0"/>
              <a:t>(6); </a:t>
            </a:r>
            <a:r>
              <a:rPr lang="en-US" altLang="zh-CN" dirty="0" err="1" smtClean="0"/>
              <a:t>initial_guess</a:t>
            </a:r>
            <a:r>
              <a:rPr lang="en-US" altLang="zh-CN" dirty="0" smtClean="0"/>
              <a:t> = [1, 0, 0, 0, 2.5, 2.0]; % </a:t>
            </a:r>
            <a:r>
              <a:rPr lang="zh-CN" altLang="en-US" dirty="0" smtClean="0"/>
              <a:t>初始猜测参数 </a:t>
            </a:r>
            <a:r>
              <a:rPr lang="en-US" altLang="zh-CN" dirty="0" smtClean="0"/>
              <a:t>[k0, c1, c2, c3, alpha, beta] options = </a:t>
            </a:r>
            <a:r>
              <a:rPr lang="en-US" altLang="zh-CN" dirty="0" err="1" smtClean="0"/>
              <a:t>optimset</a:t>
            </a:r>
            <a:r>
              <a:rPr lang="en-US" altLang="zh-CN" dirty="0" smtClean="0"/>
              <a:t>('Display','iter','TolFun',1e-8); % </a:t>
            </a:r>
            <a:r>
              <a:rPr lang="zh-CN" altLang="en-US" dirty="0" smtClean="0"/>
              <a:t>设置拟合选项 </a:t>
            </a:r>
            <a:r>
              <a:rPr lang="en-US" altLang="zh-CN" dirty="0" smtClean="0"/>
              <a:t>[</a:t>
            </a:r>
            <a:r>
              <a:rPr lang="en-US" altLang="zh-CN" dirty="0" err="1" smtClean="0"/>
              <a:t>params_fit</a:t>
            </a:r>
            <a:r>
              <a:rPr lang="en-US" altLang="zh-CN" dirty="0" smtClean="0"/>
              <a:t>, </a:t>
            </a:r>
            <a:r>
              <a:rPr lang="en-US" altLang="zh-CN" dirty="0" err="1" smtClean="0"/>
              <a:t>resnorm</a:t>
            </a:r>
            <a:r>
              <a:rPr lang="en-US" altLang="zh-CN" dirty="0" smtClean="0"/>
              <a:t>] = </a:t>
            </a:r>
            <a:r>
              <a:rPr lang="en-US" altLang="zh-CN" dirty="0" err="1" smtClean="0"/>
              <a:t>lsqcurvefit</a:t>
            </a:r>
            <a:r>
              <a:rPr lang="en-US" altLang="zh-CN" dirty="0" smtClean="0"/>
              <a:t>(</a:t>
            </a:r>
            <a:r>
              <a:rPr lang="en-US" altLang="zh-CN" dirty="0" err="1" smtClean="0"/>
              <a:t>loss_function</a:t>
            </a:r>
            <a:r>
              <a:rPr lang="en-US" altLang="zh-CN" dirty="0" smtClean="0"/>
              <a:t>, </a:t>
            </a:r>
            <a:r>
              <a:rPr lang="en-US" altLang="zh-CN" dirty="0" err="1" smtClean="0"/>
              <a:t>initial_guess</a:t>
            </a:r>
            <a:r>
              <a:rPr lang="en-US" altLang="zh-CN" dirty="0" smtClean="0"/>
              <a:t>, </a:t>
            </a:r>
            <a:r>
              <a:rPr lang="en-US" altLang="zh-CN" dirty="0" err="1" smtClean="0"/>
              <a:t>T_f_Bmax</a:t>
            </a:r>
            <a:r>
              <a:rPr lang="en-US" altLang="zh-CN" dirty="0" smtClean="0"/>
              <a:t>, </a:t>
            </a:r>
            <a:r>
              <a:rPr lang="en-US" altLang="zh-CN" dirty="0" err="1" smtClean="0"/>
              <a:t>Pc_exp_data</a:t>
            </a:r>
            <a:r>
              <a:rPr lang="en-US" altLang="zh-CN" dirty="0" smtClean="0"/>
              <a:t>, [], [], options); % </a:t>
            </a:r>
            <a:r>
              <a:rPr lang="zh-CN" altLang="en-US" dirty="0" smtClean="0"/>
              <a:t>使用非线性最小二乘法拟合， 以上内容是第二问中对</a:t>
            </a:r>
            <a:r>
              <a:rPr lang="en-US" altLang="zh-CN" dirty="0" smtClean="0"/>
              <a:t>SE</a:t>
            </a:r>
            <a:r>
              <a:rPr lang="zh-CN" altLang="en-US" dirty="0" smtClean="0"/>
              <a:t>公式中温度项的修正，第一张图片是</a:t>
            </a:r>
            <a:r>
              <a:rPr lang="en-US" altLang="zh-CN" dirty="0" smtClean="0"/>
              <a:t>SE</a:t>
            </a:r>
            <a:r>
              <a:rPr lang="zh-CN" altLang="en-US" dirty="0" smtClean="0"/>
              <a:t>公式，第二张图片中的（</a:t>
            </a:r>
            <a:r>
              <a:rPr lang="en-US" altLang="zh-CN" dirty="0" smtClean="0"/>
              <a:t>7</a:t>
            </a:r>
            <a:r>
              <a:rPr lang="zh-CN" altLang="en-US" dirty="0" smtClean="0"/>
              <a:t>）（</a:t>
            </a:r>
            <a:r>
              <a:rPr lang="en-US" altLang="zh-CN" dirty="0" smtClean="0"/>
              <a:t>8</a:t>
            </a:r>
            <a:r>
              <a:rPr lang="zh-CN" altLang="en-US" dirty="0" smtClean="0"/>
              <a:t>）是附件中已经得到的关于波形的修正公式，现在还要加入考虑材料的修正，拟合关于温度、波形和材料共同作用的修正公式，以交互作用的结果为初始解的猜测点，第三张图是交互作用的结果，请给出相应的代码</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34</a:t>
            </a:fld>
            <a:endParaRPr lang="zh-CN" altLang="en-US"/>
          </a:p>
        </p:txBody>
      </p:sp>
    </p:spTree>
    <p:extLst>
      <p:ext uri="{BB962C8B-B14F-4D97-AF65-F5344CB8AC3E}">
        <p14:creationId xmlns:p14="http://schemas.microsoft.com/office/powerpoint/2010/main" val="295819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smtClean="0"/>
              <a:t>CL</a:t>
            </a:r>
            <a:r>
              <a:rPr lang="zh-CN" altLang="en-US" dirty="0" smtClean="0"/>
              <a:t>系统几何参数标定与图像重建算法研究</a:t>
            </a:r>
            <a:r>
              <a:rPr lang="en-US" altLang="zh-CN" dirty="0" smtClean="0"/>
              <a:t>_</a:t>
            </a:r>
            <a:r>
              <a:rPr lang="zh-CN" altLang="en-US" dirty="0" smtClean="0"/>
              <a:t>王敬雨</a:t>
            </a:r>
            <a:endParaRPr lang="zh-CN" altLang="en-US" dirty="0"/>
          </a:p>
        </p:txBody>
      </p:sp>
      <p:sp>
        <p:nvSpPr>
          <p:cNvPr id="4" name="灯片编号占位符 3"/>
          <p:cNvSpPr>
            <a:spLocks noGrp="1"/>
          </p:cNvSpPr>
          <p:nvPr>
            <p:ph type="sldNum" sz="quarter" idx="10"/>
          </p:nvPr>
        </p:nvSpPr>
        <p:spPr/>
        <p:txBody>
          <a:bodyPr/>
          <a:lstStyle/>
          <a:p>
            <a:fld id="{37DE50BA-577E-4E91-BAB7-8D724902351B}" type="slidenum">
              <a:rPr lang="zh-CN" altLang="en-US" smtClean="0"/>
              <a:t>46</a:t>
            </a:fld>
            <a:endParaRPr lang="zh-CN" altLang="en-US"/>
          </a:p>
        </p:txBody>
      </p:sp>
    </p:spTree>
    <p:extLst>
      <p:ext uri="{BB962C8B-B14F-4D97-AF65-F5344CB8AC3E}">
        <p14:creationId xmlns:p14="http://schemas.microsoft.com/office/powerpoint/2010/main" val="3540888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1" y="1122363"/>
            <a:ext cx="9144000" cy="2387600"/>
          </a:xfrm>
        </p:spPr>
        <p:txBody>
          <a:bodyPr anchor="b"/>
          <a:lstStyle>
            <a:lvl1pPr algn="ctr">
              <a:defRPr sz="6001"/>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1" y="3602038"/>
            <a:ext cx="9144000" cy="1655762"/>
          </a:xfrm>
        </p:spPr>
        <p:txBody>
          <a:bodyPr/>
          <a:lstStyle>
            <a:lvl1pPr marL="0" indent="0" algn="ctr">
              <a:buNone/>
              <a:defRPr sz="2400"/>
            </a:lvl1pPr>
            <a:lvl2pPr marL="457245" indent="0" algn="ctr">
              <a:buNone/>
              <a:defRPr sz="2000"/>
            </a:lvl2pPr>
            <a:lvl3pPr marL="914488" indent="0" algn="ctr">
              <a:buNone/>
              <a:defRPr sz="1800"/>
            </a:lvl3pPr>
            <a:lvl4pPr marL="1371733" indent="0" algn="ctr">
              <a:buNone/>
              <a:defRPr sz="1600"/>
            </a:lvl4pPr>
            <a:lvl5pPr marL="1828978" indent="0" algn="ctr">
              <a:buNone/>
              <a:defRPr sz="1600"/>
            </a:lvl5pPr>
            <a:lvl6pPr marL="2286223" indent="0" algn="ctr">
              <a:buNone/>
              <a:defRPr sz="1600"/>
            </a:lvl6pPr>
            <a:lvl7pPr marL="2743466" indent="0" algn="ctr">
              <a:buNone/>
              <a:defRPr sz="1600"/>
            </a:lvl7pPr>
            <a:lvl8pPr marL="3200711" indent="0" algn="ctr">
              <a:buNone/>
              <a:defRPr sz="1600"/>
            </a:lvl8pPr>
            <a:lvl9pPr marL="3657956"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173246256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3568360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1709739"/>
            <a:ext cx="10515601" cy="2852737"/>
          </a:xfrm>
        </p:spPr>
        <p:txBody>
          <a:bodyPr anchor="b"/>
          <a:lstStyle>
            <a:lvl1pPr>
              <a:defRPr sz="6001"/>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49" y="4589463"/>
            <a:ext cx="10515601" cy="1500187"/>
          </a:xfrm>
        </p:spPr>
        <p:txBody>
          <a:bodyPr/>
          <a:lstStyle>
            <a:lvl1pPr marL="0" indent="0">
              <a:buNone/>
              <a:defRPr sz="2400">
                <a:solidFill>
                  <a:schemeClr val="tx1">
                    <a:tint val="75000"/>
                  </a:schemeClr>
                </a:solidFill>
              </a:defRPr>
            </a:lvl1pPr>
            <a:lvl2pPr marL="457245" indent="0">
              <a:buNone/>
              <a:defRPr sz="2000">
                <a:solidFill>
                  <a:schemeClr val="tx1">
                    <a:tint val="75000"/>
                  </a:schemeClr>
                </a:solidFill>
              </a:defRPr>
            </a:lvl2pPr>
            <a:lvl3pPr marL="914488" indent="0">
              <a:buNone/>
              <a:defRPr sz="1800">
                <a:solidFill>
                  <a:schemeClr val="tx1">
                    <a:tint val="75000"/>
                  </a:schemeClr>
                </a:solidFill>
              </a:defRPr>
            </a:lvl3pPr>
            <a:lvl4pPr marL="1371733" indent="0">
              <a:buNone/>
              <a:defRPr sz="1600">
                <a:solidFill>
                  <a:schemeClr val="tx1">
                    <a:tint val="75000"/>
                  </a:schemeClr>
                </a:solidFill>
              </a:defRPr>
            </a:lvl4pPr>
            <a:lvl5pPr marL="1828978" indent="0">
              <a:buNone/>
              <a:defRPr sz="1600">
                <a:solidFill>
                  <a:schemeClr val="tx1">
                    <a:tint val="75000"/>
                  </a:schemeClr>
                </a:solidFill>
              </a:defRPr>
            </a:lvl5pPr>
            <a:lvl6pPr marL="2286223" indent="0">
              <a:buNone/>
              <a:defRPr sz="1600">
                <a:solidFill>
                  <a:schemeClr val="tx1">
                    <a:tint val="75000"/>
                  </a:schemeClr>
                </a:solidFill>
              </a:defRPr>
            </a:lvl6pPr>
            <a:lvl7pPr marL="2743466" indent="0">
              <a:buNone/>
              <a:defRPr sz="1600">
                <a:solidFill>
                  <a:schemeClr val="tx1">
                    <a:tint val="75000"/>
                  </a:schemeClr>
                </a:solidFill>
              </a:defRPr>
            </a:lvl7pPr>
            <a:lvl8pPr marL="3200711" indent="0">
              <a:buNone/>
              <a:defRPr sz="1600">
                <a:solidFill>
                  <a:schemeClr val="tx1">
                    <a:tint val="75000"/>
                  </a:schemeClr>
                </a:solidFill>
              </a:defRPr>
            </a:lvl8pPr>
            <a:lvl9pPr marL="3657956"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2383355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1"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199"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1980564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7" y="365126"/>
            <a:ext cx="10515601"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8" cy="823912"/>
          </a:xfrm>
        </p:spPr>
        <p:txBody>
          <a:bodyPr anchor="b"/>
          <a:lstStyle>
            <a:lvl1pPr marL="0" indent="0">
              <a:buNone/>
              <a:defRPr sz="2400" b="1"/>
            </a:lvl1pPr>
            <a:lvl2pPr marL="457245" indent="0">
              <a:buNone/>
              <a:defRPr sz="2000" b="1"/>
            </a:lvl2pPr>
            <a:lvl3pPr marL="914488" indent="0">
              <a:buNone/>
              <a:defRPr sz="1800" b="1"/>
            </a:lvl3pPr>
            <a:lvl4pPr marL="1371733" indent="0">
              <a:buNone/>
              <a:defRPr sz="1600" b="1"/>
            </a:lvl4pPr>
            <a:lvl5pPr marL="1828978" indent="0">
              <a:buNone/>
              <a:defRPr sz="1600" b="1"/>
            </a:lvl5pPr>
            <a:lvl6pPr marL="2286223" indent="0">
              <a:buNone/>
              <a:defRPr sz="1600" b="1"/>
            </a:lvl6pPr>
            <a:lvl7pPr marL="2743466" indent="0">
              <a:buNone/>
              <a:defRPr sz="1600" b="1"/>
            </a:lvl7pPr>
            <a:lvl8pPr marL="3200711" indent="0">
              <a:buNone/>
              <a:defRPr sz="1600" b="1"/>
            </a:lvl8pPr>
            <a:lvl9pPr marL="3657956"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9" cy="823912"/>
          </a:xfrm>
        </p:spPr>
        <p:txBody>
          <a:bodyPr anchor="b"/>
          <a:lstStyle>
            <a:lvl1pPr marL="0" indent="0">
              <a:buNone/>
              <a:defRPr sz="2400" b="1"/>
            </a:lvl1pPr>
            <a:lvl2pPr marL="457245" indent="0">
              <a:buNone/>
              <a:defRPr sz="2000" b="1"/>
            </a:lvl2pPr>
            <a:lvl3pPr marL="914488" indent="0">
              <a:buNone/>
              <a:defRPr sz="1800" b="1"/>
            </a:lvl3pPr>
            <a:lvl4pPr marL="1371733" indent="0">
              <a:buNone/>
              <a:defRPr sz="1600" b="1"/>
            </a:lvl4pPr>
            <a:lvl5pPr marL="1828978" indent="0">
              <a:buNone/>
              <a:defRPr sz="1600" b="1"/>
            </a:lvl5pPr>
            <a:lvl6pPr marL="2286223" indent="0">
              <a:buNone/>
              <a:defRPr sz="1600" b="1"/>
            </a:lvl6pPr>
            <a:lvl7pPr marL="2743466" indent="0">
              <a:buNone/>
              <a:defRPr sz="1600" b="1"/>
            </a:lvl7pPr>
            <a:lvl8pPr marL="3200711" indent="0">
              <a:buNone/>
              <a:defRPr sz="1600" b="1"/>
            </a:lvl8pPr>
            <a:lvl9pPr marL="3657956"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9"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4135455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49214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226659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90" y="987425"/>
            <a:ext cx="617219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45" indent="0">
              <a:buNone/>
              <a:defRPr sz="1400"/>
            </a:lvl2pPr>
            <a:lvl3pPr marL="914488" indent="0">
              <a:buNone/>
              <a:defRPr sz="1200"/>
            </a:lvl3pPr>
            <a:lvl4pPr marL="1371733" indent="0">
              <a:buNone/>
              <a:defRPr sz="1000"/>
            </a:lvl4pPr>
            <a:lvl5pPr marL="1828978" indent="0">
              <a:buNone/>
              <a:defRPr sz="1000"/>
            </a:lvl5pPr>
            <a:lvl6pPr marL="2286223" indent="0">
              <a:buNone/>
              <a:defRPr sz="1000"/>
            </a:lvl6pPr>
            <a:lvl7pPr marL="2743466" indent="0">
              <a:buNone/>
              <a:defRPr sz="1000"/>
            </a:lvl7pPr>
            <a:lvl8pPr marL="3200711" indent="0">
              <a:buNone/>
              <a:defRPr sz="1000"/>
            </a:lvl8pPr>
            <a:lvl9pPr marL="3657956"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415764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90" y="987425"/>
            <a:ext cx="6172199" cy="4873625"/>
          </a:xfrm>
        </p:spPr>
        <p:txBody>
          <a:bodyPr/>
          <a:lstStyle>
            <a:lvl1pPr marL="0" indent="0">
              <a:buNone/>
              <a:defRPr sz="3200"/>
            </a:lvl1pPr>
            <a:lvl2pPr marL="457245" indent="0">
              <a:buNone/>
              <a:defRPr sz="2800"/>
            </a:lvl2pPr>
            <a:lvl3pPr marL="914488" indent="0">
              <a:buNone/>
              <a:defRPr sz="2400"/>
            </a:lvl3pPr>
            <a:lvl4pPr marL="1371733" indent="0">
              <a:buNone/>
              <a:defRPr sz="2000"/>
            </a:lvl4pPr>
            <a:lvl5pPr marL="1828978" indent="0">
              <a:buNone/>
              <a:defRPr sz="2000"/>
            </a:lvl5pPr>
            <a:lvl6pPr marL="2286223" indent="0">
              <a:buNone/>
              <a:defRPr sz="2000"/>
            </a:lvl6pPr>
            <a:lvl7pPr marL="2743466" indent="0">
              <a:buNone/>
              <a:defRPr sz="2000"/>
            </a:lvl7pPr>
            <a:lvl8pPr marL="3200711" indent="0">
              <a:buNone/>
              <a:defRPr sz="2000"/>
            </a:lvl8pPr>
            <a:lvl9pPr marL="3657956"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45" indent="0">
              <a:buNone/>
              <a:defRPr sz="1400"/>
            </a:lvl2pPr>
            <a:lvl3pPr marL="914488" indent="0">
              <a:buNone/>
              <a:defRPr sz="1200"/>
            </a:lvl3pPr>
            <a:lvl4pPr marL="1371733" indent="0">
              <a:buNone/>
              <a:defRPr sz="1000"/>
            </a:lvl4pPr>
            <a:lvl5pPr marL="1828978" indent="0">
              <a:buNone/>
              <a:defRPr sz="1000"/>
            </a:lvl5pPr>
            <a:lvl6pPr marL="2286223" indent="0">
              <a:buNone/>
              <a:defRPr sz="1000"/>
            </a:lvl6pPr>
            <a:lvl7pPr marL="2743466" indent="0">
              <a:buNone/>
              <a:defRPr sz="1000"/>
            </a:lvl7pPr>
            <a:lvl8pPr marL="3200711" indent="0">
              <a:buNone/>
              <a:defRPr sz="1000"/>
            </a:lvl8pPr>
            <a:lvl9pPr marL="3657956"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516678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4149619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3765477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1"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1"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611074-C936-4DD8-8CC7-4DE7B35C2684}" type="datetimeFigureOut">
              <a:rPr lang="zh-CN" altLang="en-US" smtClean="0"/>
              <a:t>2024/10/31</a:t>
            </a:fld>
            <a:endParaRPr lang="zh-CN" altLang="en-US"/>
          </a:p>
        </p:txBody>
      </p:sp>
      <p:sp>
        <p:nvSpPr>
          <p:cNvPr id="5" name="页脚占位符 4"/>
          <p:cNvSpPr>
            <a:spLocks noGrp="1"/>
          </p:cNvSpPr>
          <p:nvPr>
            <p:ph type="ftr" sz="quarter" idx="3"/>
          </p:nvPr>
        </p:nvSpPr>
        <p:spPr>
          <a:xfrm>
            <a:off x="4038601" y="6356351"/>
            <a:ext cx="4114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92413-3B01-4F17-9113-30C2E8866C86}" type="slidenum">
              <a:rPr lang="zh-CN" altLang="en-US" smtClean="0"/>
              <a:t>‹#›</a:t>
            </a:fld>
            <a:endParaRPr lang="zh-CN" altLang="en-US"/>
          </a:p>
        </p:txBody>
      </p:sp>
    </p:spTree>
    <p:extLst>
      <p:ext uri="{BB962C8B-B14F-4D97-AF65-F5344CB8AC3E}">
        <p14:creationId xmlns:p14="http://schemas.microsoft.com/office/powerpoint/2010/main" val="3630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8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22" indent="-228622" algn="l" defTabSz="91448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67" indent="-228622" algn="l" defTabSz="91448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111" indent="-228622" algn="l" defTabSz="91448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56"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601"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44"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89"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334"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79" indent="-228622" algn="l" defTabSz="91448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88" rtl="0" eaLnBrk="1" latinLnBrk="0" hangingPunct="1">
        <a:defRPr sz="1800" kern="1200">
          <a:solidFill>
            <a:schemeClr val="tx1"/>
          </a:solidFill>
          <a:latin typeface="+mn-lt"/>
          <a:ea typeface="+mn-ea"/>
          <a:cs typeface="+mn-cs"/>
        </a:defRPr>
      </a:lvl1pPr>
      <a:lvl2pPr marL="457245" algn="l" defTabSz="914488" rtl="0" eaLnBrk="1" latinLnBrk="0" hangingPunct="1">
        <a:defRPr sz="1800" kern="1200">
          <a:solidFill>
            <a:schemeClr val="tx1"/>
          </a:solidFill>
          <a:latin typeface="+mn-lt"/>
          <a:ea typeface="+mn-ea"/>
          <a:cs typeface="+mn-cs"/>
        </a:defRPr>
      </a:lvl2pPr>
      <a:lvl3pPr marL="914488" algn="l" defTabSz="914488" rtl="0" eaLnBrk="1" latinLnBrk="0" hangingPunct="1">
        <a:defRPr sz="1800" kern="1200">
          <a:solidFill>
            <a:schemeClr val="tx1"/>
          </a:solidFill>
          <a:latin typeface="+mn-lt"/>
          <a:ea typeface="+mn-ea"/>
          <a:cs typeface="+mn-cs"/>
        </a:defRPr>
      </a:lvl3pPr>
      <a:lvl4pPr marL="1371733" algn="l" defTabSz="914488" rtl="0" eaLnBrk="1" latinLnBrk="0" hangingPunct="1">
        <a:defRPr sz="1800" kern="1200">
          <a:solidFill>
            <a:schemeClr val="tx1"/>
          </a:solidFill>
          <a:latin typeface="+mn-lt"/>
          <a:ea typeface="+mn-ea"/>
          <a:cs typeface="+mn-cs"/>
        </a:defRPr>
      </a:lvl4pPr>
      <a:lvl5pPr marL="1828978" algn="l" defTabSz="914488" rtl="0" eaLnBrk="1" latinLnBrk="0" hangingPunct="1">
        <a:defRPr sz="1800" kern="1200">
          <a:solidFill>
            <a:schemeClr val="tx1"/>
          </a:solidFill>
          <a:latin typeface="+mn-lt"/>
          <a:ea typeface="+mn-ea"/>
          <a:cs typeface="+mn-cs"/>
        </a:defRPr>
      </a:lvl5pPr>
      <a:lvl6pPr marL="2286223" algn="l" defTabSz="914488" rtl="0" eaLnBrk="1" latinLnBrk="0" hangingPunct="1">
        <a:defRPr sz="1800" kern="1200">
          <a:solidFill>
            <a:schemeClr val="tx1"/>
          </a:solidFill>
          <a:latin typeface="+mn-lt"/>
          <a:ea typeface="+mn-ea"/>
          <a:cs typeface="+mn-cs"/>
        </a:defRPr>
      </a:lvl6pPr>
      <a:lvl7pPr marL="2743466" algn="l" defTabSz="914488" rtl="0" eaLnBrk="1" latinLnBrk="0" hangingPunct="1">
        <a:defRPr sz="1800" kern="1200">
          <a:solidFill>
            <a:schemeClr val="tx1"/>
          </a:solidFill>
          <a:latin typeface="+mn-lt"/>
          <a:ea typeface="+mn-ea"/>
          <a:cs typeface="+mn-cs"/>
        </a:defRPr>
      </a:lvl7pPr>
      <a:lvl8pPr marL="3200711" algn="l" defTabSz="914488" rtl="0" eaLnBrk="1" latinLnBrk="0" hangingPunct="1">
        <a:defRPr sz="1800" kern="1200">
          <a:solidFill>
            <a:schemeClr val="tx1"/>
          </a:solidFill>
          <a:latin typeface="+mn-lt"/>
          <a:ea typeface="+mn-ea"/>
          <a:cs typeface="+mn-cs"/>
        </a:defRPr>
      </a:lvl8pPr>
      <a:lvl9pPr marL="3657956" algn="l" defTabSz="9144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25.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4.emf"/><Relationship Id="rId10" Type="http://schemas.openxmlformats.org/officeDocument/2006/relationships/image" Target="../media/image27.png"/><Relationship Id="rId4" Type="http://schemas.openxmlformats.org/officeDocument/2006/relationships/oleObject" Target="../embeddings/oleObject1.bin"/><Relationship Id="rId9" Type="http://schemas.openxmlformats.org/officeDocument/2006/relationships/image" Target="../media/image26.emf"/></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comments" Target="../comments/comment1.xml"/><Relationship Id="rId5" Type="http://schemas.openxmlformats.org/officeDocument/2006/relationships/image" Target="../media/image70.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2.emf"/></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87.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3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06.tiff"/><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9.png"/></Relationships>
</file>

<file path=ppt/slides/_rels/slide47.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111.png"/><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4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19000"/>
          </a:stretch>
        </a:blipFill>
        <a:effectLst/>
      </p:bgPr>
    </p:bg>
    <p:spTree>
      <p:nvGrpSpPr>
        <p:cNvPr id="1" name=""/>
        <p:cNvGrpSpPr/>
        <p:nvPr/>
      </p:nvGrpSpPr>
      <p:grpSpPr>
        <a:xfrm>
          <a:off x="0" y="0"/>
          <a:ext cx="0" cy="0"/>
          <a:chOff x="0" y="0"/>
          <a:chExt cx="0" cy="0"/>
        </a:xfrm>
      </p:grpSpPr>
      <p:sp>
        <p:nvSpPr>
          <p:cNvPr id="4" name="文本框 3"/>
          <p:cNvSpPr txBox="1"/>
          <p:nvPr/>
        </p:nvSpPr>
        <p:spPr>
          <a:xfrm>
            <a:off x="4690535" y="2142069"/>
            <a:ext cx="4792135" cy="2308581"/>
          </a:xfrm>
          <a:prstGeom prst="rect">
            <a:avLst/>
          </a:prstGeom>
          <a:noFill/>
        </p:spPr>
        <p:txBody>
          <a:bodyPr wrap="square" rtlCol="0">
            <a:spAutoFit/>
          </a:bodyPr>
          <a:lstStyle/>
          <a:p>
            <a:r>
              <a:rPr lang="zh-CN" altLang="en-US" sz="7201" b="1" dirty="0">
                <a:ln w="0"/>
                <a:solidFill>
                  <a:schemeClr val="accent2"/>
                </a:solidFill>
                <a:effectLst>
                  <a:outerShdw blurRad="38100" dist="25400" dir="5400000" algn="ctr" rotWithShape="0">
                    <a:srgbClr val="6E747A">
                      <a:alpha val="43000"/>
                    </a:srgbClr>
                  </a:outerShdw>
                </a:effectLst>
              </a:rPr>
              <a:t>第四周</a:t>
            </a:r>
            <a:endParaRPr lang="en-US" altLang="zh-CN" sz="7201" b="1" dirty="0">
              <a:ln w="0"/>
              <a:solidFill>
                <a:schemeClr val="accent2"/>
              </a:solidFill>
              <a:effectLst>
                <a:outerShdw blurRad="38100" dist="25400" dir="5400000" algn="ctr" rotWithShape="0">
                  <a:srgbClr val="6E747A">
                    <a:alpha val="43000"/>
                  </a:srgbClr>
                </a:outerShdw>
              </a:effectLst>
            </a:endParaRPr>
          </a:p>
          <a:p>
            <a:endParaRPr lang="zh-CN" altLang="en-US" sz="7201" b="1" dirty="0">
              <a:ln w="0"/>
              <a:solidFill>
                <a:schemeClr val="accent2"/>
              </a:solidFill>
              <a:effectLst>
                <a:outerShdw blurRad="38100" dist="25400" dir="5400000" algn="ctr" rotWithShape="0">
                  <a:srgbClr val="6E747A">
                    <a:alpha val="43000"/>
                  </a:srgbClr>
                </a:outerShdw>
              </a:effectLst>
            </a:endParaRPr>
          </a:p>
        </p:txBody>
      </p:sp>
      <p:sp>
        <p:nvSpPr>
          <p:cNvPr id="5" name="文本框 4"/>
          <p:cNvSpPr txBox="1"/>
          <p:nvPr/>
        </p:nvSpPr>
        <p:spPr>
          <a:xfrm>
            <a:off x="7532334" y="5435599"/>
            <a:ext cx="4455066" cy="923330"/>
          </a:xfrm>
          <a:prstGeom prst="rect">
            <a:avLst/>
          </a:prstGeom>
          <a:noFill/>
        </p:spPr>
        <p:txBody>
          <a:bodyPr wrap="none" rtlCol="0">
            <a:spAutoFit/>
          </a:bodyPr>
          <a:lstStyle/>
          <a:p>
            <a:r>
              <a:rPr lang="zh-CN" altLang="en-US" dirty="0">
                <a:ln w="0"/>
                <a:solidFill>
                  <a:schemeClr val="accent2"/>
                </a:solidFill>
                <a:effectLst>
                  <a:reflection blurRad="6350" stA="53000" endA="300" endPos="35500" dir="5400000" sy="-90000" algn="bl" rotWithShape="0"/>
                </a:effectLst>
              </a:rPr>
              <a:t>本周目标：</a:t>
            </a:r>
            <a:endParaRPr lang="en-US" altLang="zh-CN" dirty="0">
              <a:ln w="0"/>
              <a:solidFill>
                <a:schemeClr val="accent2"/>
              </a:solidFill>
              <a:effectLst>
                <a:reflection blurRad="6350" stA="53000" endA="300" endPos="35500" dir="5400000" sy="-90000" algn="bl" rotWithShape="0"/>
              </a:effectLst>
            </a:endParaRPr>
          </a:p>
          <a:p>
            <a:pPr marL="342933" indent="-342933">
              <a:buAutoNum type="arabicPeriod"/>
            </a:pPr>
            <a:r>
              <a:rPr lang="zh-CN" altLang="en-US" dirty="0">
                <a:ln w="0"/>
                <a:solidFill>
                  <a:schemeClr val="accent2"/>
                </a:solidFill>
                <a:effectLst>
                  <a:reflection blurRad="6350" stA="53000" endA="300" endPos="35500" dir="5400000" sy="-90000" algn="bl" rotWithShape="0"/>
                </a:effectLst>
              </a:rPr>
              <a:t>理解大锥角伪影，并呈现效果</a:t>
            </a:r>
            <a:endParaRPr lang="en-US" altLang="zh-CN" dirty="0">
              <a:ln w="0"/>
              <a:solidFill>
                <a:schemeClr val="accent2"/>
              </a:solidFill>
              <a:effectLst>
                <a:reflection blurRad="6350" stA="53000" endA="300" endPos="35500" dir="5400000" sy="-90000" algn="bl" rotWithShape="0"/>
              </a:effectLst>
            </a:endParaRPr>
          </a:p>
          <a:p>
            <a:pPr marL="342933" indent="-342933">
              <a:buAutoNum type="arabicPeriod"/>
            </a:pPr>
            <a:r>
              <a:rPr lang="zh-CN" altLang="en-US" dirty="0">
                <a:ln w="0"/>
                <a:solidFill>
                  <a:schemeClr val="accent2"/>
                </a:solidFill>
                <a:effectLst>
                  <a:reflection blurRad="6350" stA="53000" endA="300" endPos="35500" dir="5400000" sy="-90000" algn="bl" rotWithShape="0"/>
                </a:effectLst>
              </a:rPr>
              <a:t>读文献根据现有的解决方法想解决思路</a:t>
            </a:r>
          </a:p>
        </p:txBody>
      </p:sp>
      <p:sp>
        <p:nvSpPr>
          <p:cNvPr id="6" name="文本框 5"/>
          <p:cNvSpPr txBox="1"/>
          <p:nvPr/>
        </p:nvSpPr>
        <p:spPr>
          <a:xfrm>
            <a:off x="4978402" y="3296229"/>
            <a:ext cx="2467342" cy="369332"/>
          </a:xfrm>
          <a:prstGeom prst="rect">
            <a:avLst/>
          </a:prstGeom>
          <a:noFill/>
        </p:spPr>
        <p:txBody>
          <a:bodyPr wrap="none" rtlCol="0">
            <a:spAutoFit/>
          </a:bodyPr>
          <a:lstStyle/>
          <a:p>
            <a:r>
              <a:rPr lang="en-US" altLang="zh-CN" b="1" spc="50" dirty="0">
                <a:ln w="9525" cmpd="sng">
                  <a:solidFill>
                    <a:schemeClr val="accent1"/>
                  </a:solidFill>
                  <a:prstDash val="solid"/>
                </a:ln>
                <a:solidFill>
                  <a:srgbClr val="70AD47">
                    <a:tint val="1000"/>
                  </a:srgbClr>
                </a:solidFill>
                <a:effectLst>
                  <a:glow rad="38100">
                    <a:schemeClr val="accent1">
                      <a:alpha val="40000"/>
                    </a:schemeClr>
                  </a:glow>
                </a:effectLst>
              </a:rPr>
              <a:t>2024/9/6-2024/9/13</a:t>
            </a:r>
            <a:endParaRPr lang="zh-CN" alt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103843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5506603" cy="3067275"/>
          </a:xfrm>
          <a:prstGeom prst="rect">
            <a:avLst/>
          </a:prstGeom>
        </p:spPr>
      </p:pic>
      <p:sp>
        <p:nvSpPr>
          <p:cNvPr id="3" name="文本框 2"/>
          <p:cNvSpPr txBox="1"/>
          <p:nvPr/>
        </p:nvSpPr>
        <p:spPr>
          <a:xfrm>
            <a:off x="748674" y="3090898"/>
            <a:ext cx="3379451" cy="261610"/>
          </a:xfrm>
          <a:prstGeom prst="rect">
            <a:avLst/>
          </a:prstGeom>
          <a:noFill/>
        </p:spPr>
        <p:txBody>
          <a:bodyPr wrap="none" rtlCol="0">
            <a:spAutoFit/>
          </a:bodyPr>
          <a:lstStyle/>
          <a:p>
            <a:r>
              <a:rPr lang="zh-CN" altLang="zh-CN" sz="1100" dirty="0"/>
              <a:t>学位论文-基于滤波路径变换的锥束CT重建算法研究</a:t>
            </a:r>
            <a:endParaRPr lang="zh-CN" altLang="en-US" sz="1100" dirty="0"/>
          </a:p>
        </p:txBody>
      </p:sp>
      <p:pic>
        <p:nvPicPr>
          <p:cNvPr id="4" name="图片 3"/>
          <p:cNvPicPr>
            <a:picLocks noChangeAspect="1"/>
          </p:cNvPicPr>
          <p:nvPr/>
        </p:nvPicPr>
        <p:blipFill>
          <a:blip r:embed="rId4"/>
          <a:stretch>
            <a:fillRect/>
          </a:stretch>
        </p:blipFill>
        <p:spPr>
          <a:xfrm>
            <a:off x="5650330" y="-1"/>
            <a:ext cx="3097404" cy="3067275"/>
          </a:xfrm>
          <a:prstGeom prst="rect">
            <a:avLst/>
          </a:prstGeom>
        </p:spPr>
      </p:pic>
      <p:sp>
        <p:nvSpPr>
          <p:cNvPr id="5" name="文本框 4"/>
          <p:cNvSpPr txBox="1"/>
          <p:nvPr/>
        </p:nvSpPr>
        <p:spPr>
          <a:xfrm>
            <a:off x="6568089" y="3044377"/>
            <a:ext cx="1261884" cy="276999"/>
          </a:xfrm>
          <a:prstGeom prst="rect">
            <a:avLst/>
          </a:prstGeom>
          <a:noFill/>
        </p:spPr>
        <p:txBody>
          <a:bodyPr wrap="none" rtlCol="0">
            <a:spAutoFit/>
          </a:bodyPr>
          <a:lstStyle/>
          <a:p>
            <a:r>
              <a:rPr lang="zh-CN" altLang="en-US" sz="1200" dirty="0"/>
              <a:t>复现的锥角伪影</a:t>
            </a:r>
          </a:p>
        </p:txBody>
      </p:sp>
      <p:cxnSp>
        <p:nvCxnSpPr>
          <p:cNvPr id="7" name="直接箭头连接符 6"/>
          <p:cNvCxnSpPr/>
          <p:nvPr/>
        </p:nvCxnSpPr>
        <p:spPr>
          <a:xfrm flipH="1" flipV="1">
            <a:off x="4021667" y="1786467"/>
            <a:ext cx="262467" cy="448733"/>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9" name="文本框 8"/>
          <p:cNvSpPr txBox="1"/>
          <p:nvPr/>
        </p:nvSpPr>
        <p:spPr>
          <a:xfrm>
            <a:off x="4128124" y="2258823"/>
            <a:ext cx="889987" cy="261610"/>
          </a:xfrm>
          <a:prstGeom prst="rect">
            <a:avLst/>
          </a:prstGeom>
          <a:noFill/>
        </p:spPr>
        <p:txBody>
          <a:bodyPr wrap="none" rtlCol="0">
            <a:spAutoFit/>
          </a:bodyPr>
          <a:lstStyle/>
          <a:p>
            <a:r>
              <a:rPr lang="zh-CN" altLang="en-US" sz="1100" dirty="0"/>
              <a:t>与书上一致</a:t>
            </a:r>
          </a:p>
        </p:txBody>
      </p:sp>
      <p:pic>
        <p:nvPicPr>
          <p:cNvPr id="6" name="图片 5"/>
          <p:cNvPicPr>
            <a:picLocks noChangeAspect="1"/>
          </p:cNvPicPr>
          <p:nvPr/>
        </p:nvPicPr>
        <p:blipFill>
          <a:blip r:embed="rId5"/>
          <a:stretch>
            <a:fillRect/>
          </a:stretch>
        </p:blipFill>
        <p:spPr>
          <a:xfrm>
            <a:off x="106688" y="3376130"/>
            <a:ext cx="5704961" cy="2849822"/>
          </a:xfrm>
          <a:prstGeom prst="rect">
            <a:avLst/>
          </a:prstGeom>
        </p:spPr>
      </p:pic>
      <p:sp>
        <p:nvSpPr>
          <p:cNvPr id="8" name="文本框 7"/>
          <p:cNvSpPr txBox="1"/>
          <p:nvPr/>
        </p:nvSpPr>
        <p:spPr>
          <a:xfrm>
            <a:off x="1356302" y="6270876"/>
            <a:ext cx="2994731" cy="369332"/>
          </a:xfrm>
          <a:prstGeom prst="rect">
            <a:avLst/>
          </a:prstGeom>
          <a:noFill/>
        </p:spPr>
        <p:txBody>
          <a:bodyPr wrap="none" rtlCol="0">
            <a:spAutoFit/>
          </a:bodyPr>
          <a:lstStyle/>
          <a:p>
            <a:r>
              <a:rPr lang="zh-CN" altLang="en-US" dirty="0"/>
              <a:t>由于数据不足产生的</a:t>
            </a:r>
            <a:r>
              <a:rPr lang="en-US" altLang="zh-CN" dirty="0"/>
              <a:t>CB</a:t>
            </a:r>
            <a:r>
              <a:rPr lang="zh-CN" altLang="en-US" dirty="0"/>
              <a:t>伪影</a:t>
            </a:r>
          </a:p>
        </p:txBody>
      </p:sp>
      <p:pic>
        <p:nvPicPr>
          <p:cNvPr id="10" name="图片 9"/>
          <p:cNvPicPr>
            <a:picLocks noChangeAspect="1"/>
          </p:cNvPicPr>
          <p:nvPr/>
        </p:nvPicPr>
        <p:blipFill>
          <a:blip r:embed="rId6"/>
          <a:stretch>
            <a:fillRect/>
          </a:stretch>
        </p:blipFill>
        <p:spPr>
          <a:xfrm>
            <a:off x="5811648" y="3327251"/>
            <a:ext cx="6188454" cy="3128292"/>
          </a:xfrm>
          <a:prstGeom prst="rect">
            <a:avLst/>
          </a:prstGeom>
        </p:spPr>
      </p:pic>
      <p:sp>
        <p:nvSpPr>
          <p:cNvPr id="11" name="文本框 10"/>
          <p:cNvSpPr txBox="1"/>
          <p:nvPr/>
        </p:nvSpPr>
        <p:spPr>
          <a:xfrm>
            <a:off x="7425268" y="6455542"/>
            <a:ext cx="3225563" cy="369332"/>
          </a:xfrm>
          <a:prstGeom prst="rect">
            <a:avLst/>
          </a:prstGeom>
          <a:noFill/>
        </p:spPr>
        <p:txBody>
          <a:bodyPr wrap="none" rtlCol="0">
            <a:spAutoFit/>
          </a:bodyPr>
          <a:lstStyle/>
          <a:p>
            <a:r>
              <a:rPr lang="zh-CN" altLang="en-US" dirty="0"/>
              <a:t>由于数据不一致呈现的</a:t>
            </a:r>
            <a:r>
              <a:rPr lang="en-US" altLang="zh-CN" dirty="0"/>
              <a:t>CB</a:t>
            </a:r>
            <a:r>
              <a:rPr lang="zh-CN" altLang="en-US" dirty="0"/>
              <a:t>伪影</a:t>
            </a:r>
          </a:p>
        </p:txBody>
      </p:sp>
      <p:sp>
        <p:nvSpPr>
          <p:cNvPr id="12" name="文本框 11"/>
          <p:cNvSpPr txBox="1"/>
          <p:nvPr/>
        </p:nvSpPr>
        <p:spPr>
          <a:xfrm>
            <a:off x="3990171" y="6518906"/>
            <a:ext cx="5314697" cy="369332"/>
          </a:xfrm>
          <a:prstGeom prst="rect">
            <a:avLst/>
          </a:prstGeom>
          <a:noFill/>
        </p:spPr>
        <p:txBody>
          <a:bodyPr wrap="square" rtlCol="0">
            <a:spAutoFit/>
          </a:bodyPr>
          <a:lstStyle/>
          <a:p>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由于是轴向</a:t>
            </a:r>
            <a:r>
              <a:rPr lang="en-US" altLang="zh-CN"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MDCT/CBCT</a:t>
            </a:r>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数据采集所固有的锥角伪影</a:t>
            </a:r>
          </a:p>
        </p:txBody>
      </p:sp>
      <p:cxnSp>
        <p:nvCxnSpPr>
          <p:cNvPr id="17" name="肘形连接符 16"/>
          <p:cNvCxnSpPr/>
          <p:nvPr/>
        </p:nvCxnSpPr>
        <p:spPr>
          <a:xfrm>
            <a:off x="5506603" y="6314596"/>
            <a:ext cx="2028730" cy="2388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肘形连接符 18"/>
          <p:cNvCxnSpPr>
            <a:endCxn id="8" idx="3"/>
          </p:cNvCxnSpPr>
          <p:nvPr/>
        </p:nvCxnSpPr>
        <p:spPr>
          <a:xfrm rot="10800000" flipV="1">
            <a:off x="4351034" y="6314594"/>
            <a:ext cx="1155579" cy="14094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776230" y="2"/>
            <a:ext cx="1415772" cy="461665"/>
          </a:xfrm>
          <a:prstGeom prst="rect">
            <a:avLst/>
          </a:prstGeom>
          <a:noFill/>
        </p:spPr>
        <p:txBody>
          <a:bodyPr wrap="none" rtlCol="0">
            <a:spAutoFit/>
          </a:bodyPr>
          <a:lstStyle/>
          <a:p>
            <a:r>
              <a:rPr lang="zh-CN" altLang="en-US" sz="2400"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伪影分类</a:t>
            </a:r>
          </a:p>
        </p:txBody>
      </p:sp>
    </p:spTree>
    <p:extLst>
      <p:ext uri="{BB962C8B-B14F-4D97-AF65-F5344CB8AC3E}">
        <p14:creationId xmlns:p14="http://schemas.microsoft.com/office/powerpoint/2010/main" val="31329744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 y="16970"/>
            <a:ext cx="6194335" cy="4775164"/>
          </a:xfrm>
          <a:prstGeom prst="rect">
            <a:avLst/>
          </a:prstGeom>
        </p:spPr>
      </p:pic>
      <p:sp>
        <p:nvSpPr>
          <p:cNvPr id="3" name="文本框 2"/>
          <p:cNvSpPr txBox="1"/>
          <p:nvPr/>
        </p:nvSpPr>
        <p:spPr>
          <a:xfrm>
            <a:off x="1215561" y="4707541"/>
            <a:ext cx="3456395" cy="369332"/>
          </a:xfrm>
          <a:prstGeom prst="rect">
            <a:avLst/>
          </a:prstGeom>
          <a:noFill/>
        </p:spPr>
        <p:txBody>
          <a:bodyPr wrap="none" rtlCol="0">
            <a:spAutoFit/>
          </a:bodyPr>
          <a:lstStyle/>
          <a:p>
            <a:r>
              <a:rPr lang="zh-CN" altLang="en-US" dirty="0"/>
              <a:t>通过纵向数据截断呈现的</a:t>
            </a:r>
            <a:r>
              <a:rPr lang="en-US" altLang="zh-CN" dirty="0"/>
              <a:t>CB</a:t>
            </a:r>
            <a:r>
              <a:rPr lang="zh-CN" altLang="en-US" dirty="0"/>
              <a:t>伪影</a:t>
            </a:r>
          </a:p>
        </p:txBody>
      </p:sp>
      <p:pic>
        <p:nvPicPr>
          <p:cNvPr id="4" name="图片 3"/>
          <p:cNvPicPr>
            <a:picLocks noChangeAspect="1"/>
          </p:cNvPicPr>
          <p:nvPr/>
        </p:nvPicPr>
        <p:blipFill>
          <a:blip r:embed="rId3"/>
          <a:stretch>
            <a:fillRect/>
          </a:stretch>
        </p:blipFill>
        <p:spPr>
          <a:xfrm>
            <a:off x="5692784" y="118514"/>
            <a:ext cx="6434550" cy="4572076"/>
          </a:xfrm>
          <a:prstGeom prst="rect">
            <a:avLst/>
          </a:prstGeom>
        </p:spPr>
      </p:pic>
      <p:sp>
        <p:nvSpPr>
          <p:cNvPr id="5" name="文本框 4"/>
          <p:cNvSpPr txBox="1"/>
          <p:nvPr/>
        </p:nvSpPr>
        <p:spPr>
          <a:xfrm>
            <a:off x="7409896" y="4722948"/>
            <a:ext cx="3687228" cy="369332"/>
          </a:xfrm>
          <a:prstGeom prst="rect">
            <a:avLst/>
          </a:prstGeom>
          <a:noFill/>
        </p:spPr>
        <p:txBody>
          <a:bodyPr wrap="none" rtlCol="0">
            <a:spAutoFit/>
          </a:bodyPr>
          <a:lstStyle/>
          <a:p>
            <a:r>
              <a:rPr lang="zh-CN" altLang="en-US" dirty="0"/>
              <a:t>由于纵向采样不足而产生的</a:t>
            </a:r>
            <a:r>
              <a:rPr lang="en-US" altLang="zh-CN" dirty="0"/>
              <a:t>CB</a:t>
            </a:r>
            <a:r>
              <a:rPr lang="zh-CN" altLang="en-US" dirty="0"/>
              <a:t>伪影</a:t>
            </a:r>
          </a:p>
        </p:txBody>
      </p:sp>
      <p:sp>
        <p:nvSpPr>
          <p:cNvPr id="6" name="文本框 5"/>
          <p:cNvSpPr txBox="1"/>
          <p:nvPr/>
        </p:nvSpPr>
        <p:spPr>
          <a:xfrm>
            <a:off x="4280796" y="5823004"/>
            <a:ext cx="4072468" cy="369332"/>
          </a:xfrm>
          <a:prstGeom prst="rect">
            <a:avLst/>
          </a:prstGeom>
          <a:noFill/>
        </p:spPr>
        <p:txBody>
          <a:bodyPr wrap="square" rtlCol="0">
            <a:spAutoFit/>
          </a:bodyPr>
          <a:lstStyle/>
          <a:p>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由于</a:t>
            </a:r>
            <a:r>
              <a:rPr lang="en-US" altLang="zh-CN"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CT</a:t>
            </a:r>
            <a:r>
              <a:rPr lang="zh-CN" altLang="en-US"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检测器的非理想特性造成的</a:t>
            </a:r>
          </a:p>
        </p:txBody>
      </p:sp>
      <p:sp>
        <p:nvSpPr>
          <p:cNvPr id="7" name="右箭头 6"/>
          <p:cNvSpPr/>
          <p:nvPr/>
        </p:nvSpPr>
        <p:spPr>
          <a:xfrm rot="16200000">
            <a:off x="5945640" y="5185148"/>
            <a:ext cx="313267" cy="4295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0893925" y="-16897"/>
            <a:ext cx="1415772" cy="461665"/>
          </a:xfrm>
          <a:prstGeom prst="rect">
            <a:avLst/>
          </a:prstGeom>
          <a:noFill/>
        </p:spPr>
        <p:txBody>
          <a:bodyPr wrap="none" rtlCol="0">
            <a:spAutoFit/>
          </a:bodyPr>
          <a:lstStyle/>
          <a:p>
            <a:r>
              <a:rPr lang="zh-CN" altLang="en-US" sz="2400"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伪影分类</a:t>
            </a:r>
          </a:p>
        </p:txBody>
      </p:sp>
    </p:spTree>
    <p:extLst>
      <p:ext uri="{BB962C8B-B14F-4D97-AF65-F5344CB8AC3E}">
        <p14:creationId xmlns:p14="http://schemas.microsoft.com/office/powerpoint/2010/main" val="11797364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 y="0"/>
            <a:ext cx="4986867"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减少轴向</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MDCT/CBCT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中</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CB</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伪影的方法</a:t>
            </a:r>
          </a:p>
        </p:txBody>
      </p:sp>
      <p:pic>
        <p:nvPicPr>
          <p:cNvPr id="3" name="图片 2"/>
          <p:cNvPicPr>
            <a:picLocks noChangeAspect="1"/>
          </p:cNvPicPr>
          <p:nvPr/>
        </p:nvPicPr>
        <p:blipFill>
          <a:blip r:embed="rId3"/>
          <a:stretch>
            <a:fillRect/>
          </a:stretch>
        </p:blipFill>
        <p:spPr>
          <a:xfrm>
            <a:off x="138014" y="739000"/>
            <a:ext cx="6221302" cy="4188600"/>
          </a:xfrm>
          <a:prstGeom prst="rect">
            <a:avLst/>
          </a:prstGeom>
        </p:spPr>
      </p:pic>
      <p:sp>
        <p:nvSpPr>
          <p:cNvPr id="4" name="文本框 3"/>
          <p:cNvSpPr txBox="1"/>
          <p:nvPr/>
        </p:nvSpPr>
        <p:spPr>
          <a:xfrm>
            <a:off x="485668" y="5141667"/>
            <a:ext cx="5084857" cy="830997"/>
          </a:xfrm>
          <a:prstGeom prst="rect">
            <a:avLst/>
          </a:prstGeom>
          <a:noFill/>
        </p:spPr>
        <p:txBody>
          <a:bodyPr wrap="square" rtlCol="0">
            <a:spAutoFit/>
          </a:bodyPr>
          <a:lstStyle/>
          <a:p>
            <a:r>
              <a:rPr lang="zh-CN" altLang="en-US" sz="1200" dirty="0"/>
              <a:t>使用右图为</a:t>
            </a:r>
            <a:r>
              <a:rPr lang="zh-CN" altLang="en-US" sz="1200" b="1" dirty="0">
                <a:solidFill>
                  <a:srgbClr val="FF0000"/>
                </a:solidFill>
              </a:rPr>
              <a:t>依赖于锥角的三维加权方案</a:t>
            </a:r>
            <a:r>
              <a:rPr lang="zh-CN" altLang="en-US" sz="1200" dirty="0"/>
              <a:t>，以抑制共轭曲线不一致引起的</a:t>
            </a:r>
            <a:r>
              <a:rPr lang="en-US" altLang="zh-CN" sz="1200" dirty="0"/>
              <a:t>CB</a:t>
            </a:r>
            <a:r>
              <a:rPr lang="zh-CN" altLang="en-US" sz="1200" dirty="0"/>
              <a:t>伪影</a:t>
            </a:r>
            <a:r>
              <a:rPr lang="en-US" altLang="zh-CN" sz="1200" dirty="0"/>
              <a:t>.</a:t>
            </a:r>
            <a:r>
              <a:rPr lang="zh-CN" altLang="en-US" sz="1200" dirty="0"/>
              <a:t>但是当结构的尺度和锥角变得相对较大时，由于数据不足</a:t>
            </a:r>
            <a:r>
              <a:rPr lang="en-US" altLang="zh-CN" sz="1200" dirty="0"/>
              <a:t>/</a:t>
            </a:r>
            <a:r>
              <a:rPr lang="zh-CN" altLang="en-US" sz="1200" dirty="0"/>
              <a:t>不一致导致的</a:t>
            </a:r>
            <a:r>
              <a:rPr lang="en-US" altLang="zh-CN" sz="1200" dirty="0"/>
              <a:t>CB</a:t>
            </a:r>
            <a:r>
              <a:rPr lang="zh-CN" altLang="en-US" sz="1200" dirty="0"/>
              <a:t>伪影无法通过采用三维加权</a:t>
            </a:r>
            <a:r>
              <a:rPr lang="en-US" altLang="zh-CN" sz="1200" dirty="0"/>
              <a:t>CB</a:t>
            </a:r>
            <a:r>
              <a:rPr lang="zh-CN" altLang="en-US" sz="1200" dirty="0"/>
              <a:t>滤波反投影</a:t>
            </a:r>
            <a:r>
              <a:rPr lang="en-US" altLang="zh-CN" sz="1200" dirty="0"/>
              <a:t>(CB- </a:t>
            </a:r>
            <a:r>
              <a:rPr lang="en-US" altLang="zh-CN" sz="1200" dirty="0" err="1"/>
              <a:t>fbp</a:t>
            </a:r>
            <a:r>
              <a:rPr lang="en-US" altLang="zh-CN" sz="1200" dirty="0"/>
              <a:t>)</a:t>
            </a:r>
            <a:r>
              <a:rPr lang="zh-CN" altLang="en-US" sz="1200" dirty="0"/>
              <a:t>算法方案有效地减少。如右图</a:t>
            </a:r>
            <a:r>
              <a:rPr lang="en-US" altLang="zh-CN" sz="1200" dirty="0"/>
              <a:t>13</a:t>
            </a:r>
            <a:r>
              <a:rPr lang="zh-CN" altLang="en-US" sz="1200" dirty="0"/>
              <a:t>所示</a:t>
            </a:r>
          </a:p>
        </p:txBody>
      </p:sp>
      <p:pic>
        <p:nvPicPr>
          <p:cNvPr id="5" name="图片 4"/>
          <p:cNvPicPr>
            <a:picLocks noChangeAspect="1"/>
          </p:cNvPicPr>
          <p:nvPr/>
        </p:nvPicPr>
        <p:blipFill>
          <a:blip r:embed="rId4"/>
          <a:stretch>
            <a:fillRect/>
          </a:stretch>
        </p:blipFill>
        <p:spPr>
          <a:xfrm>
            <a:off x="6477849" y="739000"/>
            <a:ext cx="5095238" cy="4828572"/>
          </a:xfrm>
          <a:prstGeom prst="rect">
            <a:avLst/>
          </a:prstGeom>
        </p:spPr>
      </p:pic>
      <p:sp>
        <p:nvSpPr>
          <p:cNvPr id="6" name="矩形 5"/>
          <p:cNvSpPr/>
          <p:nvPr/>
        </p:nvSpPr>
        <p:spPr>
          <a:xfrm>
            <a:off x="5667388" y="155602"/>
            <a:ext cx="3193503" cy="369332"/>
          </a:xfrm>
          <a:prstGeom prst="rect">
            <a:avLst/>
          </a:prstGeom>
        </p:spPr>
        <p:txBody>
          <a:bodyPr wrap="none">
            <a:spAutoFit/>
          </a:bodyPr>
          <a:lstStyle/>
          <a:p>
            <a:r>
              <a:rPr lang="en-US" altLang="zh-CN" b="1" dirty="0">
                <a:solidFill>
                  <a:srgbClr val="FF0000"/>
                </a:solidFill>
              </a:rPr>
              <a:t>A </a:t>
            </a:r>
            <a:r>
              <a:rPr lang="zh-CN" altLang="en-US" b="1" dirty="0">
                <a:solidFill>
                  <a:srgbClr val="FF0000"/>
                </a:solidFill>
              </a:rPr>
              <a:t>依赖于锥角的三维加权方案</a:t>
            </a:r>
            <a:endParaRPr lang="zh-CN" altLang="en-US" dirty="0"/>
          </a:p>
        </p:txBody>
      </p:sp>
    </p:spTree>
    <p:extLst>
      <p:ext uri="{BB962C8B-B14F-4D97-AF65-F5344CB8AC3E}">
        <p14:creationId xmlns:p14="http://schemas.microsoft.com/office/powerpoint/2010/main" val="4865465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 y="0"/>
            <a:ext cx="4986867"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减少轴向</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MDCT/CBCT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中</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CB</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伪影的方法</a:t>
            </a:r>
          </a:p>
        </p:txBody>
      </p:sp>
      <p:sp>
        <p:nvSpPr>
          <p:cNvPr id="4" name="文本框 3"/>
          <p:cNvSpPr txBox="1"/>
          <p:nvPr/>
        </p:nvSpPr>
        <p:spPr>
          <a:xfrm>
            <a:off x="6019801" y="1801566"/>
            <a:ext cx="5509060" cy="1754326"/>
          </a:xfrm>
          <a:prstGeom prst="rect">
            <a:avLst/>
          </a:prstGeom>
          <a:noFill/>
        </p:spPr>
        <p:txBody>
          <a:bodyPr wrap="square" rtlCol="0">
            <a:spAutoFit/>
          </a:bodyPr>
          <a:lstStyle/>
          <a:p>
            <a:r>
              <a:rPr lang="zh-CN" altLang="en-US" dirty="0"/>
              <a:t>在</a:t>
            </a:r>
            <a:r>
              <a:rPr lang="en-US" altLang="zh-CN" dirty="0"/>
              <a:t>3D</a:t>
            </a:r>
            <a:r>
              <a:rPr lang="zh-CN" altLang="en-US" dirty="0"/>
              <a:t>反向投影中，使用启发式数据扩展是常见的做法，它可以是在最外检测器行获取的数据的复制，也可以是最外检测器行和第二最外检测器行数据的平均值。</a:t>
            </a:r>
            <a:r>
              <a:rPr lang="zh-CN" altLang="en-US" b="1" dirty="0">
                <a:solidFill>
                  <a:srgbClr val="FF0000"/>
                </a:solidFill>
              </a:rPr>
              <a:t>一般来说，这种启发式方法在没有突变变化存在的边界处有效</a:t>
            </a:r>
            <a:r>
              <a:rPr lang="en-US" altLang="zh-CN" b="1" dirty="0">
                <a:solidFill>
                  <a:srgbClr val="FF0000"/>
                </a:solidFill>
              </a:rPr>
              <a:t>[</a:t>
            </a:r>
            <a:r>
              <a:rPr lang="zh-CN" altLang="en-US" b="1" dirty="0">
                <a:solidFill>
                  <a:srgbClr val="FF0000"/>
                </a:solidFill>
              </a:rPr>
              <a:t>图</a:t>
            </a:r>
            <a:r>
              <a:rPr lang="en-US" altLang="zh-CN" b="1" dirty="0">
                <a:solidFill>
                  <a:srgbClr val="FF0000"/>
                </a:solidFill>
              </a:rPr>
              <a:t>11(a - a‘)]</a:t>
            </a:r>
            <a:r>
              <a:rPr lang="zh-CN" altLang="en-US" b="1" dirty="0">
                <a:solidFill>
                  <a:srgbClr val="FF0000"/>
                </a:solidFill>
              </a:rPr>
              <a:t>，但如果结构在外部探测器行周围突然变化，则无法保证，如图</a:t>
            </a:r>
            <a:r>
              <a:rPr lang="en-US" altLang="zh-CN" b="1" dirty="0">
                <a:solidFill>
                  <a:srgbClr val="FF0000"/>
                </a:solidFill>
              </a:rPr>
              <a:t>11(b-b‘)</a:t>
            </a:r>
            <a:r>
              <a:rPr lang="zh-CN" altLang="en-US" b="1" dirty="0">
                <a:solidFill>
                  <a:srgbClr val="FF0000"/>
                </a:solidFill>
              </a:rPr>
              <a:t>所示。</a:t>
            </a:r>
          </a:p>
        </p:txBody>
      </p:sp>
      <p:sp>
        <p:nvSpPr>
          <p:cNvPr id="6" name="矩形 5"/>
          <p:cNvSpPr/>
          <p:nvPr/>
        </p:nvSpPr>
        <p:spPr>
          <a:xfrm>
            <a:off x="5570526" y="155602"/>
            <a:ext cx="1951175" cy="369332"/>
          </a:xfrm>
          <a:prstGeom prst="rect">
            <a:avLst/>
          </a:prstGeom>
        </p:spPr>
        <p:txBody>
          <a:bodyPr wrap="none">
            <a:spAutoFit/>
          </a:bodyPr>
          <a:lstStyle/>
          <a:p>
            <a:r>
              <a:rPr lang="en-US" altLang="zh-CN" b="1" dirty="0">
                <a:solidFill>
                  <a:srgbClr val="FF0000"/>
                </a:solidFill>
              </a:rPr>
              <a:t>B</a:t>
            </a:r>
            <a:r>
              <a:rPr lang="zh-CN" altLang="en-US" b="1" dirty="0">
                <a:solidFill>
                  <a:srgbClr val="FF0000"/>
                </a:solidFill>
              </a:rPr>
              <a:t>启发式数据扩展</a:t>
            </a:r>
            <a:endParaRPr lang="zh-CN" altLang="en-US" dirty="0"/>
          </a:p>
        </p:txBody>
      </p:sp>
      <p:pic>
        <p:nvPicPr>
          <p:cNvPr id="7" name="图片 6"/>
          <p:cNvPicPr>
            <a:picLocks noChangeAspect="1"/>
          </p:cNvPicPr>
          <p:nvPr/>
        </p:nvPicPr>
        <p:blipFill>
          <a:blip r:embed="rId3"/>
          <a:stretch>
            <a:fillRect/>
          </a:stretch>
        </p:blipFill>
        <p:spPr>
          <a:xfrm>
            <a:off x="-1" y="606527"/>
            <a:ext cx="5565454" cy="6011200"/>
          </a:xfrm>
          <a:prstGeom prst="rect">
            <a:avLst/>
          </a:prstGeom>
        </p:spPr>
      </p:pic>
    </p:spTree>
    <p:extLst>
      <p:ext uri="{BB962C8B-B14F-4D97-AF65-F5344CB8AC3E}">
        <p14:creationId xmlns:p14="http://schemas.microsoft.com/office/powerpoint/2010/main" val="1873928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 y="0"/>
            <a:ext cx="4986867"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减少轴向</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MDCT/CBCT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中</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CB</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伪影的方法</a:t>
            </a:r>
          </a:p>
        </p:txBody>
      </p:sp>
      <p:sp>
        <p:nvSpPr>
          <p:cNvPr id="4" name="文本框 3"/>
          <p:cNvSpPr txBox="1"/>
          <p:nvPr/>
        </p:nvSpPr>
        <p:spPr>
          <a:xfrm>
            <a:off x="101600" y="5042118"/>
            <a:ext cx="11421534" cy="1569660"/>
          </a:xfrm>
          <a:prstGeom prst="rect">
            <a:avLst/>
          </a:prstGeom>
          <a:noFill/>
        </p:spPr>
        <p:txBody>
          <a:bodyPr wrap="square" rtlCol="0">
            <a:spAutoFit/>
          </a:bodyPr>
          <a:lstStyle/>
          <a:p>
            <a:r>
              <a:rPr lang="zh-CN" altLang="en-US" sz="1600" dirty="0"/>
              <a:t>另一种基于硬件的方法是飞行焦点</a:t>
            </a:r>
            <a:r>
              <a:rPr lang="en-US" altLang="zh-CN" sz="1600" dirty="0"/>
              <a:t>(FFS)</a:t>
            </a:r>
            <a:r>
              <a:rPr lang="zh-CN" altLang="en-US" sz="1600" dirty="0"/>
              <a:t>技术，</a:t>
            </a:r>
            <a:r>
              <a:rPr lang="en-US" altLang="zh-CN" sz="1600" dirty="0"/>
              <a:t>11</a:t>
            </a:r>
            <a:r>
              <a:rPr lang="zh-CN" altLang="en-US" sz="1600" dirty="0"/>
              <a:t>通过该技术，纵向采样率可以翻倍。图</a:t>
            </a:r>
            <a:r>
              <a:rPr lang="en-US" altLang="zh-CN" sz="1600" dirty="0"/>
              <a:t>12(a’)</a:t>
            </a:r>
            <a:r>
              <a:rPr lang="zh-CN" altLang="en-US" sz="1600" dirty="0"/>
              <a:t>是用</a:t>
            </a:r>
            <a:r>
              <a:rPr lang="en-US" altLang="zh-CN" sz="1600" dirty="0"/>
              <a:t>FFS</a:t>
            </a:r>
            <a:r>
              <a:rPr lang="zh-CN" altLang="en-US" sz="1600" dirty="0"/>
              <a:t>获得的</a:t>
            </a:r>
            <a:r>
              <a:rPr lang="en-US" altLang="zh-CN" sz="1600" dirty="0"/>
              <a:t>CBCT</a:t>
            </a:r>
            <a:r>
              <a:rPr lang="zh-CN" altLang="en-US" sz="1600" dirty="0"/>
              <a:t>图像，其中混叠</a:t>
            </a:r>
            <a:r>
              <a:rPr lang="en-US" altLang="zh-CN" sz="1600" dirty="0"/>
              <a:t>(</a:t>
            </a:r>
            <a:r>
              <a:rPr lang="zh-CN" altLang="en-US" sz="1600" dirty="0"/>
              <a:t>风车</a:t>
            </a:r>
            <a:r>
              <a:rPr lang="en-US" altLang="zh-CN" sz="1600" dirty="0"/>
              <a:t>)</a:t>
            </a:r>
            <a:r>
              <a:rPr lang="zh-CN" altLang="en-US" sz="1600" dirty="0"/>
              <a:t>伪影即使不能消除，也显著减少。基于软件的方法，如低通滤波</a:t>
            </a:r>
            <a:r>
              <a:rPr lang="en-US" altLang="zh-CN" sz="1600" dirty="0"/>
              <a:t>(</a:t>
            </a:r>
            <a:r>
              <a:rPr lang="zh-CN" altLang="en-US" sz="1600" dirty="0"/>
              <a:t>或</a:t>
            </a:r>
            <a:r>
              <a:rPr lang="en-US" altLang="zh-CN" sz="1600" dirty="0"/>
              <a:t>z-smoothing)</a:t>
            </a:r>
            <a:r>
              <a:rPr lang="zh-CN" altLang="en-US" sz="1600" dirty="0"/>
              <a:t>，也可用于减少纵向混叠伪影。然而，在保持纵向空间分辨率的同时，这在减轻纵向混叠伪影方面不如</a:t>
            </a:r>
            <a:r>
              <a:rPr lang="en-US" altLang="zh-CN" sz="1600" dirty="0"/>
              <a:t>FFS</a:t>
            </a:r>
            <a:r>
              <a:rPr lang="zh-CN" altLang="en-US" sz="1600" dirty="0"/>
              <a:t>有效和高效。最近，提出了一种非常有效的方法，即在轴向</a:t>
            </a:r>
            <a:r>
              <a:rPr lang="en-US" altLang="zh-CN" sz="1600" dirty="0"/>
              <a:t>MDCT/CBCT</a:t>
            </a:r>
            <a:r>
              <a:rPr lang="zh-CN" altLang="en-US" sz="1600" dirty="0"/>
              <a:t>中通过算法检测器隔行来对抗纵向混叠伪影</a:t>
            </a:r>
            <a:r>
              <a:rPr lang="en-US" altLang="zh-CN" sz="1600" dirty="0"/>
              <a:t>[</a:t>
            </a:r>
            <a:r>
              <a:rPr lang="zh-CN" altLang="en-US" sz="1600" dirty="0"/>
              <a:t>图</a:t>
            </a:r>
            <a:r>
              <a:rPr lang="en-US" altLang="zh-CN" sz="1600" dirty="0"/>
              <a:t>2]</a:t>
            </a:r>
            <a:r>
              <a:rPr lang="zh-CN" altLang="en-US" sz="1600" dirty="0"/>
              <a:t>。</a:t>
            </a:r>
            <a:r>
              <a:rPr lang="en-US" altLang="zh-CN" sz="1600" dirty="0"/>
              <a:t>14(a)</a:t>
            </a:r>
            <a:r>
              <a:rPr lang="zh-CN" altLang="en-US" sz="1600" dirty="0"/>
              <a:t>和</a:t>
            </a:r>
            <a:r>
              <a:rPr lang="en-US" altLang="zh-CN" sz="1600" dirty="0"/>
              <a:t>14(b)]</a:t>
            </a:r>
            <a:r>
              <a:rPr lang="zh-CN" altLang="en-US" sz="1600" dirty="0"/>
              <a:t>。</a:t>
            </a:r>
            <a:r>
              <a:rPr lang="en-US" altLang="zh-CN" sz="1600" dirty="0"/>
              <a:t>61</a:t>
            </a:r>
            <a:r>
              <a:rPr lang="zh-CN" altLang="en-US" sz="1600" dirty="0">
                <a:solidFill>
                  <a:srgbClr val="FF0000"/>
                </a:solidFill>
              </a:rPr>
              <a:t>使用格上采样的框架，权衡可以对纵向混叠伪影的抑制和纵向空间分辨率的维持进行分析和优化</a:t>
            </a:r>
            <a:r>
              <a:rPr lang="zh-CN" altLang="en-US" sz="1600" dirty="0"/>
              <a:t>，如图</a:t>
            </a:r>
            <a:r>
              <a:rPr lang="en-US" altLang="zh-CN" sz="1600" dirty="0"/>
              <a:t>14</a:t>
            </a:r>
            <a:r>
              <a:rPr lang="zh-CN" altLang="en-US" sz="1600" dirty="0"/>
              <a:t>所示。此外，如算法隔行方法与所谓的偏移技术相结合，例如</a:t>
            </a:r>
            <a:r>
              <a:rPr lang="en-US" altLang="zh-CN" sz="1600" dirty="0"/>
              <a:t>¼</a:t>
            </a:r>
            <a:r>
              <a:rPr lang="zh-CN" altLang="en-US" sz="1600" dirty="0"/>
              <a:t>偏移，在二维探测器与旋转轴的纬度对准中，可以提高面内采样率，从而可以显着增强减少面内混叠伪影的能力。</a:t>
            </a:r>
            <a:endParaRPr lang="zh-CN" altLang="en-US" sz="1600" b="1" dirty="0">
              <a:solidFill>
                <a:srgbClr val="FF0000"/>
              </a:solidFill>
            </a:endParaRPr>
          </a:p>
        </p:txBody>
      </p:sp>
      <p:sp>
        <p:nvSpPr>
          <p:cNvPr id="6" name="矩形 5"/>
          <p:cNvSpPr/>
          <p:nvPr/>
        </p:nvSpPr>
        <p:spPr>
          <a:xfrm>
            <a:off x="5197758" y="41465"/>
            <a:ext cx="2884123" cy="369332"/>
          </a:xfrm>
          <a:prstGeom prst="rect">
            <a:avLst/>
          </a:prstGeom>
        </p:spPr>
        <p:txBody>
          <a:bodyPr wrap="none">
            <a:spAutoFit/>
          </a:bodyPr>
          <a:lstStyle/>
          <a:p>
            <a:r>
              <a:rPr lang="en-US" altLang="zh-CN" b="1" dirty="0">
                <a:solidFill>
                  <a:srgbClr val="FF0000"/>
                </a:solidFill>
              </a:rPr>
              <a:t>C</a:t>
            </a:r>
            <a:r>
              <a:rPr lang="zh-CN" altLang="en-US" b="1" dirty="0">
                <a:solidFill>
                  <a:srgbClr val="FF0000"/>
                </a:solidFill>
              </a:rPr>
              <a:t>处理纵向抽样不足的方法</a:t>
            </a:r>
          </a:p>
        </p:txBody>
      </p:sp>
      <p:pic>
        <p:nvPicPr>
          <p:cNvPr id="3" name="图片 2"/>
          <p:cNvPicPr>
            <a:picLocks noChangeAspect="1"/>
          </p:cNvPicPr>
          <p:nvPr/>
        </p:nvPicPr>
        <p:blipFill>
          <a:blip r:embed="rId3"/>
          <a:stretch>
            <a:fillRect/>
          </a:stretch>
        </p:blipFill>
        <p:spPr>
          <a:xfrm>
            <a:off x="5570524" y="756390"/>
            <a:ext cx="6516470" cy="3897981"/>
          </a:xfrm>
          <a:prstGeom prst="rect">
            <a:avLst/>
          </a:prstGeom>
        </p:spPr>
      </p:pic>
      <p:pic>
        <p:nvPicPr>
          <p:cNvPr id="5" name="图片 4"/>
          <p:cNvPicPr>
            <a:picLocks noChangeAspect="1"/>
          </p:cNvPicPr>
          <p:nvPr/>
        </p:nvPicPr>
        <p:blipFill>
          <a:blip r:embed="rId4"/>
          <a:stretch>
            <a:fillRect/>
          </a:stretch>
        </p:blipFill>
        <p:spPr>
          <a:xfrm>
            <a:off x="-1" y="832590"/>
            <a:ext cx="6629401" cy="3291520"/>
          </a:xfrm>
          <a:prstGeom prst="rect">
            <a:avLst/>
          </a:prstGeom>
        </p:spPr>
      </p:pic>
      <p:sp>
        <p:nvSpPr>
          <p:cNvPr id="8" name="矩形 7"/>
          <p:cNvSpPr/>
          <p:nvPr/>
        </p:nvSpPr>
        <p:spPr>
          <a:xfrm>
            <a:off x="9039762" y="6488669"/>
            <a:ext cx="2505814" cy="369332"/>
          </a:xfrm>
          <a:prstGeom prst="rect">
            <a:avLst/>
          </a:prstGeom>
        </p:spPr>
        <p:txBody>
          <a:bodyPr wrap="none">
            <a:spAutoFit/>
          </a:bodyPr>
          <a:lstStyle/>
          <a:p>
            <a:r>
              <a:rPr lang="en-US" altLang="zh-CN" b="1" dirty="0">
                <a:solidFill>
                  <a:srgbClr val="FF0000"/>
                </a:solidFill>
              </a:rPr>
              <a:t>D </a:t>
            </a:r>
            <a:r>
              <a:rPr lang="zh-CN" altLang="en-US" b="1" dirty="0">
                <a:solidFill>
                  <a:srgbClr val="FF0000"/>
                </a:solidFill>
              </a:rPr>
              <a:t>通过插值填充零空间</a:t>
            </a:r>
          </a:p>
        </p:txBody>
      </p:sp>
    </p:spTree>
    <p:extLst>
      <p:ext uri="{BB962C8B-B14F-4D97-AF65-F5344CB8AC3E}">
        <p14:creationId xmlns:p14="http://schemas.microsoft.com/office/powerpoint/2010/main" val="2451988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 y="0"/>
            <a:ext cx="4986867"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减少轴向</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MDCT/CBCT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中</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CB</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伪影的方法</a:t>
            </a:r>
          </a:p>
        </p:txBody>
      </p:sp>
      <p:sp>
        <p:nvSpPr>
          <p:cNvPr id="4" name="文本框 3"/>
          <p:cNvSpPr txBox="1"/>
          <p:nvPr/>
        </p:nvSpPr>
        <p:spPr>
          <a:xfrm>
            <a:off x="-1" y="6193584"/>
            <a:ext cx="11421534" cy="584775"/>
          </a:xfrm>
          <a:prstGeom prst="rect">
            <a:avLst/>
          </a:prstGeom>
          <a:noFill/>
        </p:spPr>
        <p:txBody>
          <a:bodyPr wrap="square" rtlCol="0">
            <a:spAutoFit/>
          </a:bodyPr>
          <a:lstStyle/>
          <a:p>
            <a:r>
              <a:rPr lang="zh-CN" altLang="en-US" sz="1600" dirty="0"/>
              <a:t>两遍</a:t>
            </a:r>
            <a:r>
              <a:rPr lang="en-US" altLang="zh-CN" sz="1600" dirty="0"/>
              <a:t>CB</a:t>
            </a:r>
            <a:r>
              <a:rPr lang="zh-CN" altLang="en-US" sz="1600" dirty="0"/>
              <a:t>重建算法由两遍组成</a:t>
            </a:r>
            <a:r>
              <a:rPr lang="en-US" altLang="zh-CN" sz="1600" dirty="0"/>
              <a:t>:</a:t>
            </a:r>
            <a:r>
              <a:rPr lang="zh-CN" altLang="en-US" sz="1600" dirty="0"/>
              <a:t>第一次是</a:t>
            </a:r>
            <a:r>
              <a:rPr lang="en-US" altLang="zh-CN" sz="1600" dirty="0"/>
              <a:t>FDK31</a:t>
            </a:r>
            <a:r>
              <a:rPr lang="zh-CN" altLang="en-US" sz="1600" dirty="0"/>
              <a:t>或任何其他</a:t>
            </a:r>
            <a:r>
              <a:rPr lang="en-US" altLang="zh-CN" sz="1600" dirty="0"/>
              <a:t>CB-FBP</a:t>
            </a:r>
            <a:r>
              <a:rPr lang="zh-CN" altLang="en-US" sz="1600" dirty="0"/>
              <a:t>重建</a:t>
            </a:r>
            <a:r>
              <a:rPr lang="en-US" altLang="zh-CN" sz="1600" dirty="0"/>
              <a:t>algo-rithm,32,46,61–63,74,75</a:t>
            </a:r>
            <a:r>
              <a:rPr lang="zh-CN" altLang="en-US" sz="1600" dirty="0"/>
              <a:t>，而第二次是在从软组织中充分分割出极高和</a:t>
            </a:r>
            <a:r>
              <a:rPr lang="en-US" altLang="zh-CN" sz="1600" dirty="0"/>
              <a:t>/</a:t>
            </a:r>
            <a:r>
              <a:rPr lang="zh-CN" altLang="en-US" sz="1600" dirty="0"/>
              <a:t>或低衰减的结构后进行正向投影和反向投影。</a:t>
            </a:r>
            <a:endParaRPr lang="zh-CN" altLang="en-US" sz="1600" b="1" dirty="0">
              <a:solidFill>
                <a:srgbClr val="FF0000"/>
              </a:solidFill>
            </a:endParaRPr>
          </a:p>
        </p:txBody>
      </p:sp>
      <p:sp>
        <p:nvSpPr>
          <p:cNvPr id="6" name="矩形 5"/>
          <p:cNvSpPr/>
          <p:nvPr/>
        </p:nvSpPr>
        <p:spPr>
          <a:xfrm>
            <a:off x="5197759" y="41465"/>
            <a:ext cx="1813317" cy="369332"/>
          </a:xfrm>
          <a:prstGeom prst="rect">
            <a:avLst/>
          </a:prstGeom>
        </p:spPr>
        <p:txBody>
          <a:bodyPr wrap="none">
            <a:spAutoFit/>
          </a:bodyPr>
          <a:lstStyle/>
          <a:p>
            <a:r>
              <a:rPr lang="en-US" altLang="zh-CN" b="1" dirty="0">
                <a:solidFill>
                  <a:srgbClr val="FF0000"/>
                </a:solidFill>
              </a:rPr>
              <a:t>E </a:t>
            </a:r>
            <a:r>
              <a:rPr lang="zh-CN" altLang="en-US" b="1" dirty="0">
                <a:solidFill>
                  <a:srgbClr val="FF0000"/>
                </a:solidFill>
              </a:rPr>
              <a:t>双通道</a:t>
            </a:r>
            <a:r>
              <a:rPr lang="en-US" altLang="zh-CN" b="1" dirty="0">
                <a:solidFill>
                  <a:srgbClr val="FF0000"/>
                </a:solidFill>
              </a:rPr>
              <a:t>CB</a:t>
            </a:r>
            <a:r>
              <a:rPr lang="zh-CN" altLang="en-US" b="1" dirty="0">
                <a:solidFill>
                  <a:srgbClr val="FF0000"/>
                </a:solidFill>
              </a:rPr>
              <a:t>重建</a:t>
            </a:r>
          </a:p>
        </p:txBody>
      </p:sp>
      <p:sp>
        <p:nvSpPr>
          <p:cNvPr id="8" name="矩形 7"/>
          <p:cNvSpPr/>
          <p:nvPr/>
        </p:nvSpPr>
        <p:spPr>
          <a:xfrm>
            <a:off x="7011075" y="41464"/>
            <a:ext cx="5240192" cy="646331"/>
          </a:xfrm>
          <a:prstGeom prst="rect">
            <a:avLst/>
          </a:prstGeom>
        </p:spPr>
        <p:txBody>
          <a:bodyPr wrap="square">
            <a:spAutoFit/>
          </a:bodyPr>
          <a:lstStyle/>
          <a:p>
            <a:r>
              <a:rPr lang="zh-CN" altLang="en-US" sz="1200" dirty="0"/>
              <a:t>进一步的检查表明，它们在形态上与MDCT/CBCT图像head.68–71中常见的所谓的束</a:t>
            </a:r>
            <a:r>
              <a:rPr lang="zh-CN" altLang="en-US" sz="1200" b="1" dirty="0">
                <a:solidFill>
                  <a:srgbClr val="FF0000"/>
                </a:solidFill>
              </a:rPr>
              <a:t>硬化伪影相似</a:t>
            </a:r>
            <a:r>
              <a:rPr lang="zh-CN" altLang="en-US" sz="1200" dirty="0"/>
              <a:t>。直观地说，迭代骨操作(IBO)，70在MDCT中广泛用于抑制x射线光谱多色学引起的伪影。波束硬化)，应该</a:t>
            </a:r>
            <a:r>
              <a:rPr lang="zh-CN" altLang="en-US" sz="1200" b="1" dirty="0">
                <a:solidFill>
                  <a:srgbClr val="FF0000"/>
                </a:solidFill>
              </a:rPr>
              <a:t>有助于抑制CB伪影。</a:t>
            </a:r>
          </a:p>
        </p:txBody>
      </p:sp>
      <p:pic>
        <p:nvPicPr>
          <p:cNvPr id="10" name="图片 9"/>
          <p:cNvPicPr>
            <a:picLocks noChangeAspect="1"/>
          </p:cNvPicPr>
          <p:nvPr/>
        </p:nvPicPr>
        <p:blipFill>
          <a:blip r:embed="rId3"/>
          <a:stretch>
            <a:fillRect/>
          </a:stretch>
        </p:blipFill>
        <p:spPr>
          <a:xfrm>
            <a:off x="291628" y="676029"/>
            <a:ext cx="4695238" cy="4523809"/>
          </a:xfrm>
          <a:prstGeom prst="rect">
            <a:avLst/>
          </a:prstGeom>
        </p:spPr>
      </p:pic>
      <p:sp>
        <p:nvSpPr>
          <p:cNvPr id="11" name="矩形 10"/>
          <p:cNvSpPr/>
          <p:nvPr/>
        </p:nvSpPr>
        <p:spPr>
          <a:xfrm>
            <a:off x="210892" y="5259645"/>
            <a:ext cx="4986867" cy="707886"/>
          </a:xfrm>
          <a:prstGeom prst="rect">
            <a:avLst/>
          </a:prstGeom>
        </p:spPr>
        <p:txBody>
          <a:bodyPr wrap="square">
            <a:spAutoFit/>
          </a:bodyPr>
          <a:lstStyle/>
          <a:p>
            <a:r>
              <a:rPr lang="zh-CN" altLang="en-US" sz="1000" dirty="0">
                <a:latin typeface="-apple-system"/>
              </a:rPr>
              <a:t>文献</a:t>
            </a:r>
            <a:r>
              <a:rPr lang="en-US" altLang="zh-CN" sz="1000" dirty="0">
                <a:latin typeface="-apple-system"/>
              </a:rPr>
              <a:t>[1]</a:t>
            </a:r>
            <a:r>
              <a:rPr lang="zh-CN" altLang="en-US" sz="1000" dirty="0">
                <a:latin typeface="-apple-system"/>
              </a:rPr>
              <a:t>中提出的</a:t>
            </a:r>
            <a:r>
              <a:rPr lang="en-US" altLang="zh-CN" sz="1000" dirty="0">
                <a:latin typeface="-apple-system"/>
              </a:rPr>
              <a:t>PASS</a:t>
            </a:r>
            <a:r>
              <a:rPr lang="zh-CN" altLang="en-US" sz="1000" dirty="0">
                <a:latin typeface="-apple-system"/>
              </a:rPr>
              <a:t>算法。</a:t>
            </a:r>
            <a:r>
              <a:rPr lang="en-US" altLang="zh-CN" sz="1000" dirty="0">
                <a:latin typeface="-apple-system"/>
              </a:rPr>
              <a:t>[72]</a:t>
            </a:r>
            <a:r>
              <a:rPr lang="zh-CN" altLang="en-US" sz="1000" dirty="0">
                <a:latin typeface="-apple-system"/>
              </a:rPr>
              <a:t>证明了两遍重建</a:t>
            </a:r>
            <a:r>
              <a:rPr lang="en-US" altLang="zh-CN" sz="1000" dirty="0">
                <a:latin typeface="-apple-system"/>
              </a:rPr>
              <a:t>(A)</a:t>
            </a:r>
            <a:r>
              <a:rPr lang="zh-CN" altLang="en-US" sz="1000" dirty="0">
                <a:latin typeface="-apple-system"/>
              </a:rPr>
              <a:t>在减少密度极高的盘周围的条纹伪影方面是有效的，</a:t>
            </a:r>
            <a:r>
              <a:rPr lang="en-US" altLang="zh-CN" sz="1000" dirty="0">
                <a:latin typeface="-apple-system"/>
              </a:rPr>
              <a:t>(B)</a:t>
            </a:r>
            <a:r>
              <a:rPr lang="zh-CN" altLang="en-US" sz="1000" dirty="0">
                <a:latin typeface="-apple-system"/>
              </a:rPr>
              <a:t>在减少外盘的形状失真和下降方面效果较差，以及</a:t>
            </a:r>
            <a:r>
              <a:rPr lang="en-US" altLang="zh-CN" sz="1000" dirty="0">
                <a:latin typeface="-apple-system"/>
              </a:rPr>
              <a:t>(C)</a:t>
            </a:r>
            <a:r>
              <a:rPr lang="zh-CN" altLang="en-US" sz="1000" dirty="0">
                <a:latin typeface="-apple-system"/>
              </a:rPr>
              <a:t>分割中的阈值在伪影抑制中起着重要作用，甚至可以改变外盘的形状。因此，可以说，两遍</a:t>
            </a:r>
            <a:r>
              <a:rPr lang="en-US" altLang="zh-CN" sz="1000" dirty="0">
                <a:latin typeface="-apple-system"/>
              </a:rPr>
              <a:t>CB</a:t>
            </a:r>
            <a:r>
              <a:rPr lang="zh-CN" altLang="en-US" sz="1000" dirty="0">
                <a:latin typeface="-apple-system"/>
              </a:rPr>
              <a:t>重建在减少轴位</a:t>
            </a:r>
            <a:r>
              <a:rPr lang="en-US" altLang="zh-CN" sz="1000" dirty="0">
                <a:latin typeface="-apple-system"/>
              </a:rPr>
              <a:t>MDCT/CBCT</a:t>
            </a:r>
            <a:r>
              <a:rPr lang="zh-CN" altLang="en-US" sz="1000" dirty="0">
                <a:latin typeface="-apple-system"/>
              </a:rPr>
              <a:t>中的</a:t>
            </a:r>
            <a:r>
              <a:rPr lang="en-US" altLang="zh-CN" sz="1000" dirty="0">
                <a:latin typeface="-apple-system"/>
              </a:rPr>
              <a:t>CB</a:t>
            </a:r>
            <a:r>
              <a:rPr lang="zh-CN" altLang="en-US" sz="1000" dirty="0">
                <a:latin typeface="-apple-system"/>
              </a:rPr>
              <a:t>伪影方面有很好的效果，但仍然不能消除伪影。</a:t>
            </a:r>
            <a:endParaRPr lang="zh-CN" altLang="en-US" sz="1000" dirty="0"/>
          </a:p>
        </p:txBody>
      </p:sp>
      <p:pic>
        <p:nvPicPr>
          <p:cNvPr id="12" name="图片 11"/>
          <p:cNvPicPr>
            <a:picLocks noChangeAspect="1"/>
          </p:cNvPicPr>
          <p:nvPr/>
        </p:nvPicPr>
        <p:blipFill>
          <a:blip r:embed="rId4"/>
          <a:stretch>
            <a:fillRect/>
          </a:stretch>
        </p:blipFill>
        <p:spPr>
          <a:xfrm>
            <a:off x="5710766" y="636852"/>
            <a:ext cx="5460999" cy="4527089"/>
          </a:xfrm>
          <a:prstGeom prst="rect">
            <a:avLst/>
          </a:prstGeom>
        </p:spPr>
      </p:pic>
      <p:sp>
        <p:nvSpPr>
          <p:cNvPr id="13" name="矩形 12"/>
          <p:cNvSpPr/>
          <p:nvPr/>
        </p:nvSpPr>
        <p:spPr>
          <a:xfrm>
            <a:off x="5918149" y="5263265"/>
            <a:ext cx="6096001" cy="276999"/>
          </a:xfrm>
          <a:prstGeom prst="rect">
            <a:avLst/>
          </a:prstGeom>
        </p:spPr>
        <p:txBody>
          <a:bodyPr>
            <a:spAutoFit/>
          </a:bodyPr>
          <a:lstStyle/>
          <a:p>
            <a:r>
              <a:rPr lang="zh-CN" altLang="en-US" sz="1200" dirty="0"/>
              <a:t>由于需要额外的正向和反向投影，因此两遍CB重建的计算成本大大高于原始FDK</a:t>
            </a:r>
          </a:p>
        </p:txBody>
      </p:sp>
    </p:spTree>
    <p:extLst>
      <p:ext uri="{BB962C8B-B14F-4D97-AF65-F5344CB8AC3E}">
        <p14:creationId xmlns:p14="http://schemas.microsoft.com/office/powerpoint/2010/main" val="24916553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92359" y="55986"/>
            <a:ext cx="3686974" cy="369332"/>
          </a:xfrm>
          <a:prstGeom prst="rect">
            <a:avLst/>
          </a:prstGeom>
          <a:solidFill>
            <a:schemeClr val="accent1">
              <a:lumMod val="20000"/>
              <a:lumOff val="80000"/>
            </a:schemeClr>
          </a:solidFill>
        </p:spPr>
        <p:txBody>
          <a:bodyPr wrap="square" rtlCol="0">
            <a:spAutoFit/>
          </a:bodyPr>
          <a:lstStyle/>
          <a:p>
            <a:r>
              <a:rPr lang="en-US" altLang="zh-CN" dirty="0"/>
              <a:t>CLRP</a:t>
            </a:r>
            <a:r>
              <a:rPr lang="zh-CN" altLang="en-US" dirty="0"/>
              <a:t>平移探测器和物体得到的投影</a:t>
            </a:r>
          </a:p>
        </p:txBody>
      </p:sp>
      <p:pic>
        <p:nvPicPr>
          <p:cNvPr id="3" name="图片 2"/>
          <p:cNvPicPr>
            <a:picLocks noChangeAspect="1"/>
          </p:cNvPicPr>
          <p:nvPr/>
        </p:nvPicPr>
        <p:blipFill>
          <a:blip r:embed="rId2"/>
          <a:stretch>
            <a:fillRect/>
          </a:stretch>
        </p:blipFill>
        <p:spPr>
          <a:xfrm>
            <a:off x="292358" y="617192"/>
            <a:ext cx="4857144" cy="1704762"/>
          </a:xfrm>
          <a:prstGeom prst="rect">
            <a:avLst/>
          </a:prstGeom>
        </p:spPr>
      </p:pic>
      <p:sp>
        <p:nvSpPr>
          <p:cNvPr id="4" name="矩形 3"/>
          <p:cNvSpPr/>
          <p:nvPr/>
        </p:nvSpPr>
        <p:spPr>
          <a:xfrm>
            <a:off x="536200" y="2359941"/>
            <a:ext cx="4182555" cy="307777"/>
          </a:xfrm>
          <a:prstGeom prst="rect">
            <a:avLst/>
          </a:prstGeom>
        </p:spPr>
        <p:txBody>
          <a:bodyPr wrap="none">
            <a:spAutoFit/>
          </a:bodyPr>
          <a:lstStyle/>
          <a:p>
            <a:r>
              <a:rPr lang="zh-CN" altLang="en-US" sz="1400" dirty="0"/>
              <a:t>figure(),imshow(squeeze(projections1(256,:,:))',[0 1]);</a:t>
            </a:r>
          </a:p>
        </p:txBody>
      </p:sp>
      <p:pic>
        <p:nvPicPr>
          <p:cNvPr id="5" name="图片 4"/>
          <p:cNvPicPr>
            <a:picLocks noChangeAspect="1"/>
          </p:cNvPicPr>
          <p:nvPr/>
        </p:nvPicPr>
        <p:blipFill>
          <a:blip r:embed="rId3"/>
          <a:stretch>
            <a:fillRect/>
          </a:stretch>
        </p:blipFill>
        <p:spPr>
          <a:xfrm>
            <a:off x="301883" y="2705703"/>
            <a:ext cx="4847619" cy="1685713"/>
          </a:xfrm>
          <a:prstGeom prst="rect">
            <a:avLst/>
          </a:prstGeom>
        </p:spPr>
      </p:pic>
      <p:sp>
        <p:nvSpPr>
          <p:cNvPr id="6" name="矩形 5"/>
          <p:cNvSpPr/>
          <p:nvPr/>
        </p:nvSpPr>
        <p:spPr>
          <a:xfrm>
            <a:off x="536200" y="4467389"/>
            <a:ext cx="4232249" cy="307777"/>
          </a:xfrm>
          <a:prstGeom prst="rect">
            <a:avLst/>
          </a:prstGeom>
        </p:spPr>
        <p:txBody>
          <a:bodyPr wrap="none">
            <a:spAutoFit/>
          </a:bodyPr>
          <a:lstStyle/>
          <a:p>
            <a:r>
              <a:rPr lang="zh-CN" altLang="en-US" sz="1400" dirty="0"/>
              <a:t> figure(),imshow(squeeze(projections1(:,256,:))',[0 1]);</a:t>
            </a:r>
          </a:p>
        </p:txBody>
      </p:sp>
      <p:pic>
        <p:nvPicPr>
          <p:cNvPr id="7" name="图片 6"/>
          <p:cNvPicPr>
            <a:picLocks noChangeAspect="1"/>
          </p:cNvPicPr>
          <p:nvPr/>
        </p:nvPicPr>
        <p:blipFill>
          <a:blip r:embed="rId4"/>
          <a:stretch>
            <a:fillRect/>
          </a:stretch>
        </p:blipFill>
        <p:spPr>
          <a:xfrm>
            <a:off x="1665740" y="4775166"/>
            <a:ext cx="2037580" cy="1990739"/>
          </a:xfrm>
          <a:prstGeom prst="rect">
            <a:avLst/>
          </a:prstGeom>
        </p:spPr>
      </p:pic>
      <p:pic>
        <p:nvPicPr>
          <p:cNvPr id="8" name="图片 7"/>
          <p:cNvPicPr>
            <a:picLocks noChangeAspect="1"/>
          </p:cNvPicPr>
          <p:nvPr/>
        </p:nvPicPr>
        <p:blipFill>
          <a:blip r:embed="rId5"/>
          <a:stretch>
            <a:fillRect/>
          </a:stretch>
        </p:blipFill>
        <p:spPr>
          <a:xfrm>
            <a:off x="6918960" y="4775166"/>
            <a:ext cx="1990739" cy="1990739"/>
          </a:xfrm>
          <a:prstGeom prst="rect">
            <a:avLst/>
          </a:prstGeom>
        </p:spPr>
      </p:pic>
      <p:sp>
        <p:nvSpPr>
          <p:cNvPr id="9" name="文本框 8"/>
          <p:cNvSpPr txBox="1"/>
          <p:nvPr/>
        </p:nvSpPr>
        <p:spPr>
          <a:xfrm>
            <a:off x="2397765" y="316623"/>
            <a:ext cx="646331" cy="369332"/>
          </a:xfrm>
          <a:prstGeom prst="rect">
            <a:avLst/>
          </a:prstGeom>
          <a:noFill/>
        </p:spPr>
        <p:txBody>
          <a:bodyPr wrap="none" rtlCol="0">
            <a:spAutoFit/>
          </a:bodyPr>
          <a:lstStyle/>
          <a:p>
            <a:r>
              <a:rPr lang="zh-CN" altLang="en-US" dirty="0"/>
              <a:t>平移</a:t>
            </a:r>
          </a:p>
        </p:txBody>
      </p:sp>
      <p:sp>
        <p:nvSpPr>
          <p:cNvPr id="10" name="文本框 9"/>
          <p:cNvSpPr txBox="1"/>
          <p:nvPr/>
        </p:nvSpPr>
        <p:spPr>
          <a:xfrm>
            <a:off x="7541715" y="131956"/>
            <a:ext cx="646331" cy="369332"/>
          </a:xfrm>
          <a:prstGeom prst="rect">
            <a:avLst/>
          </a:prstGeom>
          <a:noFill/>
        </p:spPr>
        <p:txBody>
          <a:bodyPr wrap="none" rtlCol="0">
            <a:spAutoFit/>
          </a:bodyPr>
          <a:lstStyle/>
          <a:p>
            <a:r>
              <a:rPr lang="zh-CN" altLang="en-US" dirty="0"/>
              <a:t>倾斜</a:t>
            </a:r>
          </a:p>
        </p:txBody>
      </p:sp>
      <p:pic>
        <p:nvPicPr>
          <p:cNvPr id="11" name="图片 10"/>
          <p:cNvPicPr>
            <a:picLocks noChangeAspect="1"/>
          </p:cNvPicPr>
          <p:nvPr/>
        </p:nvPicPr>
        <p:blipFill rotWithShape="1">
          <a:blip r:embed="rId6"/>
          <a:srcRect b="1561"/>
          <a:stretch/>
        </p:blipFill>
        <p:spPr>
          <a:xfrm>
            <a:off x="5451464" y="2705703"/>
            <a:ext cx="4826832" cy="1685713"/>
          </a:xfrm>
          <a:prstGeom prst="rect">
            <a:avLst/>
          </a:prstGeom>
        </p:spPr>
      </p:pic>
      <p:pic>
        <p:nvPicPr>
          <p:cNvPr id="12" name="图片 11"/>
          <p:cNvPicPr>
            <a:picLocks noChangeAspect="1"/>
          </p:cNvPicPr>
          <p:nvPr/>
        </p:nvPicPr>
        <p:blipFill>
          <a:blip r:embed="rId7"/>
          <a:stretch>
            <a:fillRect/>
          </a:stretch>
        </p:blipFill>
        <p:spPr>
          <a:xfrm>
            <a:off x="5451462" y="617192"/>
            <a:ext cx="4903585" cy="1704762"/>
          </a:xfrm>
          <a:prstGeom prst="rect">
            <a:avLst/>
          </a:prstGeom>
        </p:spPr>
      </p:pic>
    </p:spTree>
    <p:extLst>
      <p:ext uri="{BB962C8B-B14F-4D97-AF65-F5344CB8AC3E}">
        <p14:creationId xmlns:p14="http://schemas.microsoft.com/office/powerpoint/2010/main" val="32876969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1219505"/>
            <a:ext cx="3845981" cy="3845981"/>
          </a:xfrm>
          <a:prstGeom prst="rect">
            <a:avLst/>
          </a:prstGeom>
        </p:spPr>
      </p:pic>
      <p:sp>
        <p:nvSpPr>
          <p:cNvPr id="5" name="文本框 4"/>
          <p:cNvSpPr txBox="1"/>
          <p:nvPr/>
        </p:nvSpPr>
        <p:spPr>
          <a:xfrm>
            <a:off x="598579" y="843975"/>
            <a:ext cx="2492990" cy="369332"/>
          </a:xfrm>
          <a:prstGeom prst="rect">
            <a:avLst/>
          </a:prstGeom>
          <a:noFill/>
        </p:spPr>
        <p:txBody>
          <a:bodyPr wrap="none" rtlCol="0">
            <a:spAutoFit/>
          </a:bodyPr>
          <a:lstStyle/>
          <a:p>
            <a:r>
              <a:rPr lang="zh-CN" altLang="en-US" dirty="0"/>
              <a:t>探测器和物体正向平移</a:t>
            </a:r>
          </a:p>
        </p:txBody>
      </p:sp>
      <p:pic>
        <p:nvPicPr>
          <p:cNvPr id="6" name="图片 5"/>
          <p:cNvPicPr>
            <a:picLocks noChangeAspect="1"/>
          </p:cNvPicPr>
          <p:nvPr/>
        </p:nvPicPr>
        <p:blipFill>
          <a:blip r:embed="rId3"/>
          <a:stretch>
            <a:fillRect/>
          </a:stretch>
        </p:blipFill>
        <p:spPr>
          <a:xfrm>
            <a:off x="4145231" y="1213307"/>
            <a:ext cx="3852180" cy="3852180"/>
          </a:xfrm>
          <a:prstGeom prst="rect">
            <a:avLst/>
          </a:prstGeom>
        </p:spPr>
      </p:pic>
      <p:sp>
        <p:nvSpPr>
          <p:cNvPr id="7" name="文本框 6"/>
          <p:cNvSpPr txBox="1"/>
          <p:nvPr/>
        </p:nvSpPr>
        <p:spPr>
          <a:xfrm>
            <a:off x="5129395" y="850173"/>
            <a:ext cx="1883849" cy="369332"/>
          </a:xfrm>
          <a:prstGeom prst="rect">
            <a:avLst/>
          </a:prstGeom>
          <a:noFill/>
        </p:spPr>
        <p:txBody>
          <a:bodyPr wrap="none" rtlCol="0">
            <a:spAutoFit/>
          </a:bodyPr>
          <a:lstStyle/>
          <a:p>
            <a:r>
              <a:rPr lang="en-US" altLang="zh-CN" dirty="0"/>
              <a:t>Theta&gt;0;alpha&gt;0</a:t>
            </a:r>
            <a:endParaRPr lang="zh-CN" altLang="en-US" dirty="0"/>
          </a:p>
        </p:txBody>
      </p:sp>
      <p:pic>
        <p:nvPicPr>
          <p:cNvPr id="8" name="图片 7"/>
          <p:cNvPicPr>
            <a:picLocks noChangeAspect="1"/>
          </p:cNvPicPr>
          <p:nvPr/>
        </p:nvPicPr>
        <p:blipFill>
          <a:blip r:embed="rId4"/>
          <a:stretch>
            <a:fillRect/>
          </a:stretch>
        </p:blipFill>
        <p:spPr>
          <a:xfrm>
            <a:off x="8329589" y="1219506"/>
            <a:ext cx="3883833" cy="3845982"/>
          </a:xfrm>
          <a:prstGeom prst="rect">
            <a:avLst/>
          </a:prstGeom>
        </p:spPr>
      </p:pic>
      <p:sp>
        <p:nvSpPr>
          <p:cNvPr id="10" name="文本框 9"/>
          <p:cNvSpPr txBox="1"/>
          <p:nvPr/>
        </p:nvSpPr>
        <p:spPr>
          <a:xfrm>
            <a:off x="9280825" y="843975"/>
            <a:ext cx="1883849" cy="369332"/>
          </a:xfrm>
          <a:prstGeom prst="rect">
            <a:avLst/>
          </a:prstGeom>
          <a:noFill/>
        </p:spPr>
        <p:txBody>
          <a:bodyPr wrap="none" rtlCol="0">
            <a:spAutoFit/>
          </a:bodyPr>
          <a:lstStyle/>
          <a:p>
            <a:r>
              <a:rPr lang="en-US" altLang="zh-CN" dirty="0"/>
              <a:t>Theta&lt;0;alpha&lt;0</a:t>
            </a:r>
            <a:endParaRPr lang="zh-CN" altLang="en-US" dirty="0"/>
          </a:p>
        </p:txBody>
      </p:sp>
      <p:sp>
        <p:nvSpPr>
          <p:cNvPr id="11" name="圆角矩形 10"/>
          <p:cNvSpPr/>
          <p:nvPr/>
        </p:nvSpPr>
        <p:spPr>
          <a:xfrm>
            <a:off x="0" y="0"/>
            <a:ext cx="3294744"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确定代码的角度符号</a:t>
            </a:r>
          </a:p>
        </p:txBody>
      </p:sp>
    </p:spTree>
    <p:extLst>
      <p:ext uri="{BB962C8B-B14F-4D97-AF65-F5344CB8AC3E}">
        <p14:creationId xmlns:p14="http://schemas.microsoft.com/office/powerpoint/2010/main" val="3657396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184665"/>
            <a:ext cx="1847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1" tIns="45720" rIns="91441"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44263985"/>
              </p:ext>
            </p:extLst>
          </p:nvPr>
        </p:nvGraphicFramePr>
        <p:xfrm>
          <a:off x="4016183" y="2209797"/>
          <a:ext cx="4843941" cy="4572000"/>
        </p:xfrm>
        <a:graphic>
          <a:graphicData uri="http://schemas.openxmlformats.org/presentationml/2006/ole">
            <mc:AlternateContent xmlns:mc="http://schemas.openxmlformats.org/markup-compatibility/2006">
              <mc:Choice xmlns:v="urn:schemas-microsoft-com:vml" Requires="v">
                <p:oleObj spid="_x0000_s1218" name="Visio" r:id="rId4" imgW="3962400" imgH="3743240" progId="Visio.Drawing.15">
                  <p:embed/>
                </p:oleObj>
              </mc:Choice>
              <mc:Fallback>
                <p:oleObj name="Visio" r:id="rId4" imgW="3962400" imgH="374324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6183" y="2209797"/>
                        <a:ext cx="4843941" cy="4572000"/>
                      </a:xfrm>
                      <a:prstGeom prst="rect">
                        <a:avLst/>
                      </a:prstGeom>
                      <a:noFill/>
                    </p:spPr>
                  </p:pic>
                </p:oleObj>
              </mc:Fallback>
            </mc:AlternateContent>
          </a:graphicData>
        </a:graphic>
      </p:graphicFrame>
      <p:sp>
        <p:nvSpPr>
          <p:cNvPr id="9" name="Rectangle 6"/>
          <p:cNvSpPr>
            <a:spLocks noChangeArrowheads="1"/>
          </p:cNvSpPr>
          <p:nvPr/>
        </p:nvSpPr>
        <p:spPr bwMode="auto">
          <a:xfrm>
            <a:off x="-1" y="3389113"/>
            <a:ext cx="19507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1" tIns="45720" rIns="91441"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13735652"/>
              </p:ext>
            </p:extLst>
          </p:nvPr>
        </p:nvGraphicFramePr>
        <p:xfrm>
          <a:off x="0" y="1606971"/>
          <a:ext cx="4489221" cy="4333225"/>
        </p:xfrm>
        <a:graphic>
          <a:graphicData uri="http://schemas.openxmlformats.org/presentationml/2006/ole">
            <mc:AlternateContent xmlns:mc="http://schemas.openxmlformats.org/markup-compatibility/2006">
              <mc:Choice xmlns:v="urn:schemas-microsoft-com:vml" Requires="v">
                <p:oleObj spid="_x0000_s1219" name="Visio" r:id="rId6" imgW="4534044" imgH="4381571" progId="Visio.Drawing.15">
                  <p:embed/>
                </p:oleObj>
              </mc:Choice>
              <mc:Fallback>
                <p:oleObj name="Visio" r:id="rId6" imgW="4534044" imgH="4381571" progId="Visio.Drawing.15">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606971"/>
                        <a:ext cx="4489221" cy="4333225"/>
                      </a:xfrm>
                      <a:prstGeom prst="rect">
                        <a:avLst/>
                      </a:prstGeom>
                      <a:noFill/>
                    </p:spPr>
                  </p:pic>
                </p:oleObj>
              </mc:Fallback>
            </mc:AlternateContent>
          </a:graphicData>
        </a:graphic>
      </p:graphicFrame>
      <p:sp>
        <p:nvSpPr>
          <p:cNvPr id="15" name="Rectangle 10"/>
          <p:cNvSpPr>
            <a:spLocks noChangeArrowheads="1"/>
          </p:cNvSpPr>
          <p:nvPr/>
        </p:nvSpPr>
        <p:spPr bwMode="auto">
          <a:xfrm>
            <a:off x="0" y="-184665"/>
            <a:ext cx="1847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1" tIns="45720" rIns="91441"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2597788141"/>
              </p:ext>
            </p:extLst>
          </p:nvPr>
        </p:nvGraphicFramePr>
        <p:xfrm>
          <a:off x="8288338" y="228601"/>
          <a:ext cx="4208463" cy="4591050"/>
        </p:xfrm>
        <a:graphic>
          <a:graphicData uri="http://schemas.openxmlformats.org/presentationml/2006/ole">
            <mc:AlternateContent xmlns:mc="http://schemas.openxmlformats.org/markup-compatibility/2006">
              <mc:Choice xmlns:v="urn:schemas-microsoft-com:vml" Requires="v">
                <p:oleObj spid="_x0000_s1220" name="Visio" r:id="rId8" imgW="3524178" imgH="3838433" progId="Visio.Drawing.15">
                  <p:embed/>
                </p:oleObj>
              </mc:Choice>
              <mc:Fallback>
                <p:oleObj name="Visio" r:id="rId8" imgW="3524178" imgH="3838433" progId="Visio.Drawing.15">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88338" y="228601"/>
                        <a:ext cx="4208463" cy="4591050"/>
                      </a:xfrm>
                      <a:prstGeom prst="rect">
                        <a:avLst/>
                      </a:prstGeom>
                      <a:noFill/>
                    </p:spPr>
                  </p:pic>
                </p:oleObj>
              </mc:Fallback>
            </mc:AlternateContent>
          </a:graphicData>
        </a:graphic>
      </p:graphicFrame>
      <p:sp>
        <p:nvSpPr>
          <p:cNvPr id="17" name="圆角矩形 16"/>
          <p:cNvSpPr/>
          <p:nvPr/>
        </p:nvSpPr>
        <p:spPr>
          <a:xfrm>
            <a:off x="0" y="0"/>
            <a:ext cx="3294744"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CLRP</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示意图</a:t>
            </a:r>
          </a:p>
        </p:txBody>
      </p:sp>
      <p:cxnSp>
        <p:nvCxnSpPr>
          <p:cNvPr id="19" name="直接连接符 18"/>
          <p:cNvCxnSpPr/>
          <p:nvPr/>
        </p:nvCxnSpPr>
        <p:spPr>
          <a:xfrm>
            <a:off x="4536192" y="4947285"/>
            <a:ext cx="3064104" cy="390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4536194" y="4337685"/>
            <a:ext cx="3245079" cy="619125"/>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10"/>
          <a:stretch>
            <a:fillRect/>
          </a:stretch>
        </p:blipFill>
        <p:spPr>
          <a:xfrm>
            <a:off x="4213862" y="39786"/>
            <a:ext cx="4798057" cy="2421630"/>
          </a:xfrm>
          <a:prstGeom prst="rect">
            <a:avLst/>
          </a:prstGeom>
        </p:spPr>
      </p:pic>
    </p:spTree>
    <p:extLst>
      <p:ext uri="{BB962C8B-B14F-4D97-AF65-F5344CB8AC3E}">
        <p14:creationId xmlns:p14="http://schemas.microsoft.com/office/powerpoint/2010/main" val="10029512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38044" y="621439"/>
            <a:ext cx="6434893" cy="3247759"/>
          </a:xfrm>
          <a:prstGeom prst="rect">
            <a:avLst/>
          </a:prstGeom>
        </p:spPr>
      </p:pic>
    </p:spTree>
    <p:extLst>
      <p:ext uri="{BB962C8B-B14F-4D97-AF65-F5344CB8AC3E}">
        <p14:creationId xmlns:p14="http://schemas.microsoft.com/office/powerpoint/2010/main" val="2293652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 y="0"/>
            <a:ext cx="3789947" cy="5249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模体和理想转换</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重建示意图</a:t>
            </a:r>
          </a:p>
        </p:txBody>
      </p:sp>
      <p:pic>
        <p:nvPicPr>
          <p:cNvPr id="3" name="图片 2"/>
          <p:cNvPicPr>
            <a:picLocks noChangeAspect="1"/>
          </p:cNvPicPr>
          <p:nvPr/>
        </p:nvPicPr>
        <p:blipFill>
          <a:blip r:embed="rId3"/>
          <a:stretch>
            <a:fillRect/>
          </a:stretch>
        </p:blipFill>
        <p:spPr>
          <a:xfrm>
            <a:off x="1345034" y="582936"/>
            <a:ext cx="3115874" cy="3115874"/>
          </a:xfrm>
          <a:prstGeom prst="rect">
            <a:avLst/>
          </a:prstGeom>
        </p:spPr>
      </p:pic>
      <p:pic>
        <p:nvPicPr>
          <p:cNvPr id="4" name="图片 3"/>
          <p:cNvPicPr>
            <a:picLocks noChangeAspect="1"/>
          </p:cNvPicPr>
          <p:nvPr/>
        </p:nvPicPr>
        <p:blipFill>
          <a:blip r:embed="rId4"/>
          <a:stretch>
            <a:fillRect/>
          </a:stretch>
        </p:blipFill>
        <p:spPr>
          <a:xfrm>
            <a:off x="4605286" y="571959"/>
            <a:ext cx="3115874" cy="3115874"/>
          </a:xfrm>
          <a:prstGeom prst="rect">
            <a:avLst/>
          </a:prstGeom>
        </p:spPr>
      </p:pic>
      <p:pic>
        <p:nvPicPr>
          <p:cNvPr id="5" name="图片 4"/>
          <p:cNvPicPr>
            <a:picLocks noChangeAspect="1"/>
          </p:cNvPicPr>
          <p:nvPr/>
        </p:nvPicPr>
        <p:blipFill>
          <a:blip r:embed="rId5"/>
          <a:stretch>
            <a:fillRect/>
          </a:stretch>
        </p:blipFill>
        <p:spPr>
          <a:xfrm>
            <a:off x="7865537" y="571961"/>
            <a:ext cx="3104897" cy="3104897"/>
          </a:xfrm>
          <a:prstGeom prst="rect">
            <a:avLst/>
          </a:prstGeom>
        </p:spPr>
      </p:pic>
      <p:pic>
        <p:nvPicPr>
          <p:cNvPr id="6" name="图片 5"/>
          <p:cNvPicPr>
            <a:picLocks noChangeAspect="1"/>
          </p:cNvPicPr>
          <p:nvPr/>
        </p:nvPicPr>
        <p:blipFill>
          <a:blip r:embed="rId6"/>
          <a:stretch>
            <a:fillRect/>
          </a:stretch>
        </p:blipFill>
        <p:spPr>
          <a:xfrm>
            <a:off x="1345034" y="3742127"/>
            <a:ext cx="3115874" cy="3115874"/>
          </a:xfrm>
          <a:prstGeom prst="rect">
            <a:avLst/>
          </a:prstGeom>
        </p:spPr>
      </p:pic>
      <p:pic>
        <p:nvPicPr>
          <p:cNvPr id="7" name="图片 6"/>
          <p:cNvPicPr>
            <a:picLocks noChangeAspect="1"/>
          </p:cNvPicPr>
          <p:nvPr/>
        </p:nvPicPr>
        <p:blipFill>
          <a:blip r:embed="rId7"/>
          <a:stretch>
            <a:fillRect/>
          </a:stretch>
        </p:blipFill>
        <p:spPr>
          <a:xfrm>
            <a:off x="4605286" y="3742127"/>
            <a:ext cx="3115874" cy="3115874"/>
          </a:xfrm>
          <a:prstGeom prst="rect">
            <a:avLst/>
          </a:prstGeom>
        </p:spPr>
      </p:pic>
      <p:pic>
        <p:nvPicPr>
          <p:cNvPr id="8" name="图片 7"/>
          <p:cNvPicPr>
            <a:picLocks noChangeAspect="1"/>
          </p:cNvPicPr>
          <p:nvPr/>
        </p:nvPicPr>
        <p:blipFill>
          <a:blip r:embed="rId8"/>
          <a:stretch>
            <a:fillRect/>
          </a:stretch>
        </p:blipFill>
        <p:spPr>
          <a:xfrm>
            <a:off x="7865537" y="3742127"/>
            <a:ext cx="3104897" cy="3104897"/>
          </a:xfrm>
          <a:prstGeom prst="rect">
            <a:avLst/>
          </a:prstGeom>
        </p:spPr>
      </p:pic>
    </p:spTree>
    <p:extLst>
      <p:ext uri="{BB962C8B-B14F-4D97-AF65-F5344CB8AC3E}">
        <p14:creationId xmlns:p14="http://schemas.microsoft.com/office/powerpoint/2010/main" val="15937593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237084" y="62236"/>
            <a:ext cx="2222000" cy="2222000"/>
          </a:xfrm>
          <a:prstGeom prst="rect">
            <a:avLst/>
          </a:prstGeom>
        </p:spPr>
      </p:pic>
      <p:pic>
        <p:nvPicPr>
          <p:cNvPr id="3" name="图片 2"/>
          <p:cNvPicPr>
            <a:picLocks noChangeAspect="1"/>
          </p:cNvPicPr>
          <p:nvPr/>
        </p:nvPicPr>
        <p:blipFill>
          <a:blip r:embed="rId3"/>
          <a:stretch>
            <a:fillRect/>
          </a:stretch>
        </p:blipFill>
        <p:spPr>
          <a:xfrm>
            <a:off x="3557538" y="62236"/>
            <a:ext cx="2222000" cy="2222000"/>
          </a:xfrm>
          <a:prstGeom prst="rect">
            <a:avLst/>
          </a:prstGeom>
        </p:spPr>
      </p:pic>
      <p:pic>
        <p:nvPicPr>
          <p:cNvPr id="4" name="图片 3"/>
          <p:cNvPicPr>
            <a:picLocks noChangeAspect="1"/>
          </p:cNvPicPr>
          <p:nvPr/>
        </p:nvPicPr>
        <p:blipFill>
          <a:blip r:embed="rId4"/>
          <a:stretch>
            <a:fillRect/>
          </a:stretch>
        </p:blipFill>
        <p:spPr>
          <a:xfrm>
            <a:off x="5877990" y="62237"/>
            <a:ext cx="2214174" cy="2214174"/>
          </a:xfrm>
          <a:prstGeom prst="rect">
            <a:avLst/>
          </a:prstGeom>
        </p:spPr>
      </p:pic>
      <p:pic>
        <p:nvPicPr>
          <p:cNvPr id="5" name="图片 4"/>
          <p:cNvPicPr>
            <a:picLocks noChangeAspect="1"/>
          </p:cNvPicPr>
          <p:nvPr/>
        </p:nvPicPr>
        <p:blipFill>
          <a:blip r:embed="rId5"/>
          <a:stretch>
            <a:fillRect/>
          </a:stretch>
        </p:blipFill>
        <p:spPr>
          <a:xfrm>
            <a:off x="1237084" y="4635997"/>
            <a:ext cx="2222000" cy="2222000"/>
          </a:xfrm>
          <a:prstGeom prst="rect">
            <a:avLst/>
          </a:prstGeom>
        </p:spPr>
      </p:pic>
      <p:pic>
        <p:nvPicPr>
          <p:cNvPr id="6" name="图片 5"/>
          <p:cNvPicPr>
            <a:picLocks noChangeAspect="1"/>
          </p:cNvPicPr>
          <p:nvPr/>
        </p:nvPicPr>
        <p:blipFill>
          <a:blip r:embed="rId6"/>
          <a:stretch>
            <a:fillRect/>
          </a:stretch>
        </p:blipFill>
        <p:spPr>
          <a:xfrm>
            <a:off x="3557538" y="4636000"/>
            <a:ext cx="2222000" cy="2222000"/>
          </a:xfrm>
          <a:prstGeom prst="rect">
            <a:avLst/>
          </a:prstGeom>
        </p:spPr>
      </p:pic>
      <p:pic>
        <p:nvPicPr>
          <p:cNvPr id="7" name="图片 6"/>
          <p:cNvPicPr>
            <a:picLocks noChangeAspect="1"/>
          </p:cNvPicPr>
          <p:nvPr/>
        </p:nvPicPr>
        <p:blipFill>
          <a:blip r:embed="rId7"/>
          <a:stretch>
            <a:fillRect/>
          </a:stretch>
        </p:blipFill>
        <p:spPr>
          <a:xfrm>
            <a:off x="5877990" y="4635559"/>
            <a:ext cx="2214174" cy="2214174"/>
          </a:xfrm>
          <a:prstGeom prst="rect">
            <a:avLst/>
          </a:prstGeom>
        </p:spPr>
      </p:pic>
      <p:pic>
        <p:nvPicPr>
          <p:cNvPr id="8" name="图片 7"/>
          <p:cNvPicPr>
            <a:picLocks noChangeAspect="1"/>
          </p:cNvPicPr>
          <p:nvPr/>
        </p:nvPicPr>
        <p:blipFill>
          <a:blip r:embed="rId8"/>
          <a:stretch>
            <a:fillRect/>
          </a:stretch>
        </p:blipFill>
        <p:spPr>
          <a:xfrm>
            <a:off x="1237084" y="2349118"/>
            <a:ext cx="2222000" cy="2222000"/>
          </a:xfrm>
          <a:prstGeom prst="rect">
            <a:avLst/>
          </a:prstGeom>
        </p:spPr>
      </p:pic>
      <p:pic>
        <p:nvPicPr>
          <p:cNvPr id="10" name="图片 9"/>
          <p:cNvPicPr>
            <a:picLocks noChangeAspect="1"/>
          </p:cNvPicPr>
          <p:nvPr/>
        </p:nvPicPr>
        <p:blipFill>
          <a:blip r:embed="rId9"/>
          <a:stretch>
            <a:fillRect/>
          </a:stretch>
        </p:blipFill>
        <p:spPr>
          <a:xfrm>
            <a:off x="3557538" y="2349118"/>
            <a:ext cx="2222000" cy="2222000"/>
          </a:xfrm>
          <a:prstGeom prst="rect">
            <a:avLst/>
          </a:prstGeom>
        </p:spPr>
      </p:pic>
      <p:pic>
        <p:nvPicPr>
          <p:cNvPr id="11" name="图片 10"/>
          <p:cNvPicPr>
            <a:picLocks noChangeAspect="1"/>
          </p:cNvPicPr>
          <p:nvPr/>
        </p:nvPicPr>
        <p:blipFill>
          <a:blip r:embed="rId10"/>
          <a:stretch>
            <a:fillRect/>
          </a:stretch>
        </p:blipFill>
        <p:spPr>
          <a:xfrm>
            <a:off x="5877990" y="2341290"/>
            <a:ext cx="2214174" cy="2214174"/>
          </a:xfrm>
          <a:prstGeom prst="rect">
            <a:avLst/>
          </a:prstGeom>
        </p:spPr>
      </p:pic>
      <p:sp>
        <p:nvSpPr>
          <p:cNvPr id="12" name="文本框 11"/>
          <p:cNvSpPr txBox="1"/>
          <p:nvPr/>
        </p:nvSpPr>
        <p:spPr>
          <a:xfrm>
            <a:off x="4054" y="984657"/>
            <a:ext cx="1233030" cy="369332"/>
          </a:xfrm>
          <a:prstGeom prst="rect">
            <a:avLst/>
          </a:prstGeom>
          <a:noFill/>
        </p:spPr>
        <p:txBody>
          <a:bodyPr wrap="none" rtlCol="0">
            <a:spAutoFit/>
          </a:bodyPr>
          <a:lstStyle/>
          <a:p>
            <a:r>
              <a:rPr lang="en-US" altLang="zh-CN" dirty="0"/>
              <a:t>Ideal CLRP</a:t>
            </a:r>
            <a:endParaRPr lang="zh-CN" altLang="en-US" dirty="0"/>
          </a:p>
        </p:txBody>
      </p:sp>
      <p:sp>
        <p:nvSpPr>
          <p:cNvPr id="14" name="矩形 13"/>
          <p:cNvSpPr/>
          <p:nvPr/>
        </p:nvSpPr>
        <p:spPr>
          <a:xfrm>
            <a:off x="273358" y="3263711"/>
            <a:ext cx="694421" cy="369332"/>
          </a:xfrm>
          <a:prstGeom prst="rect">
            <a:avLst/>
          </a:prstGeom>
        </p:spPr>
        <p:txBody>
          <a:bodyPr wrap="none">
            <a:spAutoFit/>
          </a:bodyPr>
          <a:lstStyle/>
          <a:p>
            <a:r>
              <a:rPr lang="en-US" altLang="zh-CN" dirty="0"/>
              <a:t>CLRP</a:t>
            </a:r>
            <a:endParaRPr lang="zh-CN" altLang="en-US" dirty="0"/>
          </a:p>
        </p:txBody>
      </p:sp>
      <p:sp>
        <p:nvSpPr>
          <p:cNvPr id="15" name="文本框 14"/>
          <p:cNvSpPr txBox="1"/>
          <p:nvPr/>
        </p:nvSpPr>
        <p:spPr>
          <a:xfrm>
            <a:off x="297402" y="5358099"/>
            <a:ext cx="646331" cy="369332"/>
          </a:xfrm>
          <a:prstGeom prst="rect">
            <a:avLst/>
          </a:prstGeom>
          <a:noFill/>
        </p:spPr>
        <p:txBody>
          <a:bodyPr wrap="none" rtlCol="0">
            <a:spAutoFit/>
          </a:bodyPr>
          <a:lstStyle/>
          <a:p>
            <a:r>
              <a:rPr lang="zh-CN" altLang="en-US" dirty="0"/>
              <a:t>模体</a:t>
            </a:r>
          </a:p>
        </p:txBody>
      </p:sp>
      <p:sp>
        <p:nvSpPr>
          <p:cNvPr id="16" name="圆角矩形 15"/>
          <p:cNvSpPr/>
          <p:nvPr/>
        </p:nvSpPr>
        <p:spPr>
          <a:xfrm>
            <a:off x="8356372" y="1"/>
            <a:ext cx="3789948" cy="5249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CLRP</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和理想转换</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CT</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重建示意图</a:t>
            </a:r>
          </a:p>
        </p:txBody>
      </p:sp>
    </p:spTree>
    <p:extLst>
      <p:ext uri="{BB962C8B-B14F-4D97-AF65-F5344CB8AC3E}">
        <p14:creationId xmlns:p14="http://schemas.microsoft.com/office/powerpoint/2010/main" val="9625452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68579" y="549583"/>
            <a:ext cx="3279828" cy="4353494"/>
          </a:xfrm>
          <a:prstGeom prst="rect">
            <a:avLst/>
          </a:prstGeom>
        </p:spPr>
      </p:pic>
      <p:pic>
        <p:nvPicPr>
          <p:cNvPr id="4" name="图片 3"/>
          <p:cNvPicPr>
            <a:picLocks noChangeAspect="1"/>
          </p:cNvPicPr>
          <p:nvPr/>
        </p:nvPicPr>
        <p:blipFill>
          <a:blip r:embed="rId4">
            <a:clrChange>
              <a:clrFrom>
                <a:srgbClr val="000000"/>
              </a:clrFrom>
              <a:clrTo>
                <a:srgbClr val="000000">
                  <a:alpha val="0"/>
                </a:srgbClr>
              </a:clrTo>
            </a:clrChange>
          </a:blip>
          <a:stretch>
            <a:fillRect/>
          </a:stretch>
        </p:blipFill>
        <p:spPr>
          <a:xfrm>
            <a:off x="3767446" y="478732"/>
            <a:ext cx="3405677" cy="4523768"/>
          </a:xfrm>
          <a:prstGeom prst="rect">
            <a:avLst/>
          </a:prstGeom>
        </p:spPr>
      </p:pic>
      <p:sp>
        <p:nvSpPr>
          <p:cNvPr id="5" name="文本框 4"/>
          <p:cNvSpPr txBox="1"/>
          <p:nvPr/>
        </p:nvSpPr>
        <p:spPr>
          <a:xfrm>
            <a:off x="5470284" y="5505450"/>
            <a:ext cx="2031325" cy="369332"/>
          </a:xfrm>
          <a:prstGeom prst="rect">
            <a:avLst/>
          </a:prstGeom>
          <a:noFill/>
        </p:spPr>
        <p:txBody>
          <a:bodyPr wrap="none" rtlCol="0">
            <a:spAutoFit/>
          </a:bodyPr>
          <a:lstStyle/>
          <a:p>
            <a:r>
              <a:rPr lang="zh-CN" altLang="en-US" dirty="0"/>
              <a:t>匹配不上！！！！</a:t>
            </a:r>
          </a:p>
        </p:txBody>
      </p:sp>
      <p:sp>
        <p:nvSpPr>
          <p:cNvPr id="6" name="文本框 5"/>
          <p:cNvSpPr txBox="1"/>
          <p:nvPr/>
        </p:nvSpPr>
        <p:spPr>
          <a:xfrm>
            <a:off x="4700682" y="180250"/>
            <a:ext cx="1539204" cy="369332"/>
          </a:xfrm>
          <a:prstGeom prst="rect">
            <a:avLst/>
          </a:prstGeom>
          <a:noFill/>
        </p:spPr>
        <p:txBody>
          <a:bodyPr wrap="none" rtlCol="0">
            <a:spAutoFit/>
          </a:bodyPr>
          <a:lstStyle/>
          <a:p>
            <a:r>
              <a:rPr lang="en-US" altLang="zh-CN" dirty="0" err="1"/>
              <a:t>CTProjections</a:t>
            </a:r>
            <a:endParaRPr lang="zh-CN" altLang="en-US" dirty="0"/>
          </a:p>
        </p:txBody>
      </p:sp>
      <p:sp>
        <p:nvSpPr>
          <p:cNvPr id="7" name="矩形 6"/>
          <p:cNvSpPr/>
          <p:nvPr/>
        </p:nvSpPr>
        <p:spPr>
          <a:xfrm>
            <a:off x="1334376" y="180250"/>
            <a:ext cx="1404552" cy="369332"/>
          </a:xfrm>
          <a:prstGeom prst="rect">
            <a:avLst/>
          </a:prstGeom>
        </p:spPr>
        <p:txBody>
          <a:bodyPr wrap="none">
            <a:spAutoFit/>
          </a:bodyPr>
          <a:lstStyle/>
          <a:p>
            <a:r>
              <a:rPr lang="en-US" altLang="zh-CN" dirty="0"/>
              <a:t>p</a:t>
            </a:r>
            <a:r>
              <a:rPr lang="zh-CN" altLang="en-US" dirty="0"/>
              <a:t>rojections</a:t>
            </a:r>
            <a:r>
              <a:rPr lang="en-US" altLang="zh-CN" dirty="0"/>
              <a:t>1</a:t>
            </a:r>
            <a:endParaRPr lang="zh-CN" altLang="en-US" dirty="0"/>
          </a:p>
        </p:txBody>
      </p:sp>
      <p:pic>
        <p:nvPicPr>
          <p:cNvPr id="8" name="图片 7"/>
          <p:cNvPicPr>
            <a:picLocks noChangeAspect="1"/>
          </p:cNvPicPr>
          <p:nvPr/>
        </p:nvPicPr>
        <p:blipFill>
          <a:blip r:embed="rId3"/>
          <a:stretch>
            <a:fillRect/>
          </a:stretch>
        </p:blipFill>
        <p:spPr>
          <a:xfrm>
            <a:off x="7763155" y="526130"/>
            <a:ext cx="3341585" cy="4435468"/>
          </a:xfrm>
          <a:prstGeom prst="rect">
            <a:avLst/>
          </a:prstGeom>
        </p:spPr>
      </p:pic>
      <p:pic>
        <p:nvPicPr>
          <p:cNvPr id="9" name="图片 8"/>
          <p:cNvPicPr>
            <a:picLocks noChangeAspect="1"/>
          </p:cNvPicPr>
          <p:nvPr/>
        </p:nvPicPr>
        <p:blipFill>
          <a:blip r:embed="rId4">
            <a:clrChange>
              <a:clrFrom>
                <a:srgbClr val="000000"/>
              </a:clrFrom>
              <a:clrTo>
                <a:srgbClr val="000000">
                  <a:alpha val="0"/>
                </a:srgbClr>
              </a:clrTo>
            </a:clrChange>
          </a:blip>
          <a:stretch>
            <a:fillRect/>
          </a:stretch>
        </p:blipFill>
        <p:spPr>
          <a:xfrm>
            <a:off x="7725043" y="434570"/>
            <a:ext cx="3364074" cy="4468507"/>
          </a:xfrm>
          <a:prstGeom prst="rect">
            <a:avLst/>
          </a:prstGeom>
        </p:spPr>
      </p:pic>
      <p:cxnSp>
        <p:nvCxnSpPr>
          <p:cNvPr id="11" name="直接箭头连接符 10"/>
          <p:cNvCxnSpPr/>
          <p:nvPr/>
        </p:nvCxnSpPr>
        <p:spPr>
          <a:xfrm flipH="1" flipV="1">
            <a:off x="9792184" y="5428246"/>
            <a:ext cx="94781" cy="772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43417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945682" y="1"/>
            <a:ext cx="5268635" cy="3195393"/>
          </a:xfrm>
          <a:prstGeom prst="rect">
            <a:avLst/>
          </a:prstGeom>
        </p:spPr>
      </p:pic>
      <p:pic>
        <p:nvPicPr>
          <p:cNvPr id="5" name="图片 4"/>
          <p:cNvPicPr>
            <a:picLocks noChangeAspect="1"/>
          </p:cNvPicPr>
          <p:nvPr/>
        </p:nvPicPr>
        <p:blipFill>
          <a:blip r:embed="rId3"/>
          <a:stretch>
            <a:fillRect/>
          </a:stretch>
        </p:blipFill>
        <p:spPr>
          <a:xfrm>
            <a:off x="1" y="1"/>
            <a:ext cx="5842000" cy="3195393"/>
          </a:xfrm>
          <a:prstGeom prst="rect">
            <a:avLst/>
          </a:prstGeom>
        </p:spPr>
      </p:pic>
      <p:pic>
        <p:nvPicPr>
          <p:cNvPr id="6" name="图片 5"/>
          <p:cNvPicPr>
            <a:picLocks noChangeAspect="1"/>
          </p:cNvPicPr>
          <p:nvPr/>
        </p:nvPicPr>
        <p:blipFill>
          <a:blip r:embed="rId4"/>
          <a:stretch>
            <a:fillRect/>
          </a:stretch>
        </p:blipFill>
        <p:spPr>
          <a:xfrm>
            <a:off x="2" y="3313015"/>
            <a:ext cx="5842000" cy="3463741"/>
          </a:xfrm>
          <a:prstGeom prst="rect">
            <a:avLst/>
          </a:prstGeom>
        </p:spPr>
      </p:pic>
    </p:spTree>
    <p:extLst>
      <p:ext uri="{BB962C8B-B14F-4D97-AF65-F5344CB8AC3E}">
        <p14:creationId xmlns:p14="http://schemas.microsoft.com/office/powerpoint/2010/main" val="3333132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22447" y="729344"/>
            <a:ext cx="10919294" cy="6128658"/>
          </a:xfrm>
          <a:prstGeom prst="rect">
            <a:avLst/>
          </a:prstGeom>
        </p:spPr>
      </p:pic>
      <p:sp>
        <p:nvSpPr>
          <p:cNvPr id="3" name="圆角矩形 2"/>
          <p:cNvSpPr/>
          <p:nvPr/>
        </p:nvSpPr>
        <p:spPr>
          <a:xfrm>
            <a:off x="0" y="-13997"/>
            <a:ext cx="7396065" cy="7433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两种等效理想</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CTFDK</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的中心投影灰度图</a:t>
            </a:r>
            <a:endPar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endParaRPr>
          </a:p>
          <a:p>
            <a:pPr algn="ctr"/>
            <a:r>
              <a:rPr lang="en-US" altLang="zh-CN" dirty="0"/>
              <a:t>Gray value comparison of each pixel in the same row of two projections.</a:t>
            </a:r>
            <a:r>
              <a:rPr lang="en-US" altLang="zh-CN" sz="2000" dirty="0"/>
              <a:t> </a:t>
            </a:r>
            <a:br>
              <a:rPr lang="en-US" altLang="zh-CN" sz="2000" dirty="0"/>
            </a:br>
            <a:endPar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0946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108194" y="991171"/>
            <a:ext cx="4376927" cy="4462415"/>
          </a:xfrm>
          <a:prstGeom prst="rect">
            <a:avLst/>
          </a:prstGeom>
        </p:spPr>
      </p:pic>
      <p:pic>
        <p:nvPicPr>
          <p:cNvPr id="3" name="图片 2"/>
          <p:cNvPicPr>
            <a:picLocks noChangeAspect="1"/>
          </p:cNvPicPr>
          <p:nvPr/>
        </p:nvPicPr>
        <p:blipFill>
          <a:blip r:embed="rId3"/>
          <a:stretch>
            <a:fillRect/>
          </a:stretch>
        </p:blipFill>
        <p:spPr>
          <a:xfrm>
            <a:off x="541782" y="991171"/>
            <a:ext cx="4479645" cy="4462415"/>
          </a:xfrm>
          <a:prstGeom prst="rect">
            <a:avLst/>
          </a:prstGeom>
        </p:spPr>
      </p:pic>
      <p:sp>
        <p:nvSpPr>
          <p:cNvPr id="4" name="文本框 3"/>
          <p:cNvSpPr txBox="1"/>
          <p:nvPr/>
        </p:nvSpPr>
        <p:spPr>
          <a:xfrm>
            <a:off x="1975105" y="5925313"/>
            <a:ext cx="780983" cy="369332"/>
          </a:xfrm>
          <a:prstGeom prst="rect">
            <a:avLst/>
          </a:prstGeom>
          <a:noFill/>
        </p:spPr>
        <p:txBody>
          <a:bodyPr wrap="none" rtlCol="0">
            <a:spAutoFit/>
          </a:bodyPr>
          <a:lstStyle/>
          <a:p>
            <a:r>
              <a:rPr lang="en-US" altLang="zh-CN" dirty="0"/>
              <a:t>100</a:t>
            </a:r>
            <a:r>
              <a:rPr lang="zh-CN" altLang="en-US" dirty="0"/>
              <a:t>层</a:t>
            </a:r>
          </a:p>
        </p:txBody>
      </p:sp>
      <p:sp>
        <p:nvSpPr>
          <p:cNvPr id="5" name="文本框 4"/>
          <p:cNvSpPr txBox="1"/>
          <p:nvPr/>
        </p:nvSpPr>
        <p:spPr>
          <a:xfrm>
            <a:off x="7748017" y="5925313"/>
            <a:ext cx="780983" cy="369332"/>
          </a:xfrm>
          <a:prstGeom prst="rect">
            <a:avLst/>
          </a:prstGeom>
          <a:noFill/>
        </p:spPr>
        <p:txBody>
          <a:bodyPr wrap="none" rtlCol="0">
            <a:spAutoFit/>
          </a:bodyPr>
          <a:lstStyle/>
          <a:p>
            <a:r>
              <a:rPr lang="en-US" altLang="zh-CN" dirty="0"/>
              <a:t>128</a:t>
            </a:r>
            <a:r>
              <a:rPr lang="zh-CN" altLang="en-US" dirty="0"/>
              <a:t>层</a:t>
            </a:r>
          </a:p>
        </p:txBody>
      </p:sp>
      <p:sp>
        <p:nvSpPr>
          <p:cNvPr id="6" name="文本框 5"/>
          <p:cNvSpPr txBox="1"/>
          <p:nvPr/>
        </p:nvSpPr>
        <p:spPr>
          <a:xfrm>
            <a:off x="7855697" y="6294644"/>
            <a:ext cx="2492990" cy="646331"/>
          </a:xfrm>
          <a:prstGeom prst="rect">
            <a:avLst/>
          </a:prstGeom>
          <a:noFill/>
        </p:spPr>
        <p:txBody>
          <a:bodyPr wrap="none" rtlCol="0">
            <a:spAutoFit/>
          </a:bodyPr>
          <a:lstStyle/>
          <a:p>
            <a:r>
              <a:rPr lang="zh-CN" altLang="en-US" dirty="0"/>
              <a:t>公开的代码跑出的结果</a:t>
            </a:r>
            <a:endParaRPr lang="en-US" altLang="zh-CN" dirty="0"/>
          </a:p>
          <a:p>
            <a:r>
              <a:rPr lang="zh-CN" altLang="en-US" dirty="0"/>
              <a:t>就不对</a:t>
            </a:r>
          </a:p>
        </p:txBody>
      </p:sp>
    </p:spTree>
    <p:extLst>
      <p:ext uri="{BB962C8B-B14F-4D97-AF65-F5344CB8AC3E}">
        <p14:creationId xmlns:p14="http://schemas.microsoft.com/office/powerpoint/2010/main" val="3183447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0" y="-13997"/>
            <a:ext cx="7396065" cy="5504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非倾斜探测器</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CLRP</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重建</a:t>
            </a:r>
          </a:p>
        </p:txBody>
      </p:sp>
      <p:pic>
        <p:nvPicPr>
          <p:cNvPr id="3" name="图片 2"/>
          <p:cNvPicPr>
            <a:picLocks noChangeAspect="1"/>
          </p:cNvPicPr>
          <p:nvPr/>
        </p:nvPicPr>
        <p:blipFill>
          <a:blip r:embed="rId3"/>
          <a:stretch>
            <a:fillRect/>
          </a:stretch>
        </p:blipFill>
        <p:spPr>
          <a:xfrm>
            <a:off x="1698987" y="1221613"/>
            <a:ext cx="5143500" cy="3943349"/>
          </a:xfrm>
          <a:prstGeom prst="rect">
            <a:avLst/>
          </a:prstGeom>
        </p:spPr>
      </p:pic>
      <p:sp>
        <p:nvSpPr>
          <p:cNvPr id="4" name="矩形 3"/>
          <p:cNvSpPr/>
          <p:nvPr/>
        </p:nvSpPr>
        <p:spPr>
          <a:xfrm>
            <a:off x="6112960" y="2844286"/>
            <a:ext cx="1338828" cy="246221"/>
          </a:xfrm>
          <a:prstGeom prst="rect">
            <a:avLst/>
          </a:prstGeom>
        </p:spPr>
        <p:txBody>
          <a:bodyPr wrap="none">
            <a:spAutoFit/>
          </a:bodyPr>
          <a:lstStyle/>
          <a:p>
            <a:r>
              <a:rPr lang="en-US" altLang="zh-CN" sz="1000" dirty="0" err="1">
                <a:solidFill>
                  <a:srgbClr val="A020F0"/>
                </a:solidFill>
                <a:latin typeface="Courier New" panose="02070309020205020404" pitchFamily="49" charset="0"/>
              </a:rPr>
              <a:t>id_CTFDK_Rotdet</a:t>
            </a:r>
            <a:endParaRPr lang="en-US" altLang="zh-CN" sz="1000" dirty="0">
              <a:solidFill>
                <a:srgbClr val="A020F0"/>
              </a:solidFill>
              <a:latin typeface="Courier New" panose="02070309020205020404" pitchFamily="49" charset="0"/>
            </a:endParaRPr>
          </a:p>
        </p:txBody>
      </p:sp>
      <p:sp>
        <p:nvSpPr>
          <p:cNvPr id="5" name="矩形 4"/>
          <p:cNvSpPr/>
          <p:nvPr/>
        </p:nvSpPr>
        <p:spPr>
          <a:xfrm>
            <a:off x="6112961" y="3008622"/>
            <a:ext cx="729527" cy="253916"/>
          </a:xfrm>
          <a:prstGeom prst="rect">
            <a:avLst/>
          </a:prstGeom>
        </p:spPr>
        <p:txBody>
          <a:bodyPr wrap="square">
            <a:spAutoFit/>
          </a:bodyPr>
          <a:lstStyle/>
          <a:p>
            <a:r>
              <a:rPr lang="en-US" altLang="zh-CN" sz="1050" dirty="0">
                <a:solidFill>
                  <a:srgbClr val="A020F0"/>
                </a:solidFill>
                <a:latin typeface="Courier New" panose="02070309020205020404" pitchFamily="49" charset="0"/>
              </a:rPr>
              <a:t>CTFDK</a:t>
            </a:r>
          </a:p>
        </p:txBody>
      </p:sp>
      <p:pic>
        <p:nvPicPr>
          <p:cNvPr id="6" name="图片 5"/>
          <p:cNvPicPr>
            <a:picLocks noChangeAspect="1"/>
          </p:cNvPicPr>
          <p:nvPr/>
        </p:nvPicPr>
        <p:blipFill>
          <a:blip r:embed="rId4"/>
          <a:stretch>
            <a:fillRect/>
          </a:stretch>
        </p:blipFill>
        <p:spPr>
          <a:xfrm>
            <a:off x="7623473" y="10888"/>
            <a:ext cx="3348262" cy="3348262"/>
          </a:xfrm>
          <a:prstGeom prst="rect">
            <a:avLst/>
          </a:prstGeom>
        </p:spPr>
      </p:pic>
      <p:pic>
        <p:nvPicPr>
          <p:cNvPr id="7" name="图片 6"/>
          <p:cNvPicPr>
            <a:picLocks noChangeAspect="1"/>
          </p:cNvPicPr>
          <p:nvPr/>
        </p:nvPicPr>
        <p:blipFill>
          <a:blip r:embed="rId5"/>
          <a:stretch>
            <a:fillRect/>
          </a:stretch>
        </p:blipFill>
        <p:spPr>
          <a:xfrm>
            <a:off x="7623471" y="3509739"/>
            <a:ext cx="3348262" cy="3348262"/>
          </a:xfrm>
          <a:prstGeom prst="rect">
            <a:avLst/>
          </a:prstGeom>
        </p:spPr>
      </p:pic>
      <p:sp>
        <p:nvSpPr>
          <p:cNvPr id="8" name="文本框 7"/>
          <p:cNvSpPr txBox="1"/>
          <p:nvPr/>
        </p:nvSpPr>
        <p:spPr>
          <a:xfrm>
            <a:off x="11042651" y="1500352"/>
            <a:ext cx="780983" cy="369332"/>
          </a:xfrm>
          <a:prstGeom prst="rect">
            <a:avLst/>
          </a:prstGeom>
          <a:noFill/>
        </p:spPr>
        <p:txBody>
          <a:bodyPr wrap="none" rtlCol="0">
            <a:spAutoFit/>
          </a:bodyPr>
          <a:lstStyle/>
          <a:p>
            <a:r>
              <a:rPr lang="en-US" altLang="zh-CN" dirty="0"/>
              <a:t>128</a:t>
            </a:r>
            <a:r>
              <a:rPr lang="zh-CN" altLang="en-US" dirty="0"/>
              <a:t>层</a:t>
            </a:r>
          </a:p>
        </p:txBody>
      </p:sp>
      <p:sp>
        <p:nvSpPr>
          <p:cNvPr id="9" name="文本框 8"/>
          <p:cNvSpPr txBox="1"/>
          <p:nvPr/>
        </p:nvSpPr>
        <p:spPr>
          <a:xfrm>
            <a:off x="10971735" y="4999202"/>
            <a:ext cx="780983" cy="369332"/>
          </a:xfrm>
          <a:prstGeom prst="rect">
            <a:avLst/>
          </a:prstGeom>
          <a:noFill/>
        </p:spPr>
        <p:txBody>
          <a:bodyPr wrap="none" rtlCol="0">
            <a:spAutoFit/>
          </a:bodyPr>
          <a:lstStyle/>
          <a:p>
            <a:r>
              <a:rPr lang="en-US" altLang="zh-CN" dirty="0"/>
              <a:t>133</a:t>
            </a:r>
            <a:r>
              <a:rPr lang="zh-CN" altLang="en-US" dirty="0"/>
              <a:t>层</a:t>
            </a:r>
          </a:p>
        </p:txBody>
      </p:sp>
    </p:spTree>
    <p:extLst>
      <p:ext uri="{BB962C8B-B14F-4D97-AF65-F5344CB8AC3E}">
        <p14:creationId xmlns:p14="http://schemas.microsoft.com/office/powerpoint/2010/main" val="912192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606448" y="3625249"/>
            <a:ext cx="3232753" cy="3232753"/>
          </a:xfrm>
          <a:prstGeom prst="rect">
            <a:avLst/>
          </a:prstGeom>
        </p:spPr>
      </p:pic>
      <p:pic>
        <p:nvPicPr>
          <p:cNvPr id="3" name="图片 2"/>
          <p:cNvPicPr>
            <a:picLocks noChangeAspect="1"/>
          </p:cNvPicPr>
          <p:nvPr/>
        </p:nvPicPr>
        <p:blipFill>
          <a:blip r:embed="rId3"/>
          <a:stretch>
            <a:fillRect/>
          </a:stretch>
        </p:blipFill>
        <p:spPr>
          <a:xfrm>
            <a:off x="5637292" y="54451"/>
            <a:ext cx="3201908" cy="3201908"/>
          </a:xfrm>
          <a:prstGeom prst="rect">
            <a:avLst/>
          </a:prstGeom>
        </p:spPr>
      </p:pic>
      <p:pic>
        <p:nvPicPr>
          <p:cNvPr id="5" name="图片 4"/>
          <p:cNvPicPr>
            <a:picLocks noChangeAspect="1"/>
          </p:cNvPicPr>
          <p:nvPr/>
        </p:nvPicPr>
        <p:blipFill>
          <a:blip r:embed="rId4"/>
          <a:stretch>
            <a:fillRect/>
          </a:stretch>
        </p:blipFill>
        <p:spPr>
          <a:xfrm>
            <a:off x="517469" y="1651323"/>
            <a:ext cx="5009524" cy="3914286"/>
          </a:xfrm>
          <a:prstGeom prst="rect">
            <a:avLst/>
          </a:prstGeom>
        </p:spPr>
      </p:pic>
      <p:pic>
        <p:nvPicPr>
          <p:cNvPr id="6" name="图片 5"/>
          <p:cNvPicPr>
            <a:picLocks noChangeAspect="1"/>
          </p:cNvPicPr>
          <p:nvPr/>
        </p:nvPicPr>
        <p:blipFill>
          <a:blip r:embed="rId5"/>
          <a:stretch>
            <a:fillRect/>
          </a:stretch>
        </p:blipFill>
        <p:spPr>
          <a:xfrm>
            <a:off x="8980343" y="54451"/>
            <a:ext cx="3213246" cy="3213246"/>
          </a:xfrm>
          <a:prstGeom prst="rect">
            <a:avLst/>
          </a:prstGeom>
        </p:spPr>
      </p:pic>
      <p:sp>
        <p:nvSpPr>
          <p:cNvPr id="8" name="文本框 7"/>
          <p:cNvSpPr txBox="1"/>
          <p:nvPr/>
        </p:nvSpPr>
        <p:spPr>
          <a:xfrm>
            <a:off x="9846319" y="3239133"/>
            <a:ext cx="1481297" cy="369332"/>
          </a:xfrm>
          <a:prstGeom prst="rect">
            <a:avLst/>
          </a:prstGeom>
          <a:noFill/>
        </p:spPr>
        <p:txBody>
          <a:bodyPr wrap="square" rtlCol="0">
            <a:spAutoFit/>
          </a:bodyPr>
          <a:lstStyle/>
          <a:p>
            <a:r>
              <a:rPr lang="en-US" altLang="zh-CN" dirty="0"/>
              <a:t>CLRP 277</a:t>
            </a:r>
            <a:r>
              <a:rPr lang="zh-CN" altLang="en-US" dirty="0"/>
              <a:t>层</a:t>
            </a:r>
          </a:p>
        </p:txBody>
      </p:sp>
      <p:sp>
        <p:nvSpPr>
          <p:cNvPr id="9" name="文本框 8"/>
          <p:cNvSpPr txBox="1"/>
          <p:nvPr/>
        </p:nvSpPr>
        <p:spPr>
          <a:xfrm>
            <a:off x="8980345" y="5196276"/>
            <a:ext cx="1353256" cy="369332"/>
          </a:xfrm>
          <a:prstGeom prst="rect">
            <a:avLst/>
          </a:prstGeom>
          <a:noFill/>
        </p:spPr>
        <p:txBody>
          <a:bodyPr wrap="none" rtlCol="0">
            <a:spAutoFit/>
          </a:bodyPr>
          <a:lstStyle/>
          <a:p>
            <a:r>
              <a:rPr lang="en-US" altLang="zh-CN" dirty="0"/>
              <a:t>CLRP 256</a:t>
            </a:r>
            <a:r>
              <a:rPr lang="zh-CN" altLang="en-US" dirty="0"/>
              <a:t>层</a:t>
            </a:r>
          </a:p>
        </p:txBody>
      </p:sp>
      <p:sp>
        <p:nvSpPr>
          <p:cNvPr id="10" name="文本框 9"/>
          <p:cNvSpPr txBox="1"/>
          <p:nvPr/>
        </p:nvSpPr>
        <p:spPr>
          <a:xfrm>
            <a:off x="6326137" y="3267698"/>
            <a:ext cx="2065388" cy="369332"/>
          </a:xfrm>
          <a:prstGeom prst="rect">
            <a:avLst/>
          </a:prstGeom>
          <a:noFill/>
        </p:spPr>
        <p:txBody>
          <a:bodyPr wrap="square" rtlCol="0">
            <a:spAutoFit/>
          </a:bodyPr>
          <a:lstStyle/>
          <a:p>
            <a:r>
              <a:rPr lang="en-US" altLang="zh-CN" dirty="0"/>
              <a:t>Ideal CLRP</a:t>
            </a:r>
            <a:r>
              <a:rPr lang="zh-CN" altLang="en-US" dirty="0"/>
              <a:t> </a:t>
            </a:r>
            <a:r>
              <a:rPr lang="en-US" altLang="zh-CN" dirty="0"/>
              <a:t>256</a:t>
            </a:r>
            <a:r>
              <a:rPr lang="zh-CN" altLang="en-US" dirty="0"/>
              <a:t>层</a:t>
            </a:r>
          </a:p>
        </p:txBody>
      </p:sp>
    </p:spTree>
    <p:extLst>
      <p:ext uri="{BB962C8B-B14F-4D97-AF65-F5344CB8AC3E}">
        <p14:creationId xmlns:p14="http://schemas.microsoft.com/office/powerpoint/2010/main" val="1024092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19000"/>
          </a:stretch>
        </a:blipFill>
        <a:effectLst/>
      </p:bgPr>
    </p:bg>
    <p:spTree>
      <p:nvGrpSpPr>
        <p:cNvPr id="1" name=""/>
        <p:cNvGrpSpPr/>
        <p:nvPr/>
      </p:nvGrpSpPr>
      <p:grpSpPr>
        <a:xfrm>
          <a:off x="0" y="0"/>
          <a:ext cx="0" cy="0"/>
          <a:chOff x="0" y="0"/>
          <a:chExt cx="0" cy="0"/>
        </a:xfrm>
      </p:grpSpPr>
      <p:sp>
        <p:nvSpPr>
          <p:cNvPr id="4" name="文本框 3"/>
          <p:cNvSpPr txBox="1"/>
          <p:nvPr/>
        </p:nvSpPr>
        <p:spPr>
          <a:xfrm>
            <a:off x="4690535" y="2142069"/>
            <a:ext cx="4792135" cy="2308581"/>
          </a:xfrm>
          <a:prstGeom prst="rect">
            <a:avLst/>
          </a:prstGeom>
          <a:noFill/>
        </p:spPr>
        <p:txBody>
          <a:bodyPr wrap="square" rtlCol="0">
            <a:spAutoFit/>
          </a:bodyPr>
          <a:lstStyle/>
          <a:p>
            <a:r>
              <a:rPr lang="zh-CN" altLang="en-US" sz="7201" b="1" dirty="0">
                <a:ln w="0"/>
                <a:solidFill>
                  <a:schemeClr val="accent2"/>
                </a:solidFill>
                <a:effectLst>
                  <a:outerShdw blurRad="38100" dist="25400" dir="5400000" algn="ctr" rotWithShape="0">
                    <a:srgbClr val="6E747A">
                      <a:alpha val="43000"/>
                    </a:srgbClr>
                  </a:outerShdw>
                </a:effectLst>
              </a:rPr>
              <a:t>第五周</a:t>
            </a:r>
            <a:endParaRPr lang="en-US" altLang="zh-CN" sz="7201" b="1" dirty="0">
              <a:ln w="0"/>
              <a:solidFill>
                <a:schemeClr val="accent2"/>
              </a:solidFill>
              <a:effectLst>
                <a:outerShdw blurRad="38100" dist="25400" dir="5400000" algn="ctr" rotWithShape="0">
                  <a:srgbClr val="6E747A">
                    <a:alpha val="43000"/>
                  </a:srgbClr>
                </a:outerShdw>
              </a:effectLst>
            </a:endParaRPr>
          </a:p>
          <a:p>
            <a:endParaRPr lang="zh-CN" altLang="en-US" sz="7201" b="1" dirty="0">
              <a:ln w="0"/>
              <a:solidFill>
                <a:schemeClr val="accent2"/>
              </a:solidFill>
              <a:effectLst>
                <a:outerShdw blurRad="38100" dist="25400" dir="5400000" algn="ctr" rotWithShape="0">
                  <a:srgbClr val="6E747A">
                    <a:alpha val="43000"/>
                  </a:srgbClr>
                </a:outerShdw>
              </a:effectLst>
            </a:endParaRPr>
          </a:p>
        </p:txBody>
      </p:sp>
      <p:sp>
        <p:nvSpPr>
          <p:cNvPr id="5" name="文本框 4"/>
          <p:cNvSpPr txBox="1"/>
          <p:nvPr/>
        </p:nvSpPr>
        <p:spPr>
          <a:xfrm>
            <a:off x="7532334" y="5435599"/>
            <a:ext cx="4467890" cy="923330"/>
          </a:xfrm>
          <a:prstGeom prst="rect">
            <a:avLst/>
          </a:prstGeom>
          <a:noFill/>
        </p:spPr>
        <p:txBody>
          <a:bodyPr wrap="none" rtlCol="0">
            <a:spAutoFit/>
          </a:bodyPr>
          <a:lstStyle/>
          <a:p>
            <a:r>
              <a:rPr lang="zh-CN" altLang="en-US" dirty="0">
                <a:ln w="0"/>
                <a:solidFill>
                  <a:schemeClr val="accent2"/>
                </a:solidFill>
                <a:effectLst>
                  <a:reflection blurRad="6350" stA="53000" endA="300" endPos="35500" dir="5400000" sy="-90000" algn="bl" rotWithShape="0"/>
                </a:effectLst>
              </a:rPr>
              <a:t>本周目标：</a:t>
            </a:r>
            <a:endParaRPr lang="en-US" altLang="zh-CN" dirty="0">
              <a:ln w="0"/>
              <a:solidFill>
                <a:schemeClr val="accent2"/>
              </a:solidFill>
              <a:effectLst>
                <a:reflection blurRad="6350" stA="53000" endA="300" endPos="35500" dir="5400000" sy="-90000" algn="bl" rotWithShape="0"/>
              </a:effectLst>
            </a:endParaRPr>
          </a:p>
          <a:p>
            <a:pPr marL="342933" indent="-342933">
              <a:buAutoNum type="arabicPeriod"/>
            </a:pPr>
            <a:r>
              <a:rPr lang="zh-CN" altLang="en-US" dirty="0">
                <a:ln w="0"/>
                <a:solidFill>
                  <a:schemeClr val="accent2"/>
                </a:solidFill>
                <a:effectLst>
                  <a:reflection blurRad="6350" stA="53000" endA="300" endPos="35500" dir="5400000" sy="-90000" algn="bl" rotWithShape="0"/>
                </a:effectLst>
              </a:rPr>
              <a:t>理解</a:t>
            </a:r>
            <a:r>
              <a:rPr lang="en-US" altLang="zh-CN" dirty="0" err="1">
                <a:ln w="0"/>
                <a:solidFill>
                  <a:schemeClr val="accent2"/>
                </a:solidFill>
                <a:effectLst>
                  <a:reflection blurRad="6350" stA="53000" endA="300" endPos="35500" dir="5400000" sy="-90000" algn="bl" rotWithShape="0"/>
                </a:effectLst>
              </a:rPr>
              <a:t>tuy</a:t>
            </a:r>
            <a:r>
              <a:rPr lang="zh-CN" altLang="en-US" dirty="0">
                <a:ln w="0"/>
                <a:solidFill>
                  <a:schemeClr val="accent2"/>
                </a:solidFill>
                <a:effectLst>
                  <a:reflection blurRad="6350" stA="53000" endA="300" endPos="35500" dir="5400000" sy="-90000" algn="bl" rotWithShape="0"/>
                </a:effectLst>
              </a:rPr>
              <a:t>条件，</a:t>
            </a:r>
            <a:r>
              <a:rPr lang="en-US" altLang="zh-CN" dirty="0">
                <a:ln w="0"/>
                <a:solidFill>
                  <a:schemeClr val="accent2"/>
                </a:solidFill>
                <a:effectLst>
                  <a:reflection blurRad="6350" stA="53000" endA="300" endPos="35500" dir="5400000" sy="-90000" algn="bl" rotWithShape="0"/>
                </a:effectLst>
              </a:rPr>
              <a:t>FDK</a:t>
            </a:r>
            <a:r>
              <a:rPr lang="zh-CN" altLang="en-US" dirty="0">
                <a:ln w="0"/>
                <a:solidFill>
                  <a:schemeClr val="accent2"/>
                </a:solidFill>
                <a:effectLst>
                  <a:reflection blurRad="6350" stA="53000" endA="300" endPos="35500" dir="5400000" sy="-90000" algn="bl" rotWithShape="0"/>
                </a:effectLst>
              </a:rPr>
              <a:t>为什么不能精确重建</a:t>
            </a:r>
            <a:endParaRPr lang="en-US" altLang="zh-CN" dirty="0">
              <a:ln w="0"/>
              <a:solidFill>
                <a:schemeClr val="accent2"/>
              </a:solidFill>
              <a:effectLst>
                <a:reflection blurRad="6350" stA="53000" endA="300" endPos="35500" dir="5400000" sy="-90000" algn="bl" rotWithShape="0"/>
              </a:effectLst>
            </a:endParaRPr>
          </a:p>
          <a:p>
            <a:pPr marL="342933" indent="-342933">
              <a:buAutoNum type="arabicPeriod"/>
            </a:pPr>
            <a:r>
              <a:rPr lang="zh-CN" altLang="en-US" dirty="0">
                <a:ln w="0"/>
                <a:solidFill>
                  <a:schemeClr val="accent2"/>
                </a:solidFill>
                <a:effectLst>
                  <a:reflection blurRad="6350" stA="53000" endA="300" endPos="35500" dir="5400000" sy="-90000" algn="bl" rotWithShape="0"/>
                </a:effectLst>
              </a:rPr>
              <a:t>读文献根据现有的解决方法想解决思路</a:t>
            </a:r>
          </a:p>
        </p:txBody>
      </p:sp>
      <p:sp>
        <p:nvSpPr>
          <p:cNvPr id="6" name="文本框 5"/>
          <p:cNvSpPr txBox="1"/>
          <p:nvPr/>
        </p:nvSpPr>
        <p:spPr>
          <a:xfrm>
            <a:off x="4978400" y="3296229"/>
            <a:ext cx="2601994" cy="369332"/>
          </a:xfrm>
          <a:prstGeom prst="rect">
            <a:avLst/>
          </a:prstGeom>
          <a:noFill/>
        </p:spPr>
        <p:txBody>
          <a:bodyPr wrap="none" rtlCol="0">
            <a:spAutoFit/>
          </a:bodyPr>
          <a:lstStyle/>
          <a:p>
            <a:r>
              <a:rPr lang="en-US" altLang="zh-CN" b="1" spc="50" dirty="0">
                <a:ln w="9525" cmpd="sng">
                  <a:solidFill>
                    <a:schemeClr val="accent1"/>
                  </a:solidFill>
                  <a:prstDash val="solid"/>
                </a:ln>
                <a:solidFill>
                  <a:srgbClr val="70AD47">
                    <a:tint val="1000"/>
                  </a:srgbClr>
                </a:solidFill>
                <a:effectLst>
                  <a:glow rad="38100">
                    <a:schemeClr val="accent1">
                      <a:alpha val="40000"/>
                    </a:schemeClr>
                  </a:glow>
                </a:effectLst>
              </a:rPr>
              <a:t>2024/9/13-2024/9/20</a:t>
            </a:r>
            <a:endParaRPr lang="zh-CN" altLang="en-US"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2653081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5632" y="322325"/>
            <a:ext cx="12156368" cy="6266045"/>
          </a:xfrm>
          <a:prstGeom prst="rect">
            <a:avLst/>
          </a:prstGeom>
        </p:spPr>
      </p:pic>
    </p:spTree>
    <p:extLst>
      <p:ext uri="{BB962C8B-B14F-4D97-AF65-F5344CB8AC3E}">
        <p14:creationId xmlns:p14="http://schemas.microsoft.com/office/powerpoint/2010/main" val="276445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 y="517896"/>
            <a:ext cx="7038094" cy="5923809"/>
          </a:xfrm>
          <a:prstGeom prst="rect">
            <a:avLst/>
          </a:prstGeom>
        </p:spPr>
      </p:pic>
      <p:graphicFrame>
        <p:nvGraphicFramePr>
          <p:cNvPr id="3" name="表格 2"/>
          <p:cNvGraphicFramePr>
            <a:graphicFrameLocks noGrp="1"/>
          </p:cNvGraphicFramePr>
          <p:nvPr>
            <p:extLst>
              <p:ext uri="{D42A27DB-BD31-4B8C-83A1-F6EECF244321}">
                <p14:modId xmlns:p14="http://schemas.microsoft.com/office/powerpoint/2010/main" val="3987574898"/>
              </p:ext>
            </p:extLst>
          </p:nvPr>
        </p:nvGraphicFramePr>
        <p:xfrm>
          <a:off x="7537937" y="14519"/>
          <a:ext cx="4400063" cy="2887677"/>
        </p:xfrm>
        <a:graphic>
          <a:graphicData uri="http://schemas.openxmlformats.org/drawingml/2006/table">
            <a:tbl>
              <a:tblPr/>
              <a:tblGrid>
                <a:gridCol w="2200031">
                  <a:extLst>
                    <a:ext uri="{9D8B030D-6E8A-4147-A177-3AD203B41FA5}">
                      <a16:colId xmlns:a16="http://schemas.microsoft.com/office/drawing/2014/main" val="1719843147"/>
                    </a:ext>
                  </a:extLst>
                </a:gridCol>
                <a:gridCol w="2200031">
                  <a:extLst>
                    <a:ext uri="{9D8B030D-6E8A-4147-A177-3AD203B41FA5}">
                      <a16:colId xmlns:a16="http://schemas.microsoft.com/office/drawing/2014/main" val="3644860309"/>
                    </a:ext>
                  </a:extLst>
                </a:gridCol>
              </a:tblGrid>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参数名称 </a:t>
                      </a:r>
                      <a:endParaRPr lang="zh-CN" altLang="en-US" sz="1100">
                        <a:effectLst/>
                      </a:endParaRPr>
                    </a:p>
                  </a:txBody>
                  <a:tcPr marL="91441" marR="91441" anchor="ctr">
                    <a:lnL>
                      <a:noFill/>
                    </a:lnL>
                    <a:lnR>
                      <a:noFill/>
                    </a:lnR>
                    <a:lnT>
                      <a:noFill/>
                    </a:lnT>
                    <a:lnB>
                      <a:noFill/>
                    </a:lnB>
                  </a:tcPr>
                </a:tc>
                <a:tc>
                  <a:txBody>
                    <a:bodyPr/>
                    <a:lstStyle/>
                    <a:p>
                      <a:r>
                        <a:rPr lang="zh-CN" altLang="en-US" sz="1000" b="0" i="0">
                          <a:solidFill>
                            <a:srgbClr val="000000"/>
                          </a:solidFill>
                          <a:effectLst/>
                          <a:latin typeface="SimSun" panose="02010600030101010101" pitchFamily="2" charset="-122"/>
                          <a:ea typeface="SimSun" panose="02010600030101010101" pitchFamily="2" charset="-122"/>
                        </a:rPr>
                        <a:t>参数值</a:t>
                      </a:r>
                    </a:p>
                  </a:txBody>
                  <a:tcPr marL="91441" marR="91441" anchor="ctr">
                    <a:lnL>
                      <a:noFill/>
                    </a:lnL>
                    <a:lnR>
                      <a:noFill/>
                    </a:lnR>
                    <a:lnT>
                      <a:noFill/>
                    </a:lnT>
                    <a:lnB>
                      <a:noFill/>
                    </a:lnB>
                  </a:tcPr>
                </a:tc>
                <a:extLst>
                  <a:ext uri="{0D108BD9-81ED-4DB2-BD59-A6C34878D82A}">
                    <a16:rowId xmlns:a16="http://schemas.microsoft.com/office/drawing/2014/main" val="3262623594"/>
                  </a:ext>
                </a:extLst>
              </a:tr>
              <a:tr h="320854">
                <a:tc>
                  <a:txBody>
                    <a:bodyPr/>
                    <a:lstStyle/>
                    <a:p>
                      <a:r>
                        <a:rPr lang="zh-CN" altLang="en-US" sz="1000" b="0" i="0" dirty="0">
                          <a:solidFill>
                            <a:srgbClr val="000000"/>
                          </a:solidFill>
                          <a:effectLst/>
                          <a:latin typeface="SimSun" panose="02010600030101010101" pitchFamily="2" charset="-122"/>
                          <a:ea typeface="SimSun" panose="02010600030101010101" pitchFamily="2" charset="-122"/>
                        </a:rPr>
                        <a:t>旋转轴倾斜角 </a:t>
                      </a:r>
                      <a:endParaRPr lang="zh-CN" altLang="en-US" sz="1100" dirty="0">
                        <a:effectLst/>
                      </a:endParaRPr>
                    </a:p>
                  </a:txBody>
                  <a:tcPr marL="91441" marR="91441" anchor="ctr">
                    <a:lnL>
                      <a:noFill/>
                    </a:lnL>
                    <a:lnR>
                      <a:noFill/>
                    </a:lnR>
                    <a:lnT>
                      <a:noFill/>
                    </a:lnT>
                    <a:lnB>
                      <a:noFill/>
                    </a:lnB>
                  </a:tcPr>
                </a:tc>
                <a:tc>
                  <a:txBody>
                    <a:bodyPr/>
                    <a:lstStyle/>
                    <a:p>
                      <a:r>
                        <a:rPr lang="en-US" altLang="zh-CN" sz="1000" b="0" i="0">
                          <a:solidFill>
                            <a:srgbClr val="000000"/>
                          </a:solidFill>
                          <a:effectLst/>
                          <a:latin typeface="TimesNewRomanPSMT"/>
                        </a:rPr>
                        <a:t>75</a:t>
                      </a:r>
                      <a:r>
                        <a:rPr lang="en-US" altLang="zh-CN" sz="1000" b="0" i="0">
                          <a:solidFill>
                            <a:srgbClr val="000000"/>
                          </a:solidFill>
                          <a:effectLst/>
                          <a:latin typeface="SimSun" panose="02010600030101010101" pitchFamily="2" charset="-122"/>
                          <a:ea typeface="SimSun" panose="02010600030101010101" pitchFamily="2" charset="-122"/>
                        </a:rPr>
                        <a:t>°</a:t>
                      </a:r>
                    </a:p>
                  </a:txBody>
                  <a:tcPr marL="91441" marR="91441" anchor="ctr">
                    <a:lnL>
                      <a:noFill/>
                    </a:lnL>
                    <a:lnR>
                      <a:noFill/>
                    </a:lnR>
                    <a:lnT>
                      <a:noFill/>
                    </a:lnT>
                    <a:lnB>
                      <a:noFill/>
                    </a:lnB>
                  </a:tcPr>
                </a:tc>
                <a:extLst>
                  <a:ext uri="{0D108BD9-81ED-4DB2-BD59-A6C34878D82A}">
                    <a16:rowId xmlns:a16="http://schemas.microsoft.com/office/drawing/2014/main" val="2642100416"/>
                  </a:ext>
                </a:extLst>
              </a:tr>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射线源至旋转中心距离 </a:t>
                      </a:r>
                      <a:endParaRPr lang="zh-CN" altLang="en-US" sz="1100">
                        <a:effectLst/>
                      </a:endParaRPr>
                    </a:p>
                  </a:txBody>
                  <a:tcPr marL="91441" marR="91441" anchor="ctr">
                    <a:lnL>
                      <a:noFill/>
                    </a:lnL>
                    <a:lnR>
                      <a:noFill/>
                    </a:lnR>
                    <a:lnT>
                      <a:noFill/>
                    </a:lnT>
                    <a:lnB>
                      <a:noFill/>
                    </a:lnB>
                  </a:tcPr>
                </a:tc>
                <a:tc>
                  <a:txBody>
                    <a:bodyPr/>
                    <a:lstStyle/>
                    <a:p>
                      <a:r>
                        <a:rPr lang="en-US" sz="1000" b="0" i="0">
                          <a:solidFill>
                            <a:srgbClr val="000000"/>
                          </a:solidFill>
                          <a:effectLst/>
                          <a:latin typeface="TimesNewRomanPSMT"/>
                        </a:rPr>
                        <a:t>900mm</a:t>
                      </a:r>
                    </a:p>
                  </a:txBody>
                  <a:tcPr marL="91441" marR="91441" anchor="ctr">
                    <a:lnL>
                      <a:noFill/>
                    </a:lnL>
                    <a:lnR>
                      <a:noFill/>
                    </a:lnR>
                    <a:lnT>
                      <a:noFill/>
                    </a:lnT>
                    <a:lnB>
                      <a:noFill/>
                    </a:lnB>
                  </a:tcPr>
                </a:tc>
                <a:extLst>
                  <a:ext uri="{0D108BD9-81ED-4DB2-BD59-A6C34878D82A}">
                    <a16:rowId xmlns:a16="http://schemas.microsoft.com/office/drawing/2014/main" val="1960802710"/>
                  </a:ext>
                </a:extLst>
              </a:tr>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射线源至探测器中心距离 </a:t>
                      </a:r>
                      <a:endParaRPr lang="zh-CN" altLang="en-US" sz="1100">
                        <a:effectLst/>
                      </a:endParaRPr>
                    </a:p>
                  </a:txBody>
                  <a:tcPr marL="91441" marR="91441" anchor="ctr">
                    <a:lnL>
                      <a:noFill/>
                    </a:lnL>
                    <a:lnR>
                      <a:noFill/>
                    </a:lnR>
                    <a:lnT>
                      <a:noFill/>
                    </a:lnT>
                    <a:lnB>
                      <a:noFill/>
                    </a:lnB>
                  </a:tcPr>
                </a:tc>
                <a:tc>
                  <a:txBody>
                    <a:bodyPr/>
                    <a:lstStyle/>
                    <a:p>
                      <a:r>
                        <a:rPr lang="en-US" sz="1000" b="0" i="0">
                          <a:solidFill>
                            <a:srgbClr val="000000"/>
                          </a:solidFill>
                          <a:effectLst/>
                          <a:latin typeface="TimesNewRomanPSMT"/>
                        </a:rPr>
                        <a:t>1700mm</a:t>
                      </a:r>
                    </a:p>
                  </a:txBody>
                  <a:tcPr marL="91441" marR="91441" anchor="ctr">
                    <a:lnL>
                      <a:noFill/>
                    </a:lnL>
                    <a:lnR>
                      <a:noFill/>
                    </a:lnR>
                    <a:lnT>
                      <a:noFill/>
                    </a:lnT>
                    <a:lnB>
                      <a:noFill/>
                    </a:lnB>
                  </a:tcPr>
                </a:tc>
                <a:extLst>
                  <a:ext uri="{0D108BD9-81ED-4DB2-BD59-A6C34878D82A}">
                    <a16:rowId xmlns:a16="http://schemas.microsoft.com/office/drawing/2014/main" val="509639930"/>
                  </a:ext>
                </a:extLst>
              </a:tr>
              <a:tr h="320854">
                <a:tc>
                  <a:txBody>
                    <a:bodyPr/>
                    <a:lstStyle/>
                    <a:p>
                      <a:r>
                        <a:rPr lang="zh-CN" altLang="en-US" sz="1000" b="0" i="0" dirty="0">
                          <a:solidFill>
                            <a:srgbClr val="000000"/>
                          </a:solidFill>
                          <a:effectLst/>
                          <a:latin typeface="SimSun" panose="02010600030101010101" pitchFamily="2" charset="-122"/>
                          <a:ea typeface="SimSun" panose="02010600030101010101" pitchFamily="2" charset="-122"/>
                        </a:rPr>
                        <a:t>旋转角步进 </a:t>
                      </a:r>
                      <a:endParaRPr lang="zh-CN" altLang="en-US" sz="1100" dirty="0">
                        <a:effectLst/>
                      </a:endParaRPr>
                    </a:p>
                  </a:txBody>
                  <a:tcPr marL="91441" marR="91441" anchor="ctr">
                    <a:lnL>
                      <a:noFill/>
                    </a:lnL>
                    <a:lnR>
                      <a:noFill/>
                    </a:lnR>
                    <a:lnT>
                      <a:noFill/>
                    </a:lnT>
                    <a:lnB>
                      <a:noFill/>
                    </a:lnB>
                  </a:tcPr>
                </a:tc>
                <a:tc>
                  <a:txBody>
                    <a:bodyPr/>
                    <a:lstStyle/>
                    <a:p>
                      <a:r>
                        <a:rPr lang="en-US" altLang="zh-CN" sz="1000" b="0" i="0">
                          <a:solidFill>
                            <a:srgbClr val="000000"/>
                          </a:solidFill>
                          <a:effectLst/>
                          <a:latin typeface="TimesNewRomanPSMT"/>
                        </a:rPr>
                        <a:t>1</a:t>
                      </a:r>
                      <a:r>
                        <a:rPr lang="en-US" altLang="zh-CN" sz="1000" b="0" i="0">
                          <a:solidFill>
                            <a:srgbClr val="000000"/>
                          </a:solidFill>
                          <a:effectLst/>
                          <a:latin typeface="SimSun" panose="02010600030101010101" pitchFamily="2" charset="-122"/>
                          <a:ea typeface="SimSun" panose="02010600030101010101" pitchFamily="2" charset="-122"/>
                        </a:rPr>
                        <a:t>°</a:t>
                      </a:r>
                    </a:p>
                  </a:txBody>
                  <a:tcPr marL="91441" marR="91441" anchor="ctr">
                    <a:lnL>
                      <a:noFill/>
                    </a:lnL>
                    <a:lnR>
                      <a:noFill/>
                    </a:lnR>
                    <a:lnT>
                      <a:noFill/>
                    </a:lnT>
                    <a:lnB>
                      <a:noFill/>
                    </a:lnB>
                  </a:tcPr>
                </a:tc>
                <a:extLst>
                  <a:ext uri="{0D108BD9-81ED-4DB2-BD59-A6C34878D82A}">
                    <a16:rowId xmlns:a16="http://schemas.microsoft.com/office/drawing/2014/main" val="2895632181"/>
                  </a:ext>
                </a:extLst>
              </a:tr>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探测器尺寸 </a:t>
                      </a:r>
                      <a:endParaRPr lang="zh-CN" altLang="en-US" sz="1100">
                        <a:effectLst/>
                      </a:endParaRPr>
                    </a:p>
                  </a:txBody>
                  <a:tcPr marL="91441" marR="91441" anchor="ctr">
                    <a:lnL>
                      <a:noFill/>
                    </a:lnL>
                    <a:lnR>
                      <a:noFill/>
                    </a:lnR>
                    <a:lnT>
                      <a:noFill/>
                    </a:lnT>
                    <a:lnB>
                      <a:noFill/>
                    </a:lnB>
                  </a:tcPr>
                </a:tc>
                <a:tc>
                  <a:txBody>
                    <a:bodyPr/>
                    <a:lstStyle/>
                    <a:p>
                      <a:r>
                        <a:rPr lang="en-US" sz="1000" b="0" i="0">
                          <a:solidFill>
                            <a:srgbClr val="000000"/>
                          </a:solidFill>
                          <a:effectLst/>
                          <a:latin typeface="TimesNewRomanPSMT"/>
                        </a:rPr>
                        <a:t>1024mm×1024mm</a:t>
                      </a:r>
                    </a:p>
                  </a:txBody>
                  <a:tcPr marL="91441" marR="91441" anchor="ctr">
                    <a:lnL>
                      <a:noFill/>
                    </a:lnL>
                    <a:lnR>
                      <a:noFill/>
                    </a:lnR>
                    <a:lnT>
                      <a:noFill/>
                    </a:lnT>
                    <a:lnB>
                      <a:noFill/>
                    </a:lnB>
                  </a:tcPr>
                </a:tc>
                <a:extLst>
                  <a:ext uri="{0D108BD9-81ED-4DB2-BD59-A6C34878D82A}">
                    <a16:rowId xmlns:a16="http://schemas.microsoft.com/office/drawing/2014/main" val="2973345370"/>
                  </a:ext>
                </a:extLst>
              </a:tr>
              <a:tr h="320854">
                <a:tc>
                  <a:txBody>
                    <a:bodyPr/>
                    <a:lstStyle/>
                    <a:p>
                      <a:r>
                        <a:rPr lang="zh-CN" altLang="en-US" sz="1000" b="0" i="0" dirty="0">
                          <a:solidFill>
                            <a:srgbClr val="000000"/>
                          </a:solidFill>
                          <a:effectLst/>
                          <a:latin typeface="SimSun" panose="02010600030101010101" pitchFamily="2" charset="-122"/>
                          <a:ea typeface="SimSun" panose="02010600030101010101" pitchFamily="2" charset="-122"/>
                        </a:rPr>
                        <a:t>探测器像素尺寸 </a:t>
                      </a:r>
                      <a:endParaRPr lang="zh-CN" altLang="en-US" sz="1100" dirty="0">
                        <a:effectLst/>
                      </a:endParaRPr>
                    </a:p>
                  </a:txBody>
                  <a:tcPr marL="91441" marR="91441" anchor="ctr">
                    <a:lnL>
                      <a:noFill/>
                    </a:lnL>
                    <a:lnR>
                      <a:noFill/>
                    </a:lnR>
                    <a:lnT>
                      <a:noFill/>
                    </a:lnT>
                    <a:lnB>
                      <a:noFill/>
                    </a:lnB>
                  </a:tcPr>
                </a:tc>
                <a:tc>
                  <a:txBody>
                    <a:bodyPr/>
                    <a:lstStyle/>
                    <a:p>
                      <a:r>
                        <a:rPr lang="en-US" sz="1000" b="0" i="0">
                          <a:solidFill>
                            <a:srgbClr val="000000"/>
                          </a:solidFill>
                          <a:effectLst/>
                          <a:latin typeface="TimesNewRomanPSMT"/>
                        </a:rPr>
                        <a:t>2mm×2mm</a:t>
                      </a:r>
                    </a:p>
                  </a:txBody>
                  <a:tcPr marL="91441" marR="91441" anchor="ctr">
                    <a:lnL>
                      <a:noFill/>
                    </a:lnL>
                    <a:lnR>
                      <a:noFill/>
                    </a:lnR>
                    <a:lnT>
                      <a:noFill/>
                    </a:lnT>
                    <a:lnB>
                      <a:noFill/>
                    </a:lnB>
                  </a:tcPr>
                </a:tc>
                <a:extLst>
                  <a:ext uri="{0D108BD9-81ED-4DB2-BD59-A6C34878D82A}">
                    <a16:rowId xmlns:a16="http://schemas.microsoft.com/office/drawing/2014/main" val="597092507"/>
                  </a:ext>
                </a:extLst>
              </a:tr>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模型重建尺寸 </a:t>
                      </a:r>
                      <a:endParaRPr lang="zh-CN" altLang="en-US" sz="1100">
                        <a:effectLst/>
                      </a:endParaRPr>
                    </a:p>
                  </a:txBody>
                  <a:tcPr marL="91441" marR="91441" anchor="ctr">
                    <a:lnL>
                      <a:noFill/>
                    </a:lnL>
                    <a:lnR>
                      <a:noFill/>
                    </a:lnR>
                    <a:lnT>
                      <a:noFill/>
                    </a:lnT>
                    <a:lnB>
                      <a:noFill/>
                    </a:lnB>
                  </a:tcPr>
                </a:tc>
                <a:tc>
                  <a:txBody>
                    <a:bodyPr/>
                    <a:lstStyle/>
                    <a:p>
                      <a:r>
                        <a:rPr lang="en-US" sz="1000" b="0" i="0">
                          <a:solidFill>
                            <a:srgbClr val="000000"/>
                          </a:solidFill>
                          <a:effectLst/>
                          <a:latin typeface="TimesNewRomanPSMT"/>
                        </a:rPr>
                        <a:t>323mm×378mm×102mm</a:t>
                      </a:r>
                    </a:p>
                  </a:txBody>
                  <a:tcPr marL="91441" marR="91441" anchor="ctr">
                    <a:lnL>
                      <a:noFill/>
                    </a:lnL>
                    <a:lnR>
                      <a:noFill/>
                    </a:lnR>
                    <a:lnT>
                      <a:noFill/>
                    </a:lnT>
                    <a:lnB>
                      <a:noFill/>
                    </a:lnB>
                  </a:tcPr>
                </a:tc>
                <a:extLst>
                  <a:ext uri="{0D108BD9-81ED-4DB2-BD59-A6C34878D82A}">
                    <a16:rowId xmlns:a16="http://schemas.microsoft.com/office/drawing/2014/main" val="1803247072"/>
                  </a:ext>
                </a:extLst>
              </a:tr>
              <a:tr h="320854">
                <a:tc>
                  <a:txBody>
                    <a:bodyPr/>
                    <a:lstStyle/>
                    <a:p>
                      <a:r>
                        <a:rPr lang="zh-CN" altLang="en-US" sz="1000" b="0" i="0">
                          <a:solidFill>
                            <a:srgbClr val="000000"/>
                          </a:solidFill>
                          <a:effectLst/>
                          <a:latin typeface="SimSun" panose="02010600030101010101" pitchFamily="2" charset="-122"/>
                          <a:ea typeface="SimSun" panose="02010600030101010101" pitchFamily="2" charset="-122"/>
                        </a:rPr>
                        <a:t>重建体素尺寸 </a:t>
                      </a:r>
                      <a:endParaRPr lang="zh-CN" altLang="en-US" sz="1100">
                        <a:effectLst/>
                      </a:endParaRPr>
                    </a:p>
                  </a:txBody>
                  <a:tcPr marL="91441" marR="91441" anchor="ctr">
                    <a:lnL>
                      <a:noFill/>
                    </a:lnL>
                    <a:lnR>
                      <a:noFill/>
                    </a:lnR>
                    <a:lnT>
                      <a:noFill/>
                    </a:lnT>
                    <a:lnB>
                      <a:noFill/>
                    </a:lnB>
                  </a:tcPr>
                </a:tc>
                <a:tc>
                  <a:txBody>
                    <a:bodyPr/>
                    <a:lstStyle/>
                    <a:p>
                      <a:r>
                        <a:rPr lang="en-US" sz="1000" b="0" i="0" dirty="0">
                          <a:solidFill>
                            <a:srgbClr val="000000"/>
                          </a:solidFill>
                          <a:effectLst/>
                          <a:latin typeface="TimesNewRomanPSMT"/>
                        </a:rPr>
                        <a:t>1mm×1mm×1mm</a:t>
                      </a:r>
                      <a:endParaRPr lang="en-US" sz="1100" dirty="0">
                        <a:effectLst/>
                      </a:endParaRPr>
                    </a:p>
                  </a:txBody>
                  <a:tcPr marL="91441" marR="91441" anchor="ctr">
                    <a:lnL>
                      <a:noFill/>
                    </a:lnL>
                    <a:lnR>
                      <a:noFill/>
                    </a:lnR>
                    <a:lnT>
                      <a:noFill/>
                    </a:lnT>
                    <a:lnB>
                      <a:noFill/>
                    </a:lnB>
                  </a:tcPr>
                </a:tc>
                <a:extLst>
                  <a:ext uri="{0D108BD9-81ED-4DB2-BD59-A6C34878D82A}">
                    <a16:rowId xmlns:a16="http://schemas.microsoft.com/office/drawing/2014/main" val="1829560677"/>
                  </a:ext>
                </a:extLst>
              </a:tr>
            </a:tbl>
          </a:graphicData>
        </a:graphic>
      </p:graphicFrame>
      <p:sp>
        <p:nvSpPr>
          <p:cNvPr id="4" name="Rectangle 1"/>
          <p:cNvSpPr>
            <a:spLocks noChangeArrowheads="1"/>
          </p:cNvSpPr>
          <p:nvPr/>
        </p:nvSpPr>
        <p:spPr bwMode="auto">
          <a:xfrm>
            <a:off x="7467601" y="-212145"/>
            <a:ext cx="1847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1" tIns="45720" rIns="91441" bIns="45720" numCol="1" anchor="ctr" anchorCtr="0" compatLnSpc="1">
            <a:prstTxWarp prst="textNoShape">
              <a:avLst/>
            </a:prstTxWarp>
            <a:spAutoFit/>
          </a:bodyPr>
          <a:lstStyle/>
          <a:p>
            <a:pPr defTabSz="914488" eaLnBrk="0" fontAlgn="base" hangingPunct="0">
              <a:spcBef>
                <a:spcPct val="0"/>
              </a:spcBef>
              <a:spcAft>
                <a:spcPct val="0"/>
              </a:spcAft>
            </a:pPr>
            <a:r>
              <a:rPr lang="zh-CN" altLang="zh-CN">
                <a:latin typeface="Arial" panose="020B0604020202020204" pitchFamily="34" charset="0"/>
              </a:rPr>
              <a:t/>
            </a:r>
            <a:br>
              <a:rPr lang="zh-CN" altLang="zh-CN">
                <a:latin typeface="Arial" panose="020B0604020202020204" pitchFamily="34" charset="0"/>
              </a:rPr>
            </a:br>
            <a:endParaRPr lang="zh-CN" altLang="zh-CN">
              <a:latin typeface="Arial" panose="020B0604020202020204" pitchFamily="34" charset="0"/>
            </a:endParaRPr>
          </a:p>
        </p:txBody>
      </p:sp>
      <p:sp>
        <p:nvSpPr>
          <p:cNvPr id="5" name="矩形 4"/>
          <p:cNvSpPr/>
          <p:nvPr/>
        </p:nvSpPr>
        <p:spPr>
          <a:xfrm>
            <a:off x="7283937" y="2887683"/>
            <a:ext cx="4908062" cy="3970318"/>
          </a:xfrm>
          <a:prstGeom prst="rect">
            <a:avLst/>
          </a:prstGeom>
        </p:spPr>
        <p:txBody>
          <a:bodyPr wrap="square">
            <a:spAutoFit/>
          </a:bodyPr>
          <a:lstStyle/>
          <a:p>
            <a:r>
              <a:rPr lang="en-US" altLang="zh-CN" dirty="0">
                <a:solidFill>
                  <a:srgbClr val="000000"/>
                </a:solidFill>
                <a:latin typeface="TimesNewRomanPSMT"/>
              </a:rPr>
              <a:t>FDK </a:t>
            </a:r>
            <a:r>
              <a:rPr lang="zh-CN" altLang="en-US" dirty="0">
                <a:solidFill>
                  <a:srgbClr val="000000"/>
                </a:solidFill>
                <a:latin typeface="SimSun" panose="02010600030101010101" pitchFamily="2" charset="-122"/>
                <a:ea typeface="SimSun" panose="02010600030101010101" pitchFamily="2" charset="-122"/>
              </a:rPr>
              <a:t>和本算法重建的第 </a:t>
            </a:r>
            <a:r>
              <a:rPr lang="en-US" altLang="zh-CN" dirty="0">
                <a:solidFill>
                  <a:srgbClr val="000000"/>
                </a:solidFill>
                <a:latin typeface="TimesNewRomanPSMT"/>
              </a:rPr>
              <a:t>6</a:t>
            </a:r>
            <a:r>
              <a:rPr lang="zh-CN" altLang="en-US" dirty="0">
                <a:solidFill>
                  <a:srgbClr val="000000"/>
                </a:solidFill>
                <a:latin typeface="SimSun" panose="02010600030101010101" pitchFamily="2" charset="-122"/>
                <a:ea typeface="SimSun" panose="02010600030101010101" pitchFamily="2" charset="-122"/>
              </a:rPr>
              <a:t>、</a:t>
            </a:r>
            <a:r>
              <a:rPr lang="en-US" altLang="zh-CN" dirty="0">
                <a:solidFill>
                  <a:srgbClr val="000000"/>
                </a:solidFill>
                <a:latin typeface="TimesNewRomanPSMT"/>
              </a:rPr>
              <a:t>24</a:t>
            </a:r>
            <a:r>
              <a:rPr lang="zh-CN" altLang="en-US" dirty="0">
                <a:solidFill>
                  <a:srgbClr val="000000"/>
                </a:solidFill>
                <a:latin typeface="SimSun" panose="02010600030101010101" pitchFamily="2" charset="-122"/>
                <a:ea typeface="SimSun" panose="02010600030101010101" pitchFamily="2" charset="-122"/>
              </a:rPr>
              <a:t>、</a:t>
            </a:r>
            <a:r>
              <a:rPr lang="en-US" altLang="zh-CN" dirty="0">
                <a:solidFill>
                  <a:srgbClr val="000000"/>
                </a:solidFill>
                <a:latin typeface="TimesNewRomanPSMT"/>
              </a:rPr>
              <a:t>42</a:t>
            </a:r>
            <a:r>
              <a:rPr lang="zh-CN" altLang="en-US" dirty="0">
                <a:solidFill>
                  <a:srgbClr val="000000"/>
                </a:solidFill>
                <a:latin typeface="SimSun" panose="02010600030101010101" pitchFamily="2" charset="-122"/>
                <a:ea typeface="SimSun" panose="02010600030101010101" pitchFamily="2" charset="-122"/>
              </a:rPr>
              <a:t>、</a:t>
            </a:r>
            <a:r>
              <a:rPr lang="en-US" altLang="zh-CN" dirty="0">
                <a:solidFill>
                  <a:srgbClr val="000000"/>
                </a:solidFill>
                <a:latin typeface="TimesNewRomanPSMT"/>
              </a:rPr>
              <a:t>60</a:t>
            </a:r>
            <a:r>
              <a:rPr lang="zh-CN" altLang="en-US" dirty="0">
                <a:solidFill>
                  <a:srgbClr val="000000"/>
                </a:solidFill>
                <a:latin typeface="SimSun" panose="02010600030101010101" pitchFamily="2" charset="-122"/>
                <a:ea typeface="SimSun" panose="02010600030101010101" pitchFamily="2" charset="-122"/>
              </a:rPr>
              <a:t>、</a:t>
            </a:r>
            <a:r>
              <a:rPr lang="en-US" altLang="zh-CN" dirty="0">
                <a:solidFill>
                  <a:srgbClr val="000000"/>
                </a:solidFill>
                <a:latin typeface="TimesNewRomanPSMT"/>
              </a:rPr>
              <a:t>78 </a:t>
            </a:r>
            <a:r>
              <a:rPr lang="zh-CN" altLang="en-US" dirty="0">
                <a:solidFill>
                  <a:srgbClr val="000000"/>
                </a:solidFill>
                <a:latin typeface="SimSun" panose="02010600030101010101" pitchFamily="2" charset="-122"/>
                <a:ea typeface="SimSun" panose="02010600030101010101" pitchFamily="2" charset="-122"/>
              </a:rPr>
              <a:t>和</a:t>
            </a:r>
            <a:r>
              <a:rPr lang="en-US" altLang="zh-CN" dirty="0">
                <a:solidFill>
                  <a:srgbClr val="000000"/>
                </a:solidFill>
                <a:latin typeface="TimesNewRomanPSMT"/>
              </a:rPr>
              <a:t>96 </a:t>
            </a:r>
            <a:r>
              <a:rPr lang="zh-CN" altLang="en-US" dirty="0">
                <a:solidFill>
                  <a:srgbClr val="000000"/>
                </a:solidFill>
                <a:latin typeface="SimSun" panose="02010600030101010101" pitchFamily="2" charset="-122"/>
                <a:ea typeface="SimSun" panose="02010600030101010101" pitchFamily="2" charset="-122"/>
              </a:rPr>
              <a:t>层图像。可见由于转换后的等效 </a:t>
            </a:r>
            <a:r>
              <a:rPr lang="en-US" altLang="zh-CN" dirty="0">
                <a:solidFill>
                  <a:srgbClr val="000000"/>
                </a:solidFill>
                <a:latin typeface="TimesNewRomanPSMT"/>
              </a:rPr>
              <a:t>CT </a:t>
            </a:r>
            <a:r>
              <a:rPr lang="zh-CN" altLang="en-US" dirty="0">
                <a:solidFill>
                  <a:srgbClr val="000000"/>
                </a:solidFill>
                <a:latin typeface="SimSun" panose="02010600030101010101" pitchFamily="2" charset="-122"/>
                <a:ea typeface="SimSun" panose="02010600030101010101" pitchFamily="2" charset="-122"/>
              </a:rPr>
              <a:t>投影锥角增大，各层重建图像均出现了灰度下降的现象。图 </a:t>
            </a:r>
            <a:r>
              <a:rPr lang="en-US" altLang="zh-CN" dirty="0">
                <a:solidFill>
                  <a:srgbClr val="000000"/>
                </a:solidFill>
                <a:latin typeface="TimesNewRomanPSMT"/>
              </a:rPr>
              <a:t>4.8 </a:t>
            </a:r>
            <a:r>
              <a:rPr lang="zh-CN" altLang="en-US" dirty="0">
                <a:solidFill>
                  <a:srgbClr val="000000"/>
                </a:solidFill>
                <a:latin typeface="SimSun" panose="02010600030101010101" pitchFamily="2" charset="-122"/>
                <a:ea typeface="SimSun" panose="02010600030101010101" pitchFamily="2" charset="-122"/>
              </a:rPr>
              <a:t>以其中一层为例进行了可视化分析。图 </a:t>
            </a:r>
            <a:r>
              <a:rPr lang="en-US" altLang="zh-CN" dirty="0">
                <a:solidFill>
                  <a:srgbClr val="000000"/>
                </a:solidFill>
                <a:latin typeface="TimesNewRomanPSMT"/>
              </a:rPr>
              <a:t>4.8 (a)</a:t>
            </a:r>
            <a:r>
              <a:rPr lang="zh-CN" altLang="en-US" dirty="0">
                <a:solidFill>
                  <a:srgbClr val="000000"/>
                </a:solidFill>
                <a:latin typeface="SimSun" panose="02010600030101010101" pitchFamily="2" charset="-122"/>
                <a:ea typeface="SimSun" panose="02010600030101010101" pitchFamily="2" charset="-122"/>
              </a:rPr>
              <a:t>和</a:t>
            </a:r>
            <a:r>
              <a:rPr lang="en-US" altLang="zh-CN" dirty="0">
                <a:solidFill>
                  <a:srgbClr val="000000"/>
                </a:solidFill>
                <a:latin typeface="TimesNewRomanPSMT"/>
              </a:rPr>
              <a:t>(b)</a:t>
            </a:r>
            <a:r>
              <a:rPr lang="zh-CN" altLang="en-US" dirty="0">
                <a:solidFill>
                  <a:srgbClr val="000000"/>
                </a:solidFill>
                <a:latin typeface="SimSun" panose="02010600030101010101" pitchFamily="2" charset="-122"/>
                <a:ea typeface="SimSun" panose="02010600030101010101" pitchFamily="2" charset="-122"/>
              </a:rPr>
              <a:t>分别对应 </a:t>
            </a:r>
            <a:r>
              <a:rPr lang="en-US" altLang="zh-CN" dirty="0">
                <a:solidFill>
                  <a:srgbClr val="000000"/>
                </a:solidFill>
                <a:latin typeface="TimesNewRomanPSMT"/>
              </a:rPr>
              <a:t>FDK </a:t>
            </a:r>
            <a:r>
              <a:rPr lang="zh-CN" altLang="en-US" dirty="0">
                <a:solidFill>
                  <a:srgbClr val="000000"/>
                </a:solidFill>
                <a:latin typeface="SimSun" panose="02010600030101010101" pitchFamily="2" charset="-122"/>
                <a:ea typeface="SimSun" panose="02010600030101010101" pitchFamily="2" charset="-122"/>
              </a:rPr>
              <a:t>和本算法的重建，其中矩形框标注了两个待分析的 </a:t>
            </a:r>
            <a:r>
              <a:rPr lang="en-US" altLang="zh-CN" dirty="0">
                <a:solidFill>
                  <a:srgbClr val="000000"/>
                </a:solidFill>
                <a:latin typeface="TimesNewRomanPSMT"/>
              </a:rPr>
              <a:t>ROI </a:t>
            </a:r>
            <a:r>
              <a:rPr lang="zh-CN" altLang="en-US" dirty="0">
                <a:solidFill>
                  <a:srgbClr val="000000"/>
                </a:solidFill>
                <a:latin typeface="SimSun" panose="02010600030101010101" pitchFamily="2" charset="-122"/>
                <a:ea typeface="SimSun" panose="02010600030101010101" pitchFamily="2" charset="-122"/>
              </a:rPr>
              <a:t>（</a:t>
            </a:r>
            <a:r>
              <a:rPr lang="en-US" altLang="zh-CN" dirty="0">
                <a:solidFill>
                  <a:srgbClr val="000000"/>
                </a:solidFill>
                <a:latin typeface="TimesNewRomanPSMT"/>
              </a:rPr>
              <a:t>Region of interest</a:t>
            </a:r>
            <a:r>
              <a:rPr lang="zh-CN" altLang="en-US" dirty="0">
                <a:solidFill>
                  <a:srgbClr val="000000"/>
                </a:solidFill>
                <a:latin typeface="SimSun" panose="02010600030101010101" pitchFamily="2" charset="-122"/>
                <a:ea typeface="SimSun" panose="02010600030101010101" pitchFamily="2" charset="-122"/>
              </a:rPr>
              <a:t>）区域，圆点线和虚线框型分别对应 </a:t>
            </a:r>
            <a:r>
              <a:rPr lang="en-US" altLang="zh-CN" dirty="0">
                <a:solidFill>
                  <a:srgbClr val="000000"/>
                </a:solidFill>
                <a:latin typeface="TimesNewRomanPSMT"/>
              </a:rPr>
              <a:t>FDK </a:t>
            </a:r>
            <a:r>
              <a:rPr lang="zh-CN" altLang="en-US" dirty="0">
                <a:solidFill>
                  <a:srgbClr val="000000"/>
                </a:solidFill>
                <a:latin typeface="SimSun" panose="02010600030101010101" pitchFamily="2" charset="-122"/>
                <a:ea typeface="SimSun" panose="02010600030101010101" pitchFamily="2" charset="-122"/>
              </a:rPr>
              <a:t>和本算法。图 </a:t>
            </a:r>
            <a:r>
              <a:rPr lang="en-US" altLang="zh-CN" dirty="0">
                <a:solidFill>
                  <a:srgbClr val="000000"/>
                </a:solidFill>
                <a:latin typeface="TimesNewRomanPSMT"/>
              </a:rPr>
              <a:t>4.8(c)</a:t>
            </a:r>
            <a:r>
              <a:rPr lang="zh-CN" altLang="en-US" dirty="0">
                <a:solidFill>
                  <a:srgbClr val="000000"/>
                </a:solidFill>
                <a:latin typeface="SimSun" panose="02010600030101010101" pitchFamily="2" charset="-122"/>
                <a:ea typeface="SimSun" panose="02010600030101010101" pitchFamily="2" charset="-122"/>
              </a:rPr>
              <a:t>和</a:t>
            </a:r>
            <a:r>
              <a:rPr lang="en-US" altLang="zh-CN" dirty="0">
                <a:solidFill>
                  <a:srgbClr val="000000"/>
                </a:solidFill>
                <a:latin typeface="TimesNewRomanPSMT"/>
              </a:rPr>
              <a:t>(d)</a:t>
            </a:r>
            <a:r>
              <a:rPr lang="zh-CN" altLang="en-US" dirty="0">
                <a:solidFill>
                  <a:srgbClr val="000000"/>
                </a:solidFill>
                <a:latin typeface="SimSun" panose="02010600030101010101" pitchFamily="2" charset="-122"/>
                <a:ea typeface="SimSun" panose="02010600030101010101" pitchFamily="2" charset="-122"/>
              </a:rPr>
              <a:t>是两个 </a:t>
            </a:r>
            <a:r>
              <a:rPr lang="en-US" altLang="zh-CN" dirty="0">
                <a:solidFill>
                  <a:srgbClr val="000000"/>
                </a:solidFill>
                <a:latin typeface="TimesNewRomanPSMT"/>
              </a:rPr>
              <a:t>ROI </a:t>
            </a:r>
            <a:r>
              <a:rPr lang="zh-CN" altLang="en-US" dirty="0">
                <a:solidFill>
                  <a:srgbClr val="000000"/>
                </a:solidFill>
                <a:latin typeface="SimSun" panose="02010600030101010101" pitchFamily="2" charset="-122"/>
                <a:ea typeface="SimSun" panose="02010600030101010101" pitchFamily="2" charset="-122"/>
              </a:rPr>
              <a:t>区域的放大图像。由图可知，</a:t>
            </a:r>
            <a:r>
              <a:rPr lang="en-US" altLang="zh-CN" dirty="0">
                <a:solidFill>
                  <a:srgbClr val="000000"/>
                </a:solidFill>
                <a:latin typeface="TimesNewRomanPSMT"/>
              </a:rPr>
              <a:t>FDK </a:t>
            </a:r>
            <a:r>
              <a:rPr lang="zh-CN" altLang="en-US" dirty="0">
                <a:solidFill>
                  <a:srgbClr val="000000"/>
                </a:solidFill>
                <a:latin typeface="SimSun" panose="02010600030101010101" pitchFamily="2" charset="-122"/>
                <a:ea typeface="SimSun" panose="02010600030101010101" pitchFamily="2" charset="-122"/>
              </a:rPr>
              <a:t>算法由于灰度下降严重，导致圆孔部分细节被淹没在伪影中，而本算法由于抑制了部分灰度下降，因此相对于 </a:t>
            </a:r>
            <a:r>
              <a:rPr lang="en-US" altLang="zh-CN" dirty="0">
                <a:solidFill>
                  <a:srgbClr val="000000"/>
                </a:solidFill>
                <a:latin typeface="TimesNewRomanPSMT"/>
              </a:rPr>
              <a:t>FDK </a:t>
            </a:r>
            <a:r>
              <a:rPr lang="zh-CN" altLang="en-US" dirty="0">
                <a:solidFill>
                  <a:srgbClr val="000000"/>
                </a:solidFill>
                <a:latin typeface="SimSun" panose="02010600030101010101" pitchFamily="2" charset="-122"/>
                <a:ea typeface="SimSun" panose="02010600030101010101" pitchFamily="2" charset="-122"/>
              </a:rPr>
              <a:t>算法，其伪影更少、细节更清晰。</a:t>
            </a:r>
            <a:r>
              <a:rPr lang="zh-CN" altLang="en-US" dirty="0"/>
              <a:t> </a:t>
            </a:r>
            <a:br>
              <a:rPr lang="zh-CN" altLang="en-US" dirty="0"/>
            </a:br>
            <a:endParaRPr lang="zh-CN" altLang="en-US" dirty="0"/>
          </a:p>
        </p:txBody>
      </p:sp>
    </p:spTree>
    <p:extLst>
      <p:ext uri="{BB962C8B-B14F-4D97-AF65-F5344CB8AC3E}">
        <p14:creationId xmlns:p14="http://schemas.microsoft.com/office/powerpoint/2010/main" val="95305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8494" y="3215953"/>
            <a:ext cx="3183885" cy="276999"/>
          </a:xfrm>
          <a:prstGeom prst="rect">
            <a:avLst/>
          </a:prstGeom>
        </p:spPr>
        <p:txBody>
          <a:bodyPr wrap="none">
            <a:spAutoFit/>
          </a:bodyPr>
          <a:lstStyle/>
          <a:p>
            <a:r>
              <a:rPr lang="zh-CN" altLang="en-US" sz="1200" dirty="0"/>
              <a:t>figure(),imshow(squeeze(CLFDK(:,256,:))',[0 1])</a:t>
            </a:r>
          </a:p>
        </p:txBody>
      </p:sp>
      <p:sp>
        <p:nvSpPr>
          <p:cNvPr id="5" name="矩形 4"/>
          <p:cNvSpPr/>
          <p:nvPr/>
        </p:nvSpPr>
        <p:spPr>
          <a:xfrm>
            <a:off x="3333883" y="3215951"/>
            <a:ext cx="3183885" cy="276999"/>
          </a:xfrm>
          <a:prstGeom prst="rect">
            <a:avLst/>
          </a:prstGeom>
        </p:spPr>
        <p:txBody>
          <a:bodyPr wrap="none">
            <a:spAutoFit/>
          </a:bodyPr>
          <a:lstStyle/>
          <a:p>
            <a:r>
              <a:rPr lang="zh-CN" altLang="en-US" sz="1200" dirty="0"/>
              <a:t>figure(),imshow(squeeze(CLFDK(</a:t>
            </a:r>
            <a:r>
              <a:rPr lang="en-US" altLang="zh-CN" sz="1200" dirty="0"/>
              <a:t>256</a:t>
            </a:r>
            <a:r>
              <a:rPr lang="zh-CN" altLang="en-US" sz="1200" dirty="0"/>
              <a:t>,</a:t>
            </a:r>
            <a:r>
              <a:rPr lang="en-US" altLang="zh-CN" sz="1200" dirty="0"/>
              <a:t>:</a:t>
            </a:r>
            <a:r>
              <a:rPr lang="zh-CN" altLang="en-US" sz="1200" dirty="0"/>
              <a:t>,:))',[0 1])</a:t>
            </a:r>
          </a:p>
        </p:txBody>
      </p:sp>
      <p:sp>
        <p:nvSpPr>
          <p:cNvPr id="7" name="矩形 6"/>
          <p:cNvSpPr/>
          <p:nvPr/>
        </p:nvSpPr>
        <p:spPr>
          <a:xfrm>
            <a:off x="6530630" y="3247055"/>
            <a:ext cx="3183885" cy="276999"/>
          </a:xfrm>
          <a:prstGeom prst="rect">
            <a:avLst/>
          </a:prstGeom>
        </p:spPr>
        <p:txBody>
          <a:bodyPr wrap="none">
            <a:spAutoFit/>
          </a:bodyPr>
          <a:lstStyle/>
          <a:p>
            <a:r>
              <a:rPr lang="zh-CN" altLang="en-US" sz="1200" dirty="0"/>
              <a:t>figure(),imshow(squeeze(CLFDK(</a:t>
            </a:r>
            <a:r>
              <a:rPr lang="en-US" altLang="zh-CN" sz="1200" dirty="0"/>
              <a:t>:</a:t>
            </a:r>
            <a:r>
              <a:rPr lang="zh-CN" altLang="en-US" sz="1200" dirty="0"/>
              <a:t>,</a:t>
            </a:r>
            <a:r>
              <a:rPr lang="en-US" altLang="zh-CN" sz="1200" dirty="0"/>
              <a:t>:</a:t>
            </a:r>
            <a:r>
              <a:rPr lang="zh-CN" altLang="en-US" sz="1200" dirty="0"/>
              <a:t>,</a:t>
            </a:r>
            <a:r>
              <a:rPr lang="en-US" altLang="zh-CN" sz="1200" dirty="0"/>
              <a:t>256</a:t>
            </a:r>
            <a:r>
              <a:rPr lang="zh-CN" altLang="en-US" sz="1200" dirty="0"/>
              <a:t>))',[0 1])</a:t>
            </a:r>
          </a:p>
        </p:txBody>
      </p:sp>
      <p:pic>
        <p:nvPicPr>
          <p:cNvPr id="8" name="图片 7"/>
          <p:cNvPicPr>
            <a:picLocks noChangeAspect="1"/>
          </p:cNvPicPr>
          <p:nvPr/>
        </p:nvPicPr>
        <p:blipFill>
          <a:blip r:embed="rId3"/>
          <a:stretch>
            <a:fillRect/>
          </a:stretch>
        </p:blipFill>
        <p:spPr>
          <a:xfrm>
            <a:off x="78254" y="3600450"/>
            <a:ext cx="3159593" cy="3159593"/>
          </a:xfrm>
          <a:prstGeom prst="rect">
            <a:avLst/>
          </a:prstGeom>
        </p:spPr>
      </p:pic>
      <p:pic>
        <p:nvPicPr>
          <p:cNvPr id="9" name="图片 8"/>
          <p:cNvPicPr>
            <a:picLocks noChangeAspect="1"/>
          </p:cNvPicPr>
          <p:nvPr/>
        </p:nvPicPr>
        <p:blipFill>
          <a:blip r:embed="rId4"/>
          <a:stretch>
            <a:fillRect/>
          </a:stretch>
        </p:blipFill>
        <p:spPr>
          <a:xfrm>
            <a:off x="3333882" y="3600450"/>
            <a:ext cx="3172030" cy="3159593"/>
          </a:xfrm>
          <a:prstGeom prst="rect">
            <a:avLst/>
          </a:prstGeom>
        </p:spPr>
      </p:pic>
      <p:pic>
        <p:nvPicPr>
          <p:cNvPr id="10" name="图片 9"/>
          <p:cNvPicPr>
            <a:picLocks noChangeAspect="1"/>
          </p:cNvPicPr>
          <p:nvPr/>
        </p:nvPicPr>
        <p:blipFill>
          <a:blip r:embed="rId5"/>
          <a:stretch>
            <a:fillRect/>
          </a:stretch>
        </p:blipFill>
        <p:spPr>
          <a:xfrm>
            <a:off x="6598599" y="3600450"/>
            <a:ext cx="3190714" cy="3184471"/>
          </a:xfrm>
          <a:prstGeom prst="rect">
            <a:avLst/>
          </a:prstGeom>
        </p:spPr>
      </p:pic>
      <p:sp>
        <p:nvSpPr>
          <p:cNvPr id="11" name="文本框 10"/>
          <p:cNvSpPr txBox="1"/>
          <p:nvPr/>
        </p:nvSpPr>
        <p:spPr>
          <a:xfrm>
            <a:off x="9950200" y="4995580"/>
            <a:ext cx="659155" cy="369332"/>
          </a:xfrm>
          <a:prstGeom prst="rect">
            <a:avLst/>
          </a:prstGeom>
          <a:noFill/>
        </p:spPr>
        <p:txBody>
          <a:bodyPr wrap="none" rtlCol="0">
            <a:spAutoFit/>
          </a:bodyPr>
          <a:lstStyle/>
          <a:p>
            <a:r>
              <a:rPr lang="en-US" altLang="zh-CN" dirty="0"/>
              <a:t>17°</a:t>
            </a:r>
            <a:endParaRPr lang="zh-CN" altLang="en-US" dirty="0"/>
          </a:p>
        </p:txBody>
      </p:sp>
      <p:pic>
        <p:nvPicPr>
          <p:cNvPr id="12" name="图片 11"/>
          <p:cNvPicPr>
            <a:picLocks noChangeAspect="1"/>
          </p:cNvPicPr>
          <p:nvPr/>
        </p:nvPicPr>
        <p:blipFill>
          <a:blip r:embed="rId6"/>
          <a:stretch>
            <a:fillRect/>
          </a:stretch>
        </p:blipFill>
        <p:spPr>
          <a:xfrm>
            <a:off x="62754" y="81268"/>
            <a:ext cx="3147026" cy="3134683"/>
          </a:xfrm>
          <a:prstGeom prst="rect">
            <a:avLst/>
          </a:prstGeom>
        </p:spPr>
      </p:pic>
      <p:pic>
        <p:nvPicPr>
          <p:cNvPr id="13" name="图片 12"/>
          <p:cNvPicPr>
            <a:picLocks noChangeAspect="1"/>
          </p:cNvPicPr>
          <p:nvPr/>
        </p:nvPicPr>
        <p:blipFill>
          <a:blip r:embed="rId7"/>
          <a:stretch>
            <a:fillRect/>
          </a:stretch>
        </p:blipFill>
        <p:spPr>
          <a:xfrm>
            <a:off x="3324313" y="81268"/>
            <a:ext cx="3178251" cy="3184482"/>
          </a:xfrm>
          <a:prstGeom prst="rect">
            <a:avLst/>
          </a:prstGeom>
        </p:spPr>
      </p:pic>
      <p:pic>
        <p:nvPicPr>
          <p:cNvPr id="14" name="图片 13"/>
          <p:cNvPicPr>
            <a:picLocks noChangeAspect="1"/>
          </p:cNvPicPr>
          <p:nvPr/>
        </p:nvPicPr>
        <p:blipFill>
          <a:blip r:embed="rId8"/>
          <a:stretch>
            <a:fillRect/>
          </a:stretch>
        </p:blipFill>
        <p:spPr>
          <a:xfrm>
            <a:off x="6598599" y="81268"/>
            <a:ext cx="3190714" cy="3184482"/>
          </a:xfrm>
          <a:prstGeom prst="rect">
            <a:avLst/>
          </a:prstGeom>
        </p:spPr>
      </p:pic>
      <p:sp>
        <p:nvSpPr>
          <p:cNvPr id="15" name="矩形 14"/>
          <p:cNvSpPr/>
          <p:nvPr/>
        </p:nvSpPr>
        <p:spPr>
          <a:xfrm>
            <a:off x="9906986" y="1499638"/>
            <a:ext cx="966931" cy="369332"/>
          </a:xfrm>
          <a:prstGeom prst="rect">
            <a:avLst/>
          </a:prstGeom>
        </p:spPr>
        <p:txBody>
          <a:bodyPr wrap="none">
            <a:spAutoFit/>
          </a:bodyPr>
          <a:lstStyle/>
          <a:p>
            <a:r>
              <a:rPr lang="zh-CN" altLang="en-US" dirty="0"/>
              <a:t>31.5666</a:t>
            </a:r>
          </a:p>
        </p:txBody>
      </p:sp>
    </p:spTree>
    <p:extLst>
      <p:ext uri="{BB962C8B-B14F-4D97-AF65-F5344CB8AC3E}">
        <p14:creationId xmlns:p14="http://schemas.microsoft.com/office/powerpoint/2010/main" val="3465477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044635" y="93785"/>
            <a:ext cx="3175674" cy="3194428"/>
          </a:xfrm>
          <a:prstGeom prst="rect">
            <a:avLst/>
          </a:prstGeom>
        </p:spPr>
      </p:pic>
      <p:pic>
        <p:nvPicPr>
          <p:cNvPr id="3" name="图片 2"/>
          <p:cNvPicPr>
            <a:picLocks noChangeAspect="1"/>
          </p:cNvPicPr>
          <p:nvPr/>
        </p:nvPicPr>
        <p:blipFill>
          <a:blip r:embed="rId4"/>
          <a:stretch>
            <a:fillRect/>
          </a:stretch>
        </p:blipFill>
        <p:spPr>
          <a:xfrm>
            <a:off x="4636781" y="93785"/>
            <a:ext cx="3219583" cy="3194428"/>
          </a:xfrm>
          <a:prstGeom prst="rect">
            <a:avLst/>
          </a:prstGeom>
        </p:spPr>
      </p:pic>
      <p:pic>
        <p:nvPicPr>
          <p:cNvPr id="4" name="图片 3"/>
          <p:cNvPicPr>
            <a:picLocks noChangeAspect="1"/>
          </p:cNvPicPr>
          <p:nvPr/>
        </p:nvPicPr>
        <p:blipFill>
          <a:blip r:embed="rId5"/>
          <a:stretch>
            <a:fillRect/>
          </a:stretch>
        </p:blipFill>
        <p:spPr>
          <a:xfrm>
            <a:off x="8272836" y="93785"/>
            <a:ext cx="3213256" cy="3194428"/>
          </a:xfrm>
          <a:prstGeom prst="rect">
            <a:avLst/>
          </a:prstGeom>
        </p:spPr>
      </p:pic>
      <p:pic>
        <p:nvPicPr>
          <p:cNvPr id="5" name="图片 4"/>
          <p:cNvPicPr>
            <a:picLocks noChangeAspect="1"/>
          </p:cNvPicPr>
          <p:nvPr/>
        </p:nvPicPr>
        <p:blipFill>
          <a:blip r:embed="rId6"/>
          <a:stretch>
            <a:fillRect/>
          </a:stretch>
        </p:blipFill>
        <p:spPr>
          <a:xfrm>
            <a:off x="1044635" y="3562653"/>
            <a:ext cx="3175674" cy="3138604"/>
          </a:xfrm>
          <a:prstGeom prst="rect">
            <a:avLst/>
          </a:prstGeom>
        </p:spPr>
      </p:pic>
      <p:pic>
        <p:nvPicPr>
          <p:cNvPr id="6" name="图片 5"/>
          <p:cNvPicPr>
            <a:picLocks noChangeAspect="1"/>
          </p:cNvPicPr>
          <p:nvPr/>
        </p:nvPicPr>
        <p:blipFill>
          <a:blip r:embed="rId7"/>
          <a:stretch>
            <a:fillRect/>
          </a:stretch>
        </p:blipFill>
        <p:spPr>
          <a:xfrm>
            <a:off x="4636781" y="3562654"/>
            <a:ext cx="3219583" cy="3232233"/>
          </a:xfrm>
          <a:prstGeom prst="rect">
            <a:avLst/>
          </a:prstGeom>
        </p:spPr>
      </p:pic>
      <p:pic>
        <p:nvPicPr>
          <p:cNvPr id="7" name="图片 6"/>
          <p:cNvPicPr>
            <a:picLocks noChangeAspect="1"/>
          </p:cNvPicPr>
          <p:nvPr/>
        </p:nvPicPr>
        <p:blipFill>
          <a:blip r:embed="rId8"/>
          <a:stretch>
            <a:fillRect/>
          </a:stretch>
        </p:blipFill>
        <p:spPr>
          <a:xfrm>
            <a:off x="8272838" y="3562653"/>
            <a:ext cx="3213257" cy="3194319"/>
          </a:xfrm>
          <a:prstGeom prst="rect">
            <a:avLst/>
          </a:prstGeom>
        </p:spPr>
      </p:pic>
    </p:spTree>
    <p:extLst>
      <p:ext uri="{BB962C8B-B14F-4D97-AF65-F5344CB8AC3E}">
        <p14:creationId xmlns:p14="http://schemas.microsoft.com/office/powerpoint/2010/main" val="1537579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0"/>
            <a:ext cx="6072155" cy="3965047"/>
          </a:xfrm>
          <a:prstGeom prst="rect">
            <a:avLst/>
          </a:prstGeom>
        </p:spPr>
      </p:pic>
      <p:pic>
        <p:nvPicPr>
          <p:cNvPr id="4" name="图片 3"/>
          <p:cNvPicPr>
            <a:picLocks noChangeAspect="1"/>
          </p:cNvPicPr>
          <p:nvPr/>
        </p:nvPicPr>
        <p:blipFill>
          <a:blip r:embed="rId3"/>
          <a:stretch>
            <a:fillRect/>
          </a:stretch>
        </p:blipFill>
        <p:spPr>
          <a:xfrm>
            <a:off x="5661791" y="306124"/>
            <a:ext cx="6444494" cy="3141926"/>
          </a:xfrm>
          <a:prstGeom prst="rect">
            <a:avLst/>
          </a:prstGeom>
        </p:spPr>
      </p:pic>
      <p:sp>
        <p:nvSpPr>
          <p:cNvPr id="5" name="矩形 4"/>
          <p:cNvSpPr/>
          <p:nvPr/>
        </p:nvSpPr>
        <p:spPr>
          <a:xfrm>
            <a:off x="5836038" y="3661886"/>
            <a:ext cx="6096001" cy="1477328"/>
          </a:xfrm>
          <a:prstGeom prst="rect">
            <a:avLst/>
          </a:prstGeom>
        </p:spPr>
        <p:txBody>
          <a:bodyPr>
            <a:spAutoFit/>
          </a:bodyPr>
          <a:lstStyle/>
          <a:p>
            <a:r>
              <a:rPr lang="zh-CN" altLang="en-US"/>
              <a:t>在图10中，给出了锥角为6 °和12 °的Shepp - Logan模体(在Z0 = - 2 . </a:t>
            </a:r>
            <a:r>
              <a:rPr lang="zh-CN" altLang="en-US" dirty="0"/>
              <a:t>5cm和Y0 = 1 . 05cm处)的重建切片。为了清晰起见，这些图像的显示尺度一直集中在[ 0.95 ~ 1.04 ]的密度范围内。下面，给出了该体模在X0，Y0和Z0方向上的三维重建体积的RMSE图。</a:t>
            </a:r>
          </a:p>
        </p:txBody>
      </p:sp>
    </p:spTree>
    <p:extLst>
      <p:ext uri="{BB962C8B-B14F-4D97-AF65-F5344CB8AC3E}">
        <p14:creationId xmlns:p14="http://schemas.microsoft.com/office/powerpoint/2010/main" val="1900809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7791450" cy="6124575"/>
          </a:xfrm>
          <a:prstGeom prst="rect">
            <a:avLst/>
          </a:prstGeom>
        </p:spPr>
      </p:pic>
      <p:pic>
        <p:nvPicPr>
          <p:cNvPr id="3" name="图片 2"/>
          <p:cNvPicPr>
            <a:picLocks noChangeAspect="1"/>
          </p:cNvPicPr>
          <p:nvPr/>
        </p:nvPicPr>
        <p:blipFill>
          <a:blip r:embed="rId4"/>
          <a:stretch>
            <a:fillRect/>
          </a:stretch>
        </p:blipFill>
        <p:spPr>
          <a:xfrm>
            <a:off x="7907336" y="88900"/>
            <a:ext cx="2473228" cy="2482849"/>
          </a:xfrm>
          <a:prstGeom prst="rect">
            <a:avLst/>
          </a:prstGeom>
        </p:spPr>
      </p:pic>
      <p:pic>
        <p:nvPicPr>
          <p:cNvPr id="4" name="图片 3"/>
          <p:cNvPicPr>
            <a:picLocks noChangeAspect="1"/>
          </p:cNvPicPr>
          <p:nvPr/>
        </p:nvPicPr>
        <p:blipFill>
          <a:blip r:embed="rId5"/>
          <a:stretch>
            <a:fillRect/>
          </a:stretch>
        </p:blipFill>
        <p:spPr>
          <a:xfrm>
            <a:off x="7907339" y="2911477"/>
            <a:ext cx="2447925" cy="2457450"/>
          </a:xfrm>
          <a:prstGeom prst="rect">
            <a:avLst/>
          </a:prstGeom>
        </p:spPr>
      </p:pic>
      <p:sp>
        <p:nvSpPr>
          <p:cNvPr id="5" name="圆角矩形 4"/>
          <p:cNvSpPr/>
          <p:nvPr/>
        </p:nvSpPr>
        <p:spPr>
          <a:xfrm>
            <a:off x="7791449" y="-139699"/>
            <a:ext cx="2736851" cy="57023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54845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318334" y="220981"/>
            <a:ext cx="6611954" cy="5775960"/>
          </a:xfrm>
          <a:prstGeom prst="rect">
            <a:avLst/>
          </a:prstGeom>
        </p:spPr>
      </p:pic>
      <p:pic>
        <p:nvPicPr>
          <p:cNvPr id="8" name="图片 7"/>
          <p:cNvPicPr>
            <a:picLocks noChangeAspect="1"/>
          </p:cNvPicPr>
          <p:nvPr/>
        </p:nvPicPr>
        <p:blipFill>
          <a:blip r:embed="rId4"/>
          <a:stretch>
            <a:fillRect/>
          </a:stretch>
        </p:blipFill>
        <p:spPr>
          <a:xfrm>
            <a:off x="6930288" y="376290"/>
            <a:ext cx="4469231" cy="5887352"/>
          </a:xfrm>
          <a:prstGeom prst="rect">
            <a:avLst/>
          </a:prstGeom>
        </p:spPr>
      </p:pic>
    </p:spTree>
    <p:extLst>
      <p:ext uri="{BB962C8B-B14F-4D97-AF65-F5344CB8AC3E}">
        <p14:creationId xmlns:p14="http://schemas.microsoft.com/office/powerpoint/2010/main" val="23260606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62269" y="76504"/>
            <a:ext cx="4566932" cy="4540225"/>
          </a:xfrm>
          <a:prstGeom prst="rect">
            <a:avLst/>
          </a:prstGeom>
        </p:spPr>
      </p:pic>
      <p:pic>
        <p:nvPicPr>
          <p:cNvPr id="3" name="图片 2"/>
          <p:cNvPicPr>
            <a:picLocks noChangeAspect="1"/>
          </p:cNvPicPr>
          <p:nvPr/>
        </p:nvPicPr>
        <p:blipFill>
          <a:blip r:embed="rId3"/>
          <a:stretch>
            <a:fillRect/>
          </a:stretch>
        </p:blipFill>
        <p:spPr>
          <a:xfrm>
            <a:off x="7469462" y="115144"/>
            <a:ext cx="4390476" cy="6742858"/>
          </a:xfrm>
          <a:prstGeom prst="rect">
            <a:avLst/>
          </a:prstGeom>
        </p:spPr>
      </p:pic>
    </p:spTree>
    <p:extLst>
      <p:ext uri="{BB962C8B-B14F-4D97-AF65-F5344CB8AC3E}">
        <p14:creationId xmlns:p14="http://schemas.microsoft.com/office/powerpoint/2010/main" val="42215646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0"/>
            <a:ext cx="3162299" cy="3198398"/>
          </a:xfrm>
          <a:prstGeom prst="rect">
            <a:avLst/>
          </a:prstGeom>
        </p:spPr>
      </p:pic>
      <p:pic>
        <p:nvPicPr>
          <p:cNvPr id="3" name="图片 2"/>
          <p:cNvPicPr>
            <a:picLocks noChangeAspect="1"/>
          </p:cNvPicPr>
          <p:nvPr/>
        </p:nvPicPr>
        <p:blipFill>
          <a:blip r:embed="rId3"/>
          <a:stretch>
            <a:fillRect/>
          </a:stretch>
        </p:blipFill>
        <p:spPr>
          <a:xfrm>
            <a:off x="3437461" y="2"/>
            <a:ext cx="3169816" cy="3182941"/>
          </a:xfrm>
          <a:prstGeom prst="rect">
            <a:avLst/>
          </a:prstGeom>
        </p:spPr>
      </p:pic>
      <p:sp>
        <p:nvSpPr>
          <p:cNvPr id="4" name="文本框 3"/>
          <p:cNvSpPr txBox="1"/>
          <p:nvPr/>
        </p:nvSpPr>
        <p:spPr>
          <a:xfrm>
            <a:off x="800100" y="3145596"/>
            <a:ext cx="2100255" cy="369332"/>
          </a:xfrm>
          <a:prstGeom prst="rect">
            <a:avLst/>
          </a:prstGeom>
          <a:noFill/>
        </p:spPr>
        <p:txBody>
          <a:bodyPr wrap="none" rtlCol="0">
            <a:spAutoFit/>
          </a:bodyPr>
          <a:lstStyle/>
          <a:p>
            <a:r>
              <a:rPr lang="en-US" altLang="zh-CN" dirty="0" err="1"/>
              <a:t>Cone_angle</a:t>
            </a:r>
            <a:r>
              <a:rPr lang="en-US" altLang="zh-CN" dirty="0"/>
              <a:t> = 15°</a:t>
            </a:r>
            <a:endParaRPr lang="zh-CN" altLang="en-US" dirty="0"/>
          </a:p>
        </p:txBody>
      </p:sp>
      <p:sp>
        <p:nvSpPr>
          <p:cNvPr id="5" name="矩形 4"/>
          <p:cNvSpPr/>
          <p:nvPr/>
        </p:nvSpPr>
        <p:spPr>
          <a:xfrm>
            <a:off x="4144173" y="3147703"/>
            <a:ext cx="2100255" cy="369332"/>
          </a:xfrm>
          <a:prstGeom prst="rect">
            <a:avLst/>
          </a:prstGeom>
        </p:spPr>
        <p:txBody>
          <a:bodyPr wrap="none">
            <a:spAutoFit/>
          </a:bodyPr>
          <a:lstStyle/>
          <a:p>
            <a:r>
              <a:rPr lang="en-US" altLang="zh-CN" dirty="0" err="1"/>
              <a:t>Cone_angle</a:t>
            </a:r>
            <a:r>
              <a:rPr lang="en-US" altLang="zh-CN" dirty="0"/>
              <a:t> = 30°</a:t>
            </a:r>
            <a:endParaRPr lang="zh-CN" altLang="en-US" dirty="0"/>
          </a:p>
        </p:txBody>
      </p:sp>
      <p:pic>
        <p:nvPicPr>
          <p:cNvPr id="6" name="图片 5"/>
          <p:cNvPicPr>
            <a:picLocks noChangeAspect="1"/>
          </p:cNvPicPr>
          <p:nvPr/>
        </p:nvPicPr>
        <p:blipFill>
          <a:blip r:embed="rId4"/>
          <a:stretch>
            <a:fillRect/>
          </a:stretch>
        </p:blipFill>
        <p:spPr>
          <a:xfrm>
            <a:off x="6706286" y="2"/>
            <a:ext cx="3188477" cy="3182941"/>
          </a:xfrm>
          <a:prstGeom prst="rect">
            <a:avLst/>
          </a:prstGeom>
        </p:spPr>
      </p:pic>
    </p:spTree>
    <p:extLst>
      <p:ext uri="{BB962C8B-B14F-4D97-AF65-F5344CB8AC3E}">
        <p14:creationId xmlns:p14="http://schemas.microsoft.com/office/powerpoint/2010/main" val="42309769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0" y="-13997"/>
            <a:ext cx="7396065" cy="4457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直接迭代重建计算机断层扫描轨迹</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 </a:t>
            </a:r>
            <a:r>
              <a:rPr lang="en-US" altLang="zh-CN" sz="2000" b="1" spc="50" dirty="0" err="1">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Directt</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 )</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压制锥束伪影</a:t>
            </a:r>
          </a:p>
        </p:txBody>
      </p:sp>
      <p:sp>
        <p:nvSpPr>
          <p:cNvPr id="3" name="矩形 2"/>
          <p:cNvSpPr/>
          <p:nvPr/>
        </p:nvSpPr>
        <p:spPr>
          <a:xfrm>
            <a:off x="127000" y="574303"/>
            <a:ext cx="11489267" cy="369332"/>
          </a:xfrm>
          <a:prstGeom prst="rect">
            <a:avLst/>
          </a:prstGeom>
        </p:spPr>
        <p:txBody>
          <a:bodyPr wrap="square">
            <a:spAutoFit/>
          </a:bodyPr>
          <a:lstStyle/>
          <a:p>
            <a:r>
              <a:rPr lang="zh-CN" altLang="en-US" dirty="0"/>
              <a:t>描述如何调整直接迭代重建CT轨迹( DIRECTT )算法来</a:t>
            </a:r>
            <a:r>
              <a:rPr lang="zh-CN" altLang="en-US" b="1" dirty="0">
                <a:solidFill>
                  <a:srgbClr val="FF0000"/>
                </a:solidFill>
              </a:rPr>
              <a:t>估计此类伪影并对其进行补偿</a:t>
            </a:r>
            <a:r>
              <a:rPr lang="zh-CN" altLang="en-US" dirty="0"/>
              <a:t>。</a:t>
            </a:r>
          </a:p>
        </p:txBody>
      </p:sp>
    </p:spTree>
    <p:extLst>
      <p:ext uri="{BB962C8B-B14F-4D97-AF65-F5344CB8AC3E}">
        <p14:creationId xmlns:p14="http://schemas.microsoft.com/office/powerpoint/2010/main" val="6451979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 y="1"/>
            <a:ext cx="5381896" cy="3227435"/>
          </a:xfrm>
          <a:prstGeom prst="rect">
            <a:avLst/>
          </a:prstGeom>
        </p:spPr>
      </p:pic>
      <p:pic>
        <p:nvPicPr>
          <p:cNvPr id="3" name="图片 2"/>
          <p:cNvPicPr>
            <a:picLocks noChangeAspect="1"/>
          </p:cNvPicPr>
          <p:nvPr/>
        </p:nvPicPr>
        <p:blipFill>
          <a:blip r:embed="rId3"/>
          <a:stretch>
            <a:fillRect/>
          </a:stretch>
        </p:blipFill>
        <p:spPr>
          <a:xfrm>
            <a:off x="0" y="3227435"/>
            <a:ext cx="9361905" cy="3657143"/>
          </a:xfrm>
          <a:prstGeom prst="rect">
            <a:avLst/>
          </a:prstGeom>
        </p:spPr>
      </p:pic>
    </p:spTree>
    <p:extLst>
      <p:ext uri="{BB962C8B-B14F-4D97-AF65-F5344CB8AC3E}">
        <p14:creationId xmlns:p14="http://schemas.microsoft.com/office/powerpoint/2010/main" val="35918909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rot="16200000">
            <a:off x="3409525" y="-3040190"/>
            <a:ext cx="447619" cy="7266667"/>
          </a:xfrm>
          <a:prstGeom prst="rect">
            <a:avLst/>
          </a:prstGeom>
        </p:spPr>
      </p:pic>
      <p:pic>
        <p:nvPicPr>
          <p:cNvPr id="4" name="图片 3"/>
          <p:cNvPicPr>
            <a:picLocks noChangeAspect="1"/>
          </p:cNvPicPr>
          <p:nvPr/>
        </p:nvPicPr>
        <p:blipFill>
          <a:blip r:embed="rId3"/>
          <a:stretch>
            <a:fillRect/>
          </a:stretch>
        </p:blipFill>
        <p:spPr>
          <a:xfrm rot="16200000">
            <a:off x="3414285" y="-2392491"/>
            <a:ext cx="419049" cy="7247619"/>
          </a:xfrm>
          <a:prstGeom prst="rect">
            <a:avLst/>
          </a:prstGeom>
        </p:spPr>
      </p:pic>
      <p:sp>
        <p:nvSpPr>
          <p:cNvPr id="5" name="文本框 4"/>
          <p:cNvSpPr txBox="1"/>
          <p:nvPr/>
        </p:nvSpPr>
        <p:spPr>
          <a:xfrm>
            <a:off x="0" y="0"/>
            <a:ext cx="1107996" cy="369332"/>
          </a:xfrm>
          <a:prstGeom prst="rect">
            <a:avLst/>
          </a:prstGeom>
          <a:noFill/>
        </p:spPr>
        <p:txBody>
          <a:bodyPr wrap="none" rtlCol="0">
            <a:spAutoFit/>
          </a:bodyPr>
          <a:lstStyle/>
          <a:p>
            <a:r>
              <a:rPr lang="zh-CN" altLang="en-US" dirty="0"/>
              <a:t>锥角伪影</a:t>
            </a:r>
          </a:p>
        </p:txBody>
      </p:sp>
      <p:pic>
        <p:nvPicPr>
          <p:cNvPr id="6" name="图片 5"/>
          <p:cNvPicPr>
            <a:picLocks noChangeAspect="1"/>
          </p:cNvPicPr>
          <p:nvPr/>
        </p:nvPicPr>
        <p:blipFill>
          <a:blip r:embed="rId4"/>
          <a:stretch>
            <a:fillRect/>
          </a:stretch>
        </p:blipFill>
        <p:spPr>
          <a:xfrm>
            <a:off x="111925" y="2000857"/>
            <a:ext cx="4838095" cy="4857144"/>
          </a:xfrm>
          <a:prstGeom prst="rect">
            <a:avLst/>
          </a:prstGeom>
        </p:spPr>
      </p:pic>
      <p:pic>
        <p:nvPicPr>
          <p:cNvPr id="8" name="图片 7"/>
          <p:cNvPicPr>
            <a:picLocks noChangeAspect="1"/>
          </p:cNvPicPr>
          <p:nvPr/>
        </p:nvPicPr>
        <p:blipFill>
          <a:blip r:embed="rId5"/>
          <a:stretch>
            <a:fillRect/>
          </a:stretch>
        </p:blipFill>
        <p:spPr>
          <a:xfrm>
            <a:off x="5199368" y="2000858"/>
            <a:ext cx="4866667" cy="4866667"/>
          </a:xfrm>
          <a:prstGeom prst="rect">
            <a:avLst/>
          </a:prstGeom>
        </p:spPr>
      </p:pic>
      <p:sp>
        <p:nvSpPr>
          <p:cNvPr id="9" name="文本框 8"/>
          <p:cNvSpPr txBox="1"/>
          <p:nvPr/>
        </p:nvSpPr>
        <p:spPr>
          <a:xfrm>
            <a:off x="0" y="1630917"/>
            <a:ext cx="1107996" cy="369332"/>
          </a:xfrm>
          <a:prstGeom prst="rect">
            <a:avLst/>
          </a:prstGeom>
          <a:noFill/>
        </p:spPr>
        <p:txBody>
          <a:bodyPr wrap="none" rtlCol="0">
            <a:spAutoFit/>
          </a:bodyPr>
          <a:lstStyle/>
          <a:p>
            <a:r>
              <a:rPr lang="zh-CN" altLang="en-US" dirty="0"/>
              <a:t>锥角伪影</a:t>
            </a:r>
          </a:p>
        </p:txBody>
      </p:sp>
    </p:spTree>
    <p:extLst>
      <p:ext uri="{BB962C8B-B14F-4D97-AF65-F5344CB8AC3E}">
        <p14:creationId xmlns:p14="http://schemas.microsoft.com/office/powerpoint/2010/main" val="2015931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0"/>
            <a:ext cx="3429000" cy="3857625"/>
          </a:xfrm>
          <a:prstGeom prst="rect">
            <a:avLst/>
          </a:prstGeom>
        </p:spPr>
      </p:pic>
      <p:pic>
        <p:nvPicPr>
          <p:cNvPr id="3" name="图片 2"/>
          <p:cNvPicPr>
            <a:picLocks noChangeAspect="1"/>
          </p:cNvPicPr>
          <p:nvPr/>
        </p:nvPicPr>
        <p:blipFill>
          <a:blip r:embed="rId3"/>
          <a:stretch>
            <a:fillRect/>
          </a:stretch>
        </p:blipFill>
        <p:spPr>
          <a:xfrm>
            <a:off x="4071795" y="88901"/>
            <a:ext cx="5115069" cy="2552700"/>
          </a:xfrm>
          <a:prstGeom prst="rect">
            <a:avLst/>
          </a:prstGeom>
        </p:spPr>
      </p:pic>
      <p:pic>
        <p:nvPicPr>
          <p:cNvPr id="4" name="图片 3"/>
          <p:cNvPicPr>
            <a:picLocks noChangeAspect="1"/>
          </p:cNvPicPr>
          <p:nvPr/>
        </p:nvPicPr>
        <p:blipFill>
          <a:blip r:embed="rId4"/>
          <a:stretch>
            <a:fillRect/>
          </a:stretch>
        </p:blipFill>
        <p:spPr>
          <a:xfrm>
            <a:off x="4209663" y="2641600"/>
            <a:ext cx="4977198" cy="1727200"/>
          </a:xfrm>
          <a:prstGeom prst="rect">
            <a:avLst/>
          </a:prstGeom>
        </p:spPr>
      </p:pic>
    </p:spTree>
    <p:extLst>
      <p:ext uri="{BB962C8B-B14F-4D97-AF65-F5344CB8AC3E}">
        <p14:creationId xmlns:p14="http://schemas.microsoft.com/office/powerpoint/2010/main" val="18244452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0" y="43934"/>
            <a:ext cx="1847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1" tIns="45720" rIns="91441" bIns="45720" numCol="1" anchor="ctr" anchorCtr="0" compatLnSpc="1">
            <a:prstTxWarp prst="textNoShape">
              <a:avLst/>
            </a:prstTxWarp>
            <a:spAutoFit/>
          </a:bodyPr>
          <a:lstStyle/>
          <a:p>
            <a:endParaRPr lang="zh-CN" altLang="en-US"/>
          </a:p>
        </p:txBody>
      </p:sp>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t="4703" r="3271"/>
          <a:stretch/>
        </p:blipFill>
        <p:spPr bwMode="auto">
          <a:xfrm>
            <a:off x="239951" y="228602"/>
            <a:ext cx="11712102" cy="62763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544088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5332" y="150406"/>
            <a:ext cx="2432076" cy="369332"/>
          </a:xfrm>
          <a:prstGeom prst="rect">
            <a:avLst/>
          </a:prstGeom>
        </p:spPr>
        <p:txBody>
          <a:bodyPr wrap="none">
            <a:spAutoFit/>
          </a:bodyPr>
          <a:lstStyle/>
          <a:p>
            <a:r>
              <a:rPr lang="zh-CN" altLang="en-US" dirty="0"/>
              <a:t>[dx,dy] = gradient(res);</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332" y="1028492"/>
            <a:ext cx="3591426" cy="2972215"/>
          </a:xfrm>
          <a:prstGeom prst="rect">
            <a:avLst/>
          </a:prstGeom>
        </p:spPr>
      </p:pic>
      <p:pic>
        <p:nvPicPr>
          <p:cNvPr id="4" name="图片 3"/>
          <p:cNvPicPr>
            <a:picLocks noChangeAspect="1"/>
          </p:cNvPicPr>
          <p:nvPr/>
        </p:nvPicPr>
        <p:blipFill>
          <a:blip r:embed="rId3"/>
          <a:stretch>
            <a:fillRect/>
          </a:stretch>
        </p:blipFill>
        <p:spPr>
          <a:xfrm>
            <a:off x="4267201" y="1028494"/>
            <a:ext cx="5486400" cy="4010024"/>
          </a:xfrm>
          <a:prstGeom prst="rect">
            <a:avLst/>
          </a:prstGeom>
        </p:spPr>
      </p:pic>
    </p:spTree>
    <p:extLst>
      <p:ext uri="{BB962C8B-B14F-4D97-AF65-F5344CB8AC3E}">
        <p14:creationId xmlns:p14="http://schemas.microsoft.com/office/powerpoint/2010/main" val="25872664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 y="183287"/>
            <a:ext cx="12204701" cy="523220"/>
          </a:xfrm>
          <a:prstGeom prst="rect">
            <a:avLst/>
          </a:prstGeom>
        </p:spPr>
        <p:txBody>
          <a:bodyPr wrap="square">
            <a:spAutoFit/>
          </a:bodyPr>
          <a:lstStyle/>
          <a:p>
            <a:r>
              <a:rPr lang="pt-BR" altLang="zh-CN" sz="1400" dirty="0">
                <a:solidFill>
                  <a:srgbClr val="000000"/>
                </a:solidFill>
                <a:latin typeface="Courier New" panose="02070309020205020404" pitchFamily="49" charset="0"/>
              </a:rPr>
              <a:t>res=res+lambda*bsxfun(@times,1./V,Atb(W.*(proj-Ax(res,geo,angles,</a:t>
            </a:r>
            <a:r>
              <a:rPr lang="pt-BR" altLang="zh-CN" sz="1400" dirty="0">
                <a:solidFill>
                  <a:srgbClr val="A020F0"/>
                </a:solidFill>
                <a:latin typeface="Courier New" panose="02070309020205020404" pitchFamily="49" charset="0"/>
              </a:rPr>
              <a:t>'gpuids'</a:t>
            </a:r>
            <a:r>
              <a:rPr lang="pt-BR" altLang="zh-CN" sz="1400" dirty="0">
                <a:solidFill>
                  <a:srgbClr val="000000"/>
                </a:solidFill>
                <a:latin typeface="Courier New" panose="02070309020205020404" pitchFamily="49" charset="0"/>
              </a:rPr>
              <a:t>,gpuids)),geo,angles,</a:t>
            </a:r>
            <a:r>
              <a:rPr lang="pt-BR" altLang="zh-CN" sz="1400" dirty="0">
                <a:solidFill>
                  <a:srgbClr val="A020F0"/>
                </a:solidFill>
                <a:latin typeface="Courier New" panose="02070309020205020404" pitchFamily="49" charset="0"/>
              </a:rPr>
              <a:t>'gpuids'</a:t>
            </a:r>
            <a:r>
              <a:rPr lang="pt-BR" altLang="zh-CN" sz="1400" dirty="0">
                <a:solidFill>
                  <a:srgbClr val="000000"/>
                </a:solidFill>
                <a:latin typeface="Courier New" panose="02070309020205020404" pitchFamily="49" charset="0"/>
              </a:rPr>
              <a:t>,gpuids))+ lambda* bsxfun(@times,1./V,alpha_prior*(p_h.*res-res));</a:t>
            </a:r>
          </a:p>
        </p:txBody>
      </p:sp>
      <p:sp>
        <p:nvSpPr>
          <p:cNvPr id="3" name="矩形 2"/>
          <p:cNvSpPr/>
          <p:nvPr/>
        </p:nvSpPr>
        <p:spPr>
          <a:xfrm>
            <a:off x="3833503" y="1327815"/>
            <a:ext cx="6096001" cy="2308324"/>
          </a:xfrm>
          <a:prstGeom prst="rect">
            <a:avLst/>
          </a:prstGeom>
        </p:spPr>
        <p:txBody>
          <a:bodyPr>
            <a:spAutoFit/>
          </a:bodyPr>
          <a:lstStyle/>
          <a:p>
            <a:r>
              <a:rPr lang="zh-CN" altLang="en-US" dirty="0"/>
              <a:t>V size: [30 512]</a:t>
            </a:r>
          </a:p>
          <a:p>
            <a:r>
              <a:rPr lang="zh-CN" altLang="en-US" dirty="0"/>
              <a:t>proj size: [1024 1024 22]</a:t>
            </a:r>
          </a:p>
          <a:p>
            <a:r>
              <a:rPr lang="zh-CN" altLang="en-US" dirty="0"/>
              <a:t>Ax output size: [1024 1024 22]</a:t>
            </a:r>
          </a:p>
          <a:p>
            <a:r>
              <a:rPr lang="zh-CN" altLang="en-US" dirty="0"/>
              <a:t>W size: [1024 1024 22]</a:t>
            </a:r>
          </a:p>
          <a:p>
            <a:r>
              <a:rPr lang="zh-CN" altLang="en-US" dirty="0"/>
              <a:t>Atb output size: [30 512 512]</a:t>
            </a:r>
          </a:p>
          <a:p>
            <a:r>
              <a:rPr lang="zh-CN" altLang="en-US" dirty="0"/>
              <a:t>p_h size: [30 512 512]</a:t>
            </a:r>
          </a:p>
          <a:p>
            <a:r>
              <a:rPr lang="zh-CN" altLang="en-US" dirty="0"/>
              <a:t>res size: [30 512 512]</a:t>
            </a:r>
          </a:p>
          <a:p>
            <a:r>
              <a:rPr lang="zh-CN" altLang="en-US" dirty="0"/>
              <a:t>reg_term size: [30 512 512]</a:t>
            </a:r>
          </a:p>
        </p:txBody>
      </p:sp>
      <p:sp>
        <p:nvSpPr>
          <p:cNvPr id="4" name="矩形 3"/>
          <p:cNvSpPr/>
          <p:nvPr/>
        </p:nvSpPr>
        <p:spPr>
          <a:xfrm>
            <a:off x="107951" y="1281650"/>
            <a:ext cx="10147301" cy="4708981"/>
          </a:xfrm>
          <a:prstGeom prst="rect">
            <a:avLst/>
          </a:prstGeom>
        </p:spPr>
        <p:txBody>
          <a:bodyPr wrap="square">
            <a:spAutoFit/>
          </a:bodyPr>
          <a:lstStyle/>
          <a:p>
            <a:r>
              <a:rPr lang="zh-CN" altLang="en-US" sz="1200" dirty="0"/>
              <a:t>% 检查 V 的维度</a:t>
            </a:r>
          </a:p>
          <a:p>
            <a:r>
              <a:rPr lang="zh-CN" altLang="en-US" sz="1200" dirty="0"/>
              <a:t>disp(['V size: ', mat2str(size(V))]);</a:t>
            </a:r>
          </a:p>
          <a:p>
            <a:endParaRPr lang="zh-CN" altLang="en-US" sz="1200" dirty="0"/>
          </a:p>
          <a:p>
            <a:r>
              <a:rPr lang="zh-CN" altLang="en-US" sz="1200" dirty="0"/>
              <a:t>% 检查 proj 和 Ax 的维度</a:t>
            </a:r>
          </a:p>
          <a:p>
            <a:r>
              <a:rPr lang="zh-CN" altLang="en-US" sz="1200" dirty="0"/>
              <a:t>proj_size = size(proj);</a:t>
            </a:r>
          </a:p>
          <a:p>
            <a:r>
              <a:rPr lang="zh-CN" altLang="en-US" sz="1200" dirty="0"/>
              <a:t>Ax_size = size(Ax(res, geo, angles, 'gpuids', gpuids));</a:t>
            </a:r>
          </a:p>
          <a:p>
            <a:r>
              <a:rPr lang="zh-CN" altLang="en-US" sz="1200" dirty="0"/>
              <a:t>disp(['proj size: ', mat2str(proj_size)]);</a:t>
            </a:r>
          </a:p>
          <a:p>
            <a:r>
              <a:rPr lang="zh-CN" altLang="en-US" sz="1200" dirty="0"/>
              <a:t>disp(['Ax output size: ', mat2str(Ax_size)]);</a:t>
            </a:r>
          </a:p>
          <a:p>
            <a:endParaRPr lang="zh-CN" altLang="en-US" sz="1200" dirty="0"/>
          </a:p>
          <a:p>
            <a:r>
              <a:rPr lang="zh-CN" altLang="en-US" sz="1200" dirty="0"/>
              <a:t>% 检查 W 的维度</a:t>
            </a:r>
          </a:p>
          <a:p>
            <a:r>
              <a:rPr lang="zh-CN" altLang="en-US" sz="1200" dirty="0"/>
              <a:t>W_size = size(W);</a:t>
            </a:r>
          </a:p>
          <a:p>
            <a:r>
              <a:rPr lang="zh-CN" altLang="en-US" sz="1200" dirty="0"/>
              <a:t>disp(['W size: ', mat2str(W_size)]);</a:t>
            </a:r>
          </a:p>
          <a:p>
            <a:endParaRPr lang="zh-CN" altLang="en-US" sz="1200" dirty="0"/>
          </a:p>
          <a:p>
            <a:r>
              <a:rPr lang="zh-CN" altLang="en-US" sz="1200" dirty="0"/>
              <a:t>% 检查 Atb 的输出维度</a:t>
            </a:r>
          </a:p>
          <a:p>
            <a:r>
              <a:rPr lang="zh-CN" altLang="en-US" sz="1200" dirty="0"/>
              <a:t>weighted_err = W .* (proj - Ax(res, geo, angles, 'gpuids', gpuids));</a:t>
            </a:r>
          </a:p>
          <a:p>
            <a:r>
              <a:rPr lang="zh-CN" altLang="en-US" sz="1200" dirty="0"/>
              <a:t>Atb_output = Atb(weighted_err, geo, angles, 'gpuids', gpuids);</a:t>
            </a:r>
          </a:p>
          <a:p>
            <a:r>
              <a:rPr lang="zh-CN" altLang="en-US" sz="1200" dirty="0"/>
              <a:t>disp(['Atb output size: ', mat2str(size(Atb_output))]);</a:t>
            </a:r>
          </a:p>
          <a:p>
            <a:endParaRPr lang="zh-CN" altLang="en-US" sz="1200" dirty="0"/>
          </a:p>
          <a:p>
            <a:r>
              <a:rPr lang="zh-CN" altLang="en-US" sz="1200" dirty="0"/>
              <a:t>% 检查 p_h 和 res 的维度</a:t>
            </a:r>
          </a:p>
          <a:p>
            <a:r>
              <a:rPr lang="zh-CN" altLang="en-US" sz="1200" dirty="0"/>
              <a:t>disp(['p_h size: ', mat2str(size(p_h))]);</a:t>
            </a:r>
          </a:p>
          <a:p>
            <a:r>
              <a:rPr lang="zh-CN" altLang="en-US" sz="1200" dirty="0"/>
              <a:t>disp(['res size: ', mat2str(size(res))]);</a:t>
            </a:r>
          </a:p>
          <a:p>
            <a:endParaRPr lang="zh-CN" altLang="en-US" sz="1200" dirty="0"/>
          </a:p>
          <a:p>
            <a:r>
              <a:rPr lang="zh-CN" altLang="en-US" sz="1200" dirty="0"/>
              <a:t>% 检查 alpha_prior * (p_h .* res - res) 的维度</a:t>
            </a:r>
          </a:p>
          <a:p>
            <a:r>
              <a:rPr lang="zh-CN" altLang="en-US" sz="1200" dirty="0"/>
              <a:t>reg_term = alpha_prior * (p_h .* res - res);</a:t>
            </a:r>
          </a:p>
          <a:p>
            <a:r>
              <a:rPr lang="zh-CN" altLang="en-US" sz="1200" dirty="0"/>
              <a:t>disp(['reg_term size: ', mat2str(size(reg_term))]);</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2075" y="797181"/>
            <a:ext cx="4488554" cy="5677917"/>
          </a:xfrm>
          <a:prstGeom prst="rect">
            <a:avLst/>
          </a:prstGeom>
        </p:spPr>
      </p:pic>
    </p:spTree>
    <p:extLst>
      <p:ext uri="{BB962C8B-B14F-4D97-AF65-F5344CB8AC3E}">
        <p14:creationId xmlns:p14="http://schemas.microsoft.com/office/powerpoint/2010/main" val="8299720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27017" y="223652"/>
            <a:ext cx="7086600" cy="2895600"/>
          </a:xfrm>
          <a:prstGeom prst="rect">
            <a:avLst/>
          </a:prstGeom>
        </p:spPr>
      </p:pic>
      <p:pic>
        <p:nvPicPr>
          <p:cNvPr id="3" name="图片 2"/>
          <p:cNvPicPr>
            <a:picLocks noChangeAspect="1"/>
          </p:cNvPicPr>
          <p:nvPr/>
        </p:nvPicPr>
        <p:blipFill>
          <a:blip r:embed="rId3"/>
          <a:stretch>
            <a:fillRect/>
          </a:stretch>
        </p:blipFill>
        <p:spPr>
          <a:xfrm>
            <a:off x="288101" y="3438154"/>
            <a:ext cx="9810750" cy="266700"/>
          </a:xfrm>
          <a:prstGeom prst="rect">
            <a:avLst/>
          </a:prstGeom>
        </p:spPr>
      </p:pic>
      <p:pic>
        <p:nvPicPr>
          <p:cNvPr id="4" name="图片 3"/>
          <p:cNvPicPr>
            <a:picLocks noChangeAspect="1"/>
          </p:cNvPicPr>
          <p:nvPr/>
        </p:nvPicPr>
        <p:blipFill>
          <a:blip r:embed="rId4"/>
          <a:stretch>
            <a:fillRect/>
          </a:stretch>
        </p:blipFill>
        <p:spPr>
          <a:xfrm>
            <a:off x="179490" y="4089319"/>
            <a:ext cx="9315450" cy="285750"/>
          </a:xfrm>
          <a:prstGeom prst="rect">
            <a:avLst/>
          </a:prstGeom>
        </p:spPr>
      </p:pic>
      <p:sp>
        <p:nvSpPr>
          <p:cNvPr id="5" name="矩形 4"/>
          <p:cNvSpPr/>
          <p:nvPr/>
        </p:nvSpPr>
        <p:spPr>
          <a:xfrm>
            <a:off x="427016" y="4954380"/>
            <a:ext cx="4323620" cy="369332"/>
          </a:xfrm>
          <a:prstGeom prst="rect">
            <a:avLst/>
          </a:prstGeom>
        </p:spPr>
        <p:txBody>
          <a:bodyPr wrap="none">
            <a:spAutoFit/>
          </a:bodyPr>
          <a:lstStyle/>
          <a:p>
            <a:r>
              <a:rPr lang="zh-CN" altLang="en-US" dirty="0"/>
              <a:t> figure(),imshow(squeeze(CLFDK(15,:,:)),[]);</a:t>
            </a:r>
          </a:p>
        </p:txBody>
      </p:sp>
    </p:spTree>
    <p:extLst>
      <p:ext uri="{BB962C8B-B14F-4D97-AF65-F5344CB8AC3E}">
        <p14:creationId xmlns:p14="http://schemas.microsoft.com/office/powerpoint/2010/main" val="38722512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94471" y="839993"/>
            <a:ext cx="4962525" cy="4924425"/>
          </a:xfrm>
          <a:prstGeom prst="rect">
            <a:avLst/>
          </a:prstGeom>
        </p:spPr>
      </p:pic>
      <p:pic>
        <p:nvPicPr>
          <p:cNvPr id="3" name="图片 2"/>
          <p:cNvPicPr>
            <a:picLocks noChangeAspect="1"/>
          </p:cNvPicPr>
          <p:nvPr/>
        </p:nvPicPr>
        <p:blipFill>
          <a:blip r:embed="rId3"/>
          <a:stretch>
            <a:fillRect/>
          </a:stretch>
        </p:blipFill>
        <p:spPr>
          <a:xfrm>
            <a:off x="6045840" y="839993"/>
            <a:ext cx="4886325" cy="4914900"/>
          </a:xfrm>
          <a:prstGeom prst="rect">
            <a:avLst/>
          </a:prstGeom>
        </p:spPr>
      </p:pic>
    </p:spTree>
    <p:extLst>
      <p:ext uri="{BB962C8B-B14F-4D97-AF65-F5344CB8AC3E}">
        <p14:creationId xmlns:p14="http://schemas.microsoft.com/office/powerpoint/2010/main" val="316749194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900112" y="709612"/>
            <a:ext cx="4905375" cy="4886325"/>
          </a:xfrm>
          <a:prstGeom prst="rect">
            <a:avLst/>
          </a:prstGeom>
        </p:spPr>
      </p:pic>
      <p:pic>
        <p:nvPicPr>
          <p:cNvPr id="3" name="图片 2"/>
          <p:cNvPicPr>
            <a:picLocks noChangeAspect="1"/>
          </p:cNvPicPr>
          <p:nvPr/>
        </p:nvPicPr>
        <p:blipFill>
          <a:blip r:embed="rId3"/>
          <a:stretch>
            <a:fillRect/>
          </a:stretch>
        </p:blipFill>
        <p:spPr>
          <a:xfrm>
            <a:off x="6167438" y="709611"/>
            <a:ext cx="4886325" cy="4886325"/>
          </a:xfrm>
          <a:prstGeom prst="rect">
            <a:avLst/>
          </a:prstGeom>
        </p:spPr>
      </p:pic>
      <p:sp>
        <p:nvSpPr>
          <p:cNvPr id="4" name="文本框 3"/>
          <p:cNvSpPr txBox="1"/>
          <p:nvPr/>
        </p:nvSpPr>
        <p:spPr>
          <a:xfrm>
            <a:off x="3110165" y="5757111"/>
            <a:ext cx="704039" cy="369332"/>
          </a:xfrm>
          <a:prstGeom prst="rect">
            <a:avLst/>
          </a:prstGeom>
          <a:noFill/>
        </p:spPr>
        <p:txBody>
          <a:bodyPr wrap="none" rtlCol="0">
            <a:spAutoFit/>
          </a:bodyPr>
          <a:lstStyle/>
          <a:p>
            <a:r>
              <a:rPr lang="en-US" altLang="zh-CN" dirty="0"/>
              <a:t>SART</a:t>
            </a:r>
            <a:endParaRPr lang="zh-CN" altLang="en-US" dirty="0"/>
          </a:p>
        </p:txBody>
      </p:sp>
      <p:sp>
        <p:nvSpPr>
          <p:cNvPr id="5" name="文本框 4"/>
          <p:cNvSpPr txBox="1"/>
          <p:nvPr/>
        </p:nvSpPr>
        <p:spPr>
          <a:xfrm>
            <a:off x="8129338" y="5757111"/>
            <a:ext cx="1061509" cy="369332"/>
          </a:xfrm>
          <a:prstGeom prst="rect">
            <a:avLst/>
          </a:prstGeom>
          <a:noFill/>
        </p:spPr>
        <p:txBody>
          <a:bodyPr wrap="none" rtlCol="0">
            <a:spAutoFit/>
          </a:bodyPr>
          <a:lstStyle/>
          <a:p>
            <a:r>
              <a:rPr lang="en-US" altLang="zh-CN" dirty="0"/>
              <a:t>SART_TV</a:t>
            </a:r>
            <a:endParaRPr lang="zh-CN" altLang="en-US" dirty="0"/>
          </a:p>
        </p:txBody>
      </p:sp>
    </p:spTree>
    <p:extLst>
      <p:ext uri="{BB962C8B-B14F-4D97-AF65-F5344CB8AC3E}">
        <p14:creationId xmlns:p14="http://schemas.microsoft.com/office/powerpoint/2010/main" val="28073331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733425" y="561975"/>
            <a:ext cx="4895850" cy="4895850"/>
          </a:xfrm>
          <a:prstGeom prst="rect">
            <a:avLst/>
          </a:prstGeom>
        </p:spPr>
      </p:pic>
      <p:pic>
        <p:nvPicPr>
          <p:cNvPr id="3" name="图片 2"/>
          <p:cNvPicPr>
            <a:picLocks noChangeAspect="1"/>
          </p:cNvPicPr>
          <p:nvPr/>
        </p:nvPicPr>
        <p:blipFill>
          <a:blip r:embed="rId3"/>
          <a:stretch>
            <a:fillRect/>
          </a:stretch>
        </p:blipFill>
        <p:spPr>
          <a:xfrm>
            <a:off x="5963771" y="561975"/>
            <a:ext cx="4895850" cy="4895850"/>
          </a:xfrm>
          <a:prstGeom prst="rect">
            <a:avLst/>
          </a:prstGeom>
        </p:spPr>
      </p:pic>
      <p:sp>
        <p:nvSpPr>
          <p:cNvPr id="4" name="文本框 3"/>
          <p:cNvSpPr txBox="1"/>
          <p:nvPr/>
        </p:nvSpPr>
        <p:spPr>
          <a:xfrm>
            <a:off x="7913003" y="5757111"/>
            <a:ext cx="997389" cy="369332"/>
          </a:xfrm>
          <a:prstGeom prst="rect">
            <a:avLst/>
          </a:prstGeom>
          <a:noFill/>
        </p:spPr>
        <p:txBody>
          <a:bodyPr wrap="none" rtlCol="0">
            <a:spAutoFit/>
          </a:bodyPr>
          <a:lstStyle/>
          <a:p>
            <a:r>
              <a:rPr lang="en-US" altLang="zh-CN" dirty="0"/>
              <a:t>OSSART</a:t>
            </a:r>
            <a:endParaRPr lang="zh-CN" altLang="en-US" dirty="0"/>
          </a:p>
        </p:txBody>
      </p:sp>
      <p:sp>
        <p:nvSpPr>
          <p:cNvPr id="5" name="文本框 4"/>
          <p:cNvSpPr txBox="1"/>
          <p:nvPr/>
        </p:nvSpPr>
        <p:spPr>
          <a:xfrm>
            <a:off x="2650597" y="5757111"/>
            <a:ext cx="1061509" cy="369332"/>
          </a:xfrm>
          <a:prstGeom prst="rect">
            <a:avLst/>
          </a:prstGeom>
          <a:noFill/>
        </p:spPr>
        <p:txBody>
          <a:bodyPr wrap="none" rtlCol="0">
            <a:spAutoFit/>
          </a:bodyPr>
          <a:lstStyle/>
          <a:p>
            <a:r>
              <a:rPr lang="en-US" altLang="zh-CN" dirty="0"/>
              <a:t>SART_TV</a:t>
            </a:r>
            <a:endParaRPr lang="zh-CN" altLang="en-US" dirty="0"/>
          </a:p>
        </p:txBody>
      </p:sp>
    </p:spTree>
    <p:extLst>
      <p:ext uri="{BB962C8B-B14F-4D97-AF65-F5344CB8AC3E}">
        <p14:creationId xmlns:p14="http://schemas.microsoft.com/office/powerpoint/2010/main" val="30148849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56266" y="591354"/>
            <a:ext cx="4895239" cy="4857144"/>
          </a:xfrm>
          <a:prstGeom prst="rect">
            <a:avLst/>
          </a:prstGeom>
        </p:spPr>
      </p:pic>
      <p:sp>
        <p:nvSpPr>
          <p:cNvPr id="3" name="文本框 2"/>
          <p:cNvSpPr txBox="1"/>
          <p:nvPr/>
        </p:nvSpPr>
        <p:spPr>
          <a:xfrm>
            <a:off x="2249906" y="5787189"/>
            <a:ext cx="1928733" cy="369332"/>
          </a:xfrm>
          <a:prstGeom prst="rect">
            <a:avLst/>
          </a:prstGeom>
          <a:noFill/>
        </p:spPr>
        <p:txBody>
          <a:bodyPr wrap="none" rtlCol="0">
            <a:spAutoFit/>
          </a:bodyPr>
          <a:lstStyle/>
          <a:p>
            <a:r>
              <a:rPr lang="en-US" altLang="zh-CN" dirty="0"/>
              <a:t>OTCL_SART</a:t>
            </a:r>
            <a:r>
              <a:rPr lang="zh-CN" altLang="en-US" dirty="0"/>
              <a:t>，</a:t>
            </a:r>
            <a:r>
              <a:rPr lang="en-US" altLang="zh-CN" dirty="0"/>
              <a:t>4</a:t>
            </a:r>
            <a:r>
              <a:rPr lang="zh-CN" altLang="en-US" dirty="0"/>
              <a:t>倍</a:t>
            </a:r>
          </a:p>
        </p:txBody>
      </p:sp>
      <p:pic>
        <p:nvPicPr>
          <p:cNvPr id="4" name="图片 3"/>
          <p:cNvPicPr>
            <a:picLocks noChangeAspect="1"/>
          </p:cNvPicPr>
          <p:nvPr/>
        </p:nvPicPr>
        <p:blipFill>
          <a:blip r:embed="rId3"/>
          <a:stretch>
            <a:fillRect/>
          </a:stretch>
        </p:blipFill>
        <p:spPr>
          <a:xfrm>
            <a:off x="5947412" y="591355"/>
            <a:ext cx="4857144" cy="4866667"/>
          </a:xfrm>
          <a:prstGeom prst="rect">
            <a:avLst/>
          </a:prstGeom>
        </p:spPr>
      </p:pic>
      <p:sp>
        <p:nvSpPr>
          <p:cNvPr id="5" name="文本框 4"/>
          <p:cNvSpPr txBox="1"/>
          <p:nvPr/>
        </p:nvSpPr>
        <p:spPr>
          <a:xfrm>
            <a:off x="7703364" y="5710989"/>
            <a:ext cx="2165978" cy="369332"/>
          </a:xfrm>
          <a:prstGeom prst="rect">
            <a:avLst/>
          </a:prstGeom>
          <a:noFill/>
        </p:spPr>
        <p:txBody>
          <a:bodyPr wrap="none" rtlCol="0">
            <a:spAutoFit/>
          </a:bodyPr>
          <a:lstStyle/>
          <a:p>
            <a:r>
              <a:rPr lang="en-US" altLang="zh-CN" dirty="0"/>
              <a:t>OTCL_SART,1.536</a:t>
            </a:r>
            <a:r>
              <a:rPr lang="zh-CN" altLang="en-US" dirty="0"/>
              <a:t>倍</a:t>
            </a:r>
          </a:p>
        </p:txBody>
      </p:sp>
    </p:spTree>
    <p:extLst>
      <p:ext uri="{BB962C8B-B14F-4D97-AF65-F5344CB8AC3E}">
        <p14:creationId xmlns:p14="http://schemas.microsoft.com/office/powerpoint/2010/main" val="121995551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64759" y="667307"/>
            <a:ext cx="4857144" cy="4885714"/>
          </a:xfrm>
          <a:prstGeom prst="rect">
            <a:avLst/>
          </a:prstGeom>
        </p:spPr>
      </p:pic>
      <p:sp>
        <p:nvSpPr>
          <p:cNvPr id="3" name="文本框 2"/>
          <p:cNvSpPr txBox="1"/>
          <p:nvPr/>
        </p:nvSpPr>
        <p:spPr>
          <a:xfrm>
            <a:off x="1674273" y="5753100"/>
            <a:ext cx="2396810" cy="369332"/>
          </a:xfrm>
          <a:prstGeom prst="rect">
            <a:avLst/>
          </a:prstGeom>
          <a:noFill/>
        </p:spPr>
        <p:txBody>
          <a:bodyPr wrap="none" rtlCol="0">
            <a:spAutoFit/>
          </a:bodyPr>
          <a:lstStyle/>
          <a:p>
            <a:r>
              <a:rPr lang="en-US" altLang="zh-CN" dirty="0"/>
              <a:t>OTCL_SART,1.536</a:t>
            </a:r>
            <a:r>
              <a:rPr lang="zh-CN" altLang="en-US" dirty="0"/>
              <a:t>倍，</a:t>
            </a:r>
          </a:p>
        </p:txBody>
      </p:sp>
      <p:pic>
        <p:nvPicPr>
          <p:cNvPr id="4" name="图片 3"/>
          <p:cNvPicPr>
            <a:picLocks noChangeAspect="1"/>
          </p:cNvPicPr>
          <p:nvPr/>
        </p:nvPicPr>
        <p:blipFill>
          <a:blip r:embed="rId3"/>
          <a:stretch>
            <a:fillRect/>
          </a:stretch>
        </p:blipFill>
        <p:spPr>
          <a:xfrm>
            <a:off x="6204839" y="667307"/>
            <a:ext cx="4847619" cy="4866667"/>
          </a:xfrm>
          <a:prstGeom prst="rect">
            <a:avLst/>
          </a:prstGeom>
        </p:spPr>
      </p:pic>
      <p:sp>
        <p:nvSpPr>
          <p:cNvPr id="5" name="矩形 4"/>
          <p:cNvSpPr/>
          <p:nvPr/>
        </p:nvSpPr>
        <p:spPr>
          <a:xfrm>
            <a:off x="3697126" y="5753100"/>
            <a:ext cx="1402948" cy="369332"/>
          </a:xfrm>
          <a:prstGeom prst="rect">
            <a:avLst/>
          </a:prstGeom>
        </p:spPr>
        <p:txBody>
          <a:bodyPr wrap="none">
            <a:spAutoFit/>
          </a:bodyPr>
          <a:lstStyle/>
          <a:p>
            <a:r>
              <a:rPr lang="zh-CN" altLang="en-US" dirty="0"/>
              <a:t>像体素比</a:t>
            </a:r>
            <a:r>
              <a:rPr lang="en-US" altLang="zh-CN" dirty="0"/>
              <a:t>1.7</a:t>
            </a:r>
            <a:endParaRPr lang="zh-CN" altLang="en-US" dirty="0"/>
          </a:p>
        </p:txBody>
      </p:sp>
      <p:sp>
        <p:nvSpPr>
          <p:cNvPr id="6" name="矩形 5"/>
          <p:cNvSpPr/>
          <p:nvPr/>
        </p:nvSpPr>
        <p:spPr>
          <a:xfrm>
            <a:off x="8028686" y="5753100"/>
            <a:ext cx="1402948" cy="369332"/>
          </a:xfrm>
          <a:prstGeom prst="rect">
            <a:avLst/>
          </a:prstGeom>
        </p:spPr>
        <p:txBody>
          <a:bodyPr wrap="none">
            <a:spAutoFit/>
          </a:bodyPr>
          <a:lstStyle/>
          <a:p>
            <a:r>
              <a:rPr lang="zh-CN" altLang="en-US" dirty="0"/>
              <a:t>像体素比</a:t>
            </a:r>
            <a:r>
              <a:rPr lang="en-US" altLang="zh-CN" dirty="0"/>
              <a:t>2.4</a:t>
            </a:r>
            <a:endParaRPr lang="zh-CN" altLang="en-US" dirty="0"/>
          </a:p>
        </p:txBody>
      </p:sp>
    </p:spTree>
    <p:extLst>
      <p:ext uri="{BB962C8B-B14F-4D97-AF65-F5344CB8AC3E}">
        <p14:creationId xmlns:p14="http://schemas.microsoft.com/office/powerpoint/2010/main" val="36778216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71574" y="166551"/>
            <a:ext cx="4866667" cy="4857144"/>
          </a:xfrm>
          <a:prstGeom prst="rect">
            <a:avLst/>
          </a:prstGeom>
        </p:spPr>
      </p:pic>
      <p:sp>
        <p:nvSpPr>
          <p:cNvPr id="3" name="文本框 2"/>
          <p:cNvSpPr txBox="1"/>
          <p:nvPr/>
        </p:nvSpPr>
        <p:spPr>
          <a:xfrm>
            <a:off x="155829" y="5057637"/>
            <a:ext cx="1646605" cy="369332"/>
          </a:xfrm>
          <a:prstGeom prst="rect">
            <a:avLst/>
          </a:prstGeom>
          <a:noFill/>
        </p:spPr>
        <p:txBody>
          <a:bodyPr wrap="none" rtlCol="0">
            <a:spAutoFit/>
          </a:bodyPr>
          <a:lstStyle/>
          <a:p>
            <a:r>
              <a:rPr lang="zh-CN" altLang="en-US" dirty="0"/>
              <a:t>圆周</a:t>
            </a:r>
            <a:r>
              <a:rPr lang="en-US" altLang="zh-CN" dirty="0"/>
              <a:t>CL</a:t>
            </a:r>
            <a:r>
              <a:rPr lang="zh-CN" altLang="en-US" dirty="0"/>
              <a:t>，</a:t>
            </a:r>
            <a:r>
              <a:rPr lang="en-US" altLang="zh-CN" dirty="0"/>
              <a:t>SART</a:t>
            </a:r>
            <a:endParaRPr lang="zh-CN" altLang="en-US" dirty="0"/>
          </a:p>
        </p:txBody>
      </p:sp>
      <p:sp>
        <p:nvSpPr>
          <p:cNvPr id="4" name="矩形 3"/>
          <p:cNvSpPr/>
          <p:nvPr/>
        </p:nvSpPr>
        <p:spPr>
          <a:xfrm>
            <a:off x="155826" y="5586400"/>
            <a:ext cx="6096001" cy="646331"/>
          </a:xfrm>
          <a:prstGeom prst="rect">
            <a:avLst/>
          </a:prstGeom>
        </p:spPr>
        <p:txBody>
          <a:bodyPr>
            <a:spAutoFit/>
          </a:bodyPr>
          <a:lstStyle/>
          <a:p>
            <a:r>
              <a:rPr lang="en-US" altLang="zh-CN" dirty="0" err="1">
                <a:solidFill>
                  <a:srgbClr val="000000"/>
                </a:solidFill>
                <a:latin typeface="Courier New" panose="02070309020205020404" pitchFamily="49" charset="0"/>
              </a:rPr>
              <a:t>geo.DSD</a:t>
            </a:r>
            <a:r>
              <a:rPr lang="en-US" altLang="zh-CN" dirty="0">
                <a:solidFill>
                  <a:srgbClr val="000000"/>
                </a:solidFill>
                <a:latin typeface="Courier New" panose="02070309020205020404" pitchFamily="49" charset="0"/>
              </a:rPr>
              <a:t> = 200; </a:t>
            </a:r>
          </a:p>
          <a:p>
            <a:r>
              <a:rPr lang="en-US" altLang="zh-CN" dirty="0" err="1">
                <a:solidFill>
                  <a:srgbClr val="000000"/>
                </a:solidFill>
                <a:latin typeface="Courier New" panose="02070309020205020404" pitchFamily="49" charset="0"/>
              </a:rPr>
              <a:t>geo.DSO</a:t>
            </a:r>
            <a:r>
              <a:rPr lang="en-US" altLang="zh-CN" dirty="0">
                <a:solidFill>
                  <a:srgbClr val="000000"/>
                </a:solidFill>
                <a:latin typeface="Courier New" panose="02070309020205020404" pitchFamily="49" charset="0"/>
              </a:rPr>
              <a:t> = 50;</a:t>
            </a:r>
          </a:p>
        </p:txBody>
      </p:sp>
      <p:sp>
        <p:nvSpPr>
          <p:cNvPr id="5" name="矩形 4"/>
          <p:cNvSpPr/>
          <p:nvPr/>
        </p:nvSpPr>
        <p:spPr>
          <a:xfrm>
            <a:off x="155826" y="6160162"/>
            <a:ext cx="6096001" cy="646331"/>
          </a:xfrm>
          <a:prstGeom prst="rect">
            <a:avLst/>
          </a:prstGeom>
        </p:spPr>
        <p:txBody>
          <a:bodyPr>
            <a:spAutoFit/>
          </a:bodyPr>
          <a:lstStyle/>
          <a:p>
            <a:r>
              <a:rPr lang="en-US" altLang="zh-CN" dirty="0" err="1">
                <a:solidFill>
                  <a:srgbClr val="000000"/>
                </a:solidFill>
                <a:latin typeface="Courier New" panose="02070309020205020404" pitchFamily="49" charset="0"/>
              </a:rPr>
              <a:t>geo.nDetector</a:t>
            </a:r>
            <a:r>
              <a:rPr lang="en-US" altLang="zh-CN" dirty="0">
                <a:solidFill>
                  <a:srgbClr val="000000"/>
                </a:solidFill>
                <a:latin typeface="Courier New" panose="02070309020205020404" pitchFamily="49" charset="0"/>
              </a:rPr>
              <a:t> = [1024;1024]; </a:t>
            </a:r>
          </a:p>
          <a:p>
            <a:r>
              <a:rPr lang="en-US" altLang="zh-CN" dirty="0" err="1">
                <a:solidFill>
                  <a:srgbClr val="000000"/>
                </a:solidFill>
                <a:latin typeface="Courier New" panose="02070309020205020404" pitchFamily="49" charset="0"/>
              </a:rPr>
              <a:t>geo.dDetector</a:t>
            </a:r>
            <a:r>
              <a:rPr lang="en-US" altLang="zh-CN" dirty="0">
                <a:solidFill>
                  <a:srgbClr val="000000"/>
                </a:solidFill>
                <a:latin typeface="Courier New" panose="02070309020205020404" pitchFamily="49" charset="0"/>
              </a:rPr>
              <a:t> = [0.06;0.06];</a:t>
            </a:r>
          </a:p>
        </p:txBody>
      </p:sp>
      <p:sp>
        <p:nvSpPr>
          <p:cNvPr id="6" name="矩形 5"/>
          <p:cNvSpPr/>
          <p:nvPr/>
        </p:nvSpPr>
        <p:spPr>
          <a:xfrm>
            <a:off x="2270976" y="5550115"/>
            <a:ext cx="6096001" cy="646331"/>
          </a:xfrm>
          <a:prstGeom prst="rect">
            <a:avLst/>
          </a:prstGeom>
        </p:spPr>
        <p:txBody>
          <a:bodyPr>
            <a:spAutoFit/>
          </a:bodyPr>
          <a:lstStyle/>
          <a:p>
            <a:r>
              <a:rPr lang="en-US" altLang="zh-CN" dirty="0" err="1">
                <a:solidFill>
                  <a:srgbClr val="000000"/>
                </a:solidFill>
                <a:latin typeface="Courier New" panose="02070309020205020404" pitchFamily="49" charset="0"/>
              </a:rPr>
              <a:t>geo.nVoxel</a:t>
            </a:r>
            <a:r>
              <a:rPr lang="en-US" altLang="zh-CN" dirty="0">
                <a:solidFill>
                  <a:srgbClr val="000000"/>
                </a:solidFill>
                <a:latin typeface="Courier New" panose="02070309020205020404" pitchFamily="49" charset="0"/>
              </a:rPr>
              <a:t> = [30;512;512]; </a:t>
            </a:r>
          </a:p>
          <a:p>
            <a:r>
              <a:rPr lang="en-US" altLang="zh-CN" dirty="0" err="1">
                <a:solidFill>
                  <a:srgbClr val="000000"/>
                </a:solidFill>
                <a:latin typeface="Courier New" panose="02070309020205020404" pitchFamily="49" charset="0"/>
              </a:rPr>
              <a:t>geo.dVoxel</a:t>
            </a:r>
            <a:r>
              <a:rPr lang="en-US" altLang="zh-CN" dirty="0">
                <a:solidFill>
                  <a:srgbClr val="000000"/>
                </a:solidFill>
                <a:latin typeface="Courier New" panose="02070309020205020404" pitchFamily="49" charset="0"/>
              </a:rPr>
              <a:t> = [0.02;0.02;0.02];</a:t>
            </a:r>
          </a:p>
        </p:txBody>
      </p:sp>
      <p:pic>
        <p:nvPicPr>
          <p:cNvPr id="7" name="图片 6"/>
          <p:cNvPicPr>
            <a:picLocks noChangeAspect="1"/>
          </p:cNvPicPr>
          <p:nvPr/>
        </p:nvPicPr>
        <p:blipFill>
          <a:blip r:embed="rId3"/>
          <a:stretch>
            <a:fillRect/>
          </a:stretch>
        </p:blipFill>
        <p:spPr>
          <a:xfrm>
            <a:off x="6618974" y="166551"/>
            <a:ext cx="4857144" cy="4857144"/>
          </a:xfrm>
          <a:prstGeom prst="rect">
            <a:avLst/>
          </a:prstGeom>
        </p:spPr>
      </p:pic>
      <p:sp>
        <p:nvSpPr>
          <p:cNvPr id="8" name="文本框 7"/>
          <p:cNvSpPr txBox="1"/>
          <p:nvPr/>
        </p:nvSpPr>
        <p:spPr>
          <a:xfrm>
            <a:off x="8171728" y="5066485"/>
            <a:ext cx="2114681" cy="369332"/>
          </a:xfrm>
          <a:prstGeom prst="rect">
            <a:avLst/>
          </a:prstGeom>
          <a:noFill/>
        </p:spPr>
        <p:txBody>
          <a:bodyPr wrap="none" rtlCol="0">
            <a:spAutoFit/>
          </a:bodyPr>
          <a:lstStyle/>
          <a:p>
            <a:r>
              <a:rPr lang="en-US" altLang="zh-CN" dirty="0"/>
              <a:t>OTCL</a:t>
            </a:r>
            <a:r>
              <a:rPr lang="zh-CN" altLang="en-US" dirty="0"/>
              <a:t>，师兄的几何</a:t>
            </a:r>
          </a:p>
        </p:txBody>
      </p:sp>
    </p:spTree>
    <p:extLst>
      <p:ext uri="{BB962C8B-B14F-4D97-AF65-F5344CB8AC3E}">
        <p14:creationId xmlns:p14="http://schemas.microsoft.com/office/powerpoint/2010/main" val="42557413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b="1957"/>
          <a:stretch/>
        </p:blipFill>
        <p:spPr bwMode="auto">
          <a:xfrm>
            <a:off x="2" y="123217"/>
            <a:ext cx="12095382" cy="62905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095450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6" y="0"/>
            <a:ext cx="12030075" cy="646331"/>
          </a:xfrm>
          <a:prstGeom prst="rect">
            <a:avLst/>
          </a:prstGeom>
        </p:spPr>
        <p:txBody>
          <a:bodyPr wrap="square">
            <a:spAutoFit/>
          </a:bodyPr>
          <a:lstStyle/>
          <a:p>
            <a:r>
              <a:rPr lang="pt-BR" altLang="zh-CN" dirty="0"/>
              <a:t> res=res+lambda*bsxfun</a:t>
            </a:r>
            <a:r>
              <a:rPr lang="pt-BR" altLang="zh-CN" dirty="0">
                <a:solidFill>
                  <a:srgbClr val="FF0000"/>
                </a:solidFill>
              </a:rPr>
              <a:t>(</a:t>
            </a:r>
            <a:r>
              <a:rPr lang="pt-BR" altLang="zh-CN" dirty="0"/>
              <a:t>@times,1./V,Atb</a:t>
            </a:r>
            <a:r>
              <a:rPr lang="pt-BR" altLang="zh-CN" dirty="0">
                <a:solidFill>
                  <a:srgbClr val="FF0000"/>
                </a:solidFill>
              </a:rPr>
              <a:t>(</a:t>
            </a:r>
            <a:r>
              <a:rPr lang="pt-BR" altLang="zh-CN" dirty="0"/>
              <a:t>W.*</a:t>
            </a:r>
            <a:r>
              <a:rPr lang="pt-BR" altLang="zh-CN" dirty="0">
                <a:solidFill>
                  <a:srgbClr val="FF0000"/>
                </a:solidFill>
              </a:rPr>
              <a:t>(</a:t>
            </a:r>
            <a:r>
              <a:rPr lang="pt-BR" altLang="zh-CN" dirty="0"/>
              <a:t>proj-Ax</a:t>
            </a:r>
            <a:r>
              <a:rPr lang="pt-BR" altLang="zh-CN" dirty="0">
                <a:solidFill>
                  <a:srgbClr val="FF0000"/>
                </a:solidFill>
              </a:rPr>
              <a:t>(</a:t>
            </a:r>
            <a:r>
              <a:rPr lang="pt-BR" altLang="zh-CN" dirty="0"/>
              <a:t>res,geo,angles,'gpuids',gpuids)),geo,angles,'gpuids',gpuids))+ lambda* bsxfun(@times,1./V,alpha_prior*(p_h.*res-res));</a:t>
            </a:r>
            <a:endParaRPr lang="en-US" altLang="zh-CN" dirty="0"/>
          </a:p>
        </p:txBody>
      </p:sp>
      <p:pic>
        <p:nvPicPr>
          <p:cNvPr id="5" name="图片 4"/>
          <p:cNvPicPr>
            <a:picLocks noChangeAspect="1"/>
          </p:cNvPicPr>
          <p:nvPr/>
        </p:nvPicPr>
        <p:blipFill>
          <a:blip r:embed="rId2"/>
          <a:stretch>
            <a:fillRect/>
          </a:stretch>
        </p:blipFill>
        <p:spPr>
          <a:xfrm>
            <a:off x="0" y="785812"/>
            <a:ext cx="6858000" cy="2714625"/>
          </a:xfrm>
          <a:prstGeom prst="rect">
            <a:avLst/>
          </a:prstGeom>
        </p:spPr>
      </p:pic>
    </p:spTree>
    <p:extLst>
      <p:ext uri="{BB962C8B-B14F-4D97-AF65-F5344CB8AC3E}">
        <p14:creationId xmlns:p14="http://schemas.microsoft.com/office/powerpoint/2010/main" val="386706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4837814" cy="3798925"/>
          </a:xfrm>
          <a:prstGeom prst="rect">
            <a:avLst/>
          </a:prstGeom>
        </p:spPr>
      </p:pic>
      <p:pic>
        <p:nvPicPr>
          <p:cNvPr id="4" name="图片 3"/>
          <p:cNvPicPr>
            <a:picLocks noChangeAspect="1"/>
          </p:cNvPicPr>
          <p:nvPr/>
        </p:nvPicPr>
        <p:blipFill>
          <a:blip r:embed="rId4"/>
          <a:stretch>
            <a:fillRect/>
          </a:stretch>
        </p:blipFill>
        <p:spPr>
          <a:xfrm>
            <a:off x="1174481" y="3557496"/>
            <a:ext cx="9247618" cy="771429"/>
          </a:xfrm>
          <a:prstGeom prst="rect">
            <a:avLst/>
          </a:prstGeom>
        </p:spPr>
      </p:pic>
      <p:pic>
        <p:nvPicPr>
          <p:cNvPr id="5" name="图片 4"/>
          <p:cNvPicPr>
            <a:picLocks noChangeAspect="1"/>
          </p:cNvPicPr>
          <p:nvPr/>
        </p:nvPicPr>
        <p:blipFill>
          <a:blip r:embed="rId5"/>
          <a:stretch>
            <a:fillRect/>
          </a:stretch>
        </p:blipFill>
        <p:spPr>
          <a:xfrm>
            <a:off x="1079241" y="4328925"/>
            <a:ext cx="9342857" cy="2304761"/>
          </a:xfrm>
          <a:prstGeom prst="rect">
            <a:avLst/>
          </a:prstGeom>
        </p:spPr>
      </p:pic>
    </p:spTree>
    <p:extLst>
      <p:ext uri="{BB962C8B-B14F-4D97-AF65-F5344CB8AC3E}">
        <p14:creationId xmlns:p14="http://schemas.microsoft.com/office/powerpoint/2010/main" val="30908600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85265" y="510376"/>
            <a:ext cx="4782564" cy="203206"/>
          </a:xfrm>
          <a:prstGeom prst="rect">
            <a:avLst/>
          </a:prstGeom>
        </p:spPr>
      </p:pic>
      <p:sp>
        <p:nvSpPr>
          <p:cNvPr id="4" name="文本框 3"/>
          <p:cNvSpPr txBox="1"/>
          <p:nvPr/>
        </p:nvSpPr>
        <p:spPr>
          <a:xfrm>
            <a:off x="277406" y="510376"/>
            <a:ext cx="607859" cy="600164"/>
          </a:xfrm>
          <a:prstGeom prst="rect">
            <a:avLst/>
          </a:prstGeom>
          <a:noFill/>
        </p:spPr>
        <p:txBody>
          <a:bodyPr wrap="none" rtlCol="0">
            <a:spAutoFit/>
          </a:bodyPr>
          <a:lstStyle/>
          <a:p>
            <a:r>
              <a:rPr lang="zh-CN" altLang="en-US" sz="1100" dirty="0"/>
              <a:t>倾斜</a:t>
            </a:r>
            <a:endParaRPr lang="en-US" altLang="zh-CN" sz="1100" dirty="0"/>
          </a:p>
          <a:p>
            <a:endParaRPr lang="en-US" altLang="zh-CN" sz="1100" dirty="0"/>
          </a:p>
          <a:p>
            <a:r>
              <a:rPr lang="zh-CN" altLang="en-US" sz="1100" dirty="0"/>
              <a:t>非倾斜</a:t>
            </a:r>
          </a:p>
        </p:txBody>
      </p:sp>
      <p:sp>
        <p:nvSpPr>
          <p:cNvPr id="5" name="文本框 4"/>
          <p:cNvSpPr txBox="1"/>
          <p:nvPr/>
        </p:nvSpPr>
        <p:spPr>
          <a:xfrm>
            <a:off x="277406" y="165251"/>
            <a:ext cx="2569028" cy="276999"/>
          </a:xfrm>
          <a:prstGeom prst="rect">
            <a:avLst/>
          </a:prstGeom>
          <a:noFill/>
        </p:spPr>
        <p:txBody>
          <a:bodyPr wrap="square" rtlCol="0">
            <a:spAutoFit/>
          </a:bodyPr>
          <a:lstStyle/>
          <a:p>
            <a:r>
              <a:rPr lang="en-US" altLang="zh-CN" sz="1200" dirty="0">
                <a:solidFill>
                  <a:srgbClr val="FF0000"/>
                </a:solidFill>
              </a:rPr>
              <a:t>45°</a:t>
            </a:r>
            <a:r>
              <a:rPr lang="zh-CN" altLang="en-US" sz="1200" dirty="0">
                <a:solidFill>
                  <a:srgbClr val="FF0000"/>
                </a:solidFill>
              </a:rPr>
              <a:t>，</a:t>
            </a:r>
            <a:r>
              <a:rPr lang="en-US" altLang="zh-CN" sz="1200" dirty="0">
                <a:solidFill>
                  <a:srgbClr val="FF0000"/>
                </a:solidFill>
              </a:rPr>
              <a:t>36</a:t>
            </a:r>
            <a:r>
              <a:rPr lang="zh-CN" altLang="en-US" sz="1200" dirty="0">
                <a:solidFill>
                  <a:srgbClr val="FF0000"/>
                </a:solidFill>
              </a:rPr>
              <a:t>视角</a:t>
            </a:r>
          </a:p>
        </p:txBody>
      </p:sp>
      <p:pic>
        <p:nvPicPr>
          <p:cNvPr id="7" name="图片 6"/>
          <p:cNvPicPr>
            <a:picLocks noChangeAspect="1"/>
          </p:cNvPicPr>
          <p:nvPr/>
        </p:nvPicPr>
        <p:blipFill>
          <a:blip r:embed="rId3"/>
          <a:stretch>
            <a:fillRect/>
          </a:stretch>
        </p:blipFill>
        <p:spPr>
          <a:xfrm>
            <a:off x="885263" y="911861"/>
            <a:ext cx="4725984" cy="144085"/>
          </a:xfrm>
          <a:prstGeom prst="rect">
            <a:avLst/>
          </a:prstGeom>
        </p:spPr>
      </p:pic>
      <p:sp>
        <p:nvSpPr>
          <p:cNvPr id="9" name="圆角矩形 8"/>
          <p:cNvSpPr/>
          <p:nvPr/>
        </p:nvSpPr>
        <p:spPr>
          <a:xfrm>
            <a:off x="9319260" y="-11166"/>
            <a:ext cx="2872739" cy="4457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两种</a:t>
            </a:r>
            <a:r>
              <a:rPr lang="en-US" altLang="zh-CN"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CL</a:t>
            </a:r>
            <a:r>
              <a:rPr lang="zh-CN" altLang="en-US" sz="2000" b="1" spc="50" dirty="0">
                <a:ln w="0"/>
                <a:solidFill>
                  <a:schemeClr val="bg1"/>
                </a:solidFill>
                <a:effectLst>
                  <a:innerShdw blurRad="63500" dist="50800" dir="13500000">
                    <a:srgbClr val="000000">
                      <a:alpha val="50000"/>
                    </a:srgbClr>
                  </a:innerShdw>
                </a:effectLst>
                <a:latin typeface="黑体" panose="02010609060101010101" pitchFamily="49" charset="-122"/>
                <a:ea typeface="黑体" panose="02010609060101010101" pitchFamily="49" charset="-122"/>
              </a:rPr>
              <a:t>方式质量比较</a:t>
            </a:r>
          </a:p>
        </p:txBody>
      </p:sp>
      <p:sp>
        <p:nvSpPr>
          <p:cNvPr id="11" name="文本框 10"/>
          <p:cNvSpPr txBox="1"/>
          <p:nvPr/>
        </p:nvSpPr>
        <p:spPr>
          <a:xfrm>
            <a:off x="277406" y="1178667"/>
            <a:ext cx="2569028" cy="276999"/>
          </a:xfrm>
          <a:prstGeom prst="rect">
            <a:avLst/>
          </a:prstGeom>
          <a:noFill/>
        </p:spPr>
        <p:txBody>
          <a:bodyPr wrap="square" rtlCol="0">
            <a:spAutoFit/>
          </a:bodyPr>
          <a:lstStyle/>
          <a:p>
            <a:r>
              <a:rPr lang="en-US" altLang="zh-CN" sz="1200" dirty="0">
                <a:solidFill>
                  <a:srgbClr val="FF0000"/>
                </a:solidFill>
              </a:rPr>
              <a:t>45°</a:t>
            </a:r>
            <a:r>
              <a:rPr lang="zh-CN" altLang="en-US" sz="1200" dirty="0">
                <a:solidFill>
                  <a:srgbClr val="FF0000"/>
                </a:solidFill>
              </a:rPr>
              <a:t>，</a:t>
            </a:r>
            <a:r>
              <a:rPr lang="en-US" altLang="zh-CN" sz="1200" dirty="0">
                <a:solidFill>
                  <a:srgbClr val="FF0000"/>
                </a:solidFill>
              </a:rPr>
              <a:t>180</a:t>
            </a:r>
            <a:r>
              <a:rPr lang="zh-CN" altLang="en-US" sz="1200" dirty="0">
                <a:solidFill>
                  <a:srgbClr val="FF0000"/>
                </a:solidFill>
              </a:rPr>
              <a:t>视角</a:t>
            </a:r>
          </a:p>
        </p:txBody>
      </p:sp>
      <p:sp>
        <p:nvSpPr>
          <p:cNvPr id="12" name="文本框 11"/>
          <p:cNvSpPr txBox="1"/>
          <p:nvPr/>
        </p:nvSpPr>
        <p:spPr>
          <a:xfrm>
            <a:off x="277404" y="1455666"/>
            <a:ext cx="607859" cy="600164"/>
          </a:xfrm>
          <a:prstGeom prst="rect">
            <a:avLst/>
          </a:prstGeom>
          <a:noFill/>
        </p:spPr>
        <p:txBody>
          <a:bodyPr wrap="none" rtlCol="0">
            <a:spAutoFit/>
          </a:bodyPr>
          <a:lstStyle/>
          <a:p>
            <a:r>
              <a:rPr lang="zh-CN" altLang="en-US" sz="1100" dirty="0"/>
              <a:t>倾斜</a:t>
            </a:r>
            <a:endParaRPr lang="en-US" altLang="zh-CN" sz="1100" dirty="0"/>
          </a:p>
          <a:p>
            <a:endParaRPr lang="en-US" altLang="zh-CN" sz="1100" dirty="0"/>
          </a:p>
          <a:p>
            <a:r>
              <a:rPr lang="zh-CN" altLang="en-US" sz="1100" dirty="0"/>
              <a:t>非倾斜</a:t>
            </a:r>
          </a:p>
        </p:txBody>
      </p:sp>
      <p:pic>
        <p:nvPicPr>
          <p:cNvPr id="13" name="图片 12"/>
          <p:cNvPicPr>
            <a:picLocks noChangeAspect="1"/>
          </p:cNvPicPr>
          <p:nvPr/>
        </p:nvPicPr>
        <p:blipFill>
          <a:blip r:embed="rId4"/>
          <a:stretch>
            <a:fillRect/>
          </a:stretch>
        </p:blipFill>
        <p:spPr>
          <a:xfrm>
            <a:off x="800300" y="1485941"/>
            <a:ext cx="4895910" cy="184891"/>
          </a:xfrm>
          <a:prstGeom prst="rect">
            <a:avLst/>
          </a:prstGeom>
        </p:spPr>
      </p:pic>
      <p:pic>
        <p:nvPicPr>
          <p:cNvPr id="14" name="图片 13"/>
          <p:cNvPicPr>
            <a:picLocks noChangeAspect="1"/>
          </p:cNvPicPr>
          <p:nvPr/>
        </p:nvPicPr>
        <p:blipFill>
          <a:blip r:embed="rId5"/>
          <a:stretch>
            <a:fillRect/>
          </a:stretch>
        </p:blipFill>
        <p:spPr>
          <a:xfrm>
            <a:off x="814491" y="1804010"/>
            <a:ext cx="4867528" cy="211948"/>
          </a:xfrm>
          <a:prstGeom prst="rect">
            <a:avLst/>
          </a:prstGeom>
        </p:spPr>
      </p:pic>
      <p:sp>
        <p:nvSpPr>
          <p:cNvPr id="15" name="矩形 14"/>
          <p:cNvSpPr/>
          <p:nvPr/>
        </p:nvSpPr>
        <p:spPr>
          <a:xfrm>
            <a:off x="3771901" y="442250"/>
            <a:ext cx="563880" cy="6682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6"/>
          <a:stretch>
            <a:fillRect/>
          </a:stretch>
        </p:blipFill>
        <p:spPr>
          <a:xfrm>
            <a:off x="5925408" y="887876"/>
            <a:ext cx="4830223" cy="168071"/>
          </a:xfrm>
          <a:prstGeom prst="rect">
            <a:avLst/>
          </a:prstGeom>
        </p:spPr>
      </p:pic>
      <p:pic>
        <p:nvPicPr>
          <p:cNvPr id="17" name="图片 16"/>
          <p:cNvPicPr>
            <a:picLocks noChangeAspect="1"/>
          </p:cNvPicPr>
          <p:nvPr/>
        </p:nvPicPr>
        <p:blipFill>
          <a:blip r:embed="rId7"/>
          <a:stretch>
            <a:fillRect/>
          </a:stretch>
        </p:blipFill>
        <p:spPr>
          <a:xfrm>
            <a:off x="5944458" y="1440670"/>
            <a:ext cx="4830223" cy="199109"/>
          </a:xfrm>
          <a:prstGeom prst="rect">
            <a:avLst/>
          </a:prstGeom>
        </p:spPr>
      </p:pic>
      <p:pic>
        <p:nvPicPr>
          <p:cNvPr id="18" name="图片 17"/>
          <p:cNvPicPr>
            <a:picLocks noChangeAspect="1"/>
          </p:cNvPicPr>
          <p:nvPr/>
        </p:nvPicPr>
        <p:blipFill>
          <a:blip r:embed="rId8"/>
          <a:stretch>
            <a:fillRect/>
          </a:stretch>
        </p:blipFill>
        <p:spPr>
          <a:xfrm>
            <a:off x="5944458" y="523484"/>
            <a:ext cx="4830223" cy="176985"/>
          </a:xfrm>
          <a:prstGeom prst="rect">
            <a:avLst/>
          </a:prstGeom>
        </p:spPr>
      </p:pic>
      <p:sp>
        <p:nvSpPr>
          <p:cNvPr id="20" name="文本框 19"/>
          <p:cNvSpPr txBox="1"/>
          <p:nvPr/>
        </p:nvSpPr>
        <p:spPr>
          <a:xfrm>
            <a:off x="10755632" y="634863"/>
            <a:ext cx="809837" cy="276999"/>
          </a:xfrm>
          <a:prstGeom prst="rect">
            <a:avLst/>
          </a:prstGeom>
          <a:noFill/>
        </p:spPr>
        <p:txBody>
          <a:bodyPr wrap="none" rtlCol="0">
            <a:spAutoFit/>
          </a:bodyPr>
          <a:lstStyle/>
          <a:p>
            <a:r>
              <a:rPr lang="zh-CN" altLang="en-US" sz="1200" dirty="0"/>
              <a:t>迭代</a:t>
            </a:r>
            <a:r>
              <a:rPr lang="en-US" altLang="zh-CN" sz="1200" dirty="0"/>
              <a:t>50</a:t>
            </a:r>
            <a:r>
              <a:rPr lang="zh-CN" altLang="en-US" sz="1200" dirty="0"/>
              <a:t>次</a:t>
            </a:r>
          </a:p>
        </p:txBody>
      </p:sp>
      <p:sp>
        <p:nvSpPr>
          <p:cNvPr id="22" name="文本框 21"/>
          <p:cNvSpPr txBox="1"/>
          <p:nvPr/>
        </p:nvSpPr>
        <p:spPr>
          <a:xfrm>
            <a:off x="277406" y="2086106"/>
            <a:ext cx="2569028" cy="276999"/>
          </a:xfrm>
          <a:prstGeom prst="rect">
            <a:avLst/>
          </a:prstGeom>
          <a:noFill/>
        </p:spPr>
        <p:txBody>
          <a:bodyPr wrap="square" rtlCol="0">
            <a:spAutoFit/>
          </a:bodyPr>
          <a:lstStyle/>
          <a:p>
            <a:r>
              <a:rPr lang="en-US" altLang="zh-CN" sz="1200" dirty="0">
                <a:solidFill>
                  <a:srgbClr val="FF0000"/>
                </a:solidFill>
              </a:rPr>
              <a:t>45°</a:t>
            </a:r>
            <a:r>
              <a:rPr lang="zh-CN" altLang="en-US" sz="1200" dirty="0">
                <a:solidFill>
                  <a:srgbClr val="FF0000"/>
                </a:solidFill>
              </a:rPr>
              <a:t>，</a:t>
            </a:r>
            <a:r>
              <a:rPr lang="en-US" altLang="zh-CN" sz="1200" dirty="0">
                <a:solidFill>
                  <a:srgbClr val="FF0000"/>
                </a:solidFill>
              </a:rPr>
              <a:t>36</a:t>
            </a:r>
            <a:r>
              <a:rPr lang="zh-CN" altLang="en-US" sz="1200" dirty="0">
                <a:solidFill>
                  <a:srgbClr val="FF0000"/>
                </a:solidFill>
              </a:rPr>
              <a:t>视角，迭代</a:t>
            </a:r>
            <a:r>
              <a:rPr lang="en-US" altLang="zh-CN" sz="1200" dirty="0">
                <a:solidFill>
                  <a:srgbClr val="FF0000"/>
                </a:solidFill>
              </a:rPr>
              <a:t>300</a:t>
            </a:r>
            <a:r>
              <a:rPr lang="zh-CN" altLang="en-US" sz="1200" dirty="0">
                <a:solidFill>
                  <a:srgbClr val="FF0000"/>
                </a:solidFill>
              </a:rPr>
              <a:t>次</a:t>
            </a:r>
          </a:p>
        </p:txBody>
      </p:sp>
      <p:pic>
        <p:nvPicPr>
          <p:cNvPr id="23" name="图片 22"/>
          <p:cNvPicPr>
            <a:picLocks noChangeAspect="1"/>
          </p:cNvPicPr>
          <p:nvPr/>
        </p:nvPicPr>
        <p:blipFill>
          <a:blip r:embed="rId9"/>
          <a:stretch>
            <a:fillRect/>
          </a:stretch>
        </p:blipFill>
        <p:spPr>
          <a:xfrm>
            <a:off x="885264" y="2754879"/>
            <a:ext cx="5081175" cy="140279"/>
          </a:xfrm>
          <a:prstGeom prst="rect">
            <a:avLst/>
          </a:prstGeom>
        </p:spPr>
      </p:pic>
      <p:sp>
        <p:nvSpPr>
          <p:cNvPr id="24" name="文本框 23"/>
          <p:cNvSpPr txBox="1"/>
          <p:nvPr/>
        </p:nvSpPr>
        <p:spPr>
          <a:xfrm>
            <a:off x="277404" y="2362769"/>
            <a:ext cx="607859" cy="600164"/>
          </a:xfrm>
          <a:prstGeom prst="rect">
            <a:avLst/>
          </a:prstGeom>
          <a:noFill/>
        </p:spPr>
        <p:txBody>
          <a:bodyPr wrap="none" rtlCol="0">
            <a:spAutoFit/>
          </a:bodyPr>
          <a:lstStyle/>
          <a:p>
            <a:r>
              <a:rPr lang="zh-CN" altLang="en-US" sz="1100" dirty="0"/>
              <a:t>倾斜</a:t>
            </a:r>
            <a:endParaRPr lang="en-US" altLang="zh-CN" sz="1100" dirty="0"/>
          </a:p>
          <a:p>
            <a:endParaRPr lang="en-US" altLang="zh-CN" sz="1100" dirty="0"/>
          </a:p>
          <a:p>
            <a:r>
              <a:rPr lang="zh-CN" altLang="en-US" sz="1100" dirty="0"/>
              <a:t>非倾斜</a:t>
            </a:r>
          </a:p>
        </p:txBody>
      </p:sp>
      <p:pic>
        <p:nvPicPr>
          <p:cNvPr id="25" name="图片 24"/>
          <p:cNvPicPr>
            <a:picLocks noChangeAspect="1"/>
          </p:cNvPicPr>
          <p:nvPr/>
        </p:nvPicPr>
        <p:blipFill>
          <a:blip r:embed="rId10"/>
          <a:stretch>
            <a:fillRect/>
          </a:stretch>
        </p:blipFill>
        <p:spPr>
          <a:xfrm>
            <a:off x="812935" y="2368257"/>
            <a:ext cx="5036324" cy="219961"/>
          </a:xfrm>
          <a:prstGeom prst="rect">
            <a:avLst/>
          </a:prstGeom>
        </p:spPr>
      </p:pic>
    </p:spTree>
    <p:extLst>
      <p:ext uri="{BB962C8B-B14F-4D97-AF65-F5344CB8AC3E}">
        <p14:creationId xmlns:p14="http://schemas.microsoft.com/office/powerpoint/2010/main" val="3383381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2111" y="542631"/>
            <a:ext cx="5558386" cy="5553369"/>
          </a:xfrm>
          <a:prstGeom prst="rect">
            <a:avLst/>
          </a:prstGeom>
        </p:spPr>
      </p:pic>
      <p:pic>
        <p:nvPicPr>
          <p:cNvPr id="3" name="图片 2"/>
          <p:cNvPicPr>
            <a:picLocks noChangeAspect="1"/>
          </p:cNvPicPr>
          <p:nvPr/>
        </p:nvPicPr>
        <p:blipFill>
          <a:blip r:embed="rId3"/>
          <a:stretch>
            <a:fillRect/>
          </a:stretch>
        </p:blipFill>
        <p:spPr>
          <a:xfrm>
            <a:off x="5950406" y="542631"/>
            <a:ext cx="5568494" cy="5558478"/>
          </a:xfrm>
          <a:prstGeom prst="rect">
            <a:avLst/>
          </a:prstGeom>
        </p:spPr>
      </p:pic>
      <p:sp>
        <p:nvSpPr>
          <p:cNvPr id="4" name="文本框 3"/>
          <p:cNvSpPr txBox="1"/>
          <p:nvPr/>
        </p:nvSpPr>
        <p:spPr>
          <a:xfrm>
            <a:off x="290284" y="101600"/>
            <a:ext cx="2287806" cy="369332"/>
          </a:xfrm>
          <a:prstGeom prst="rect">
            <a:avLst/>
          </a:prstGeom>
          <a:noFill/>
        </p:spPr>
        <p:txBody>
          <a:bodyPr wrap="none" rtlCol="0">
            <a:spAutoFit/>
          </a:bodyPr>
          <a:lstStyle/>
          <a:p>
            <a:r>
              <a:rPr lang="zh-CN" altLang="en-US" dirty="0"/>
              <a:t>迭代</a:t>
            </a:r>
            <a:r>
              <a:rPr lang="en-US" altLang="zh-CN" dirty="0"/>
              <a:t>50</a:t>
            </a:r>
            <a:r>
              <a:rPr lang="zh-CN" altLang="en-US" dirty="0"/>
              <a:t>次，</a:t>
            </a:r>
            <a:r>
              <a:rPr lang="en-US" altLang="zh-CN" dirty="0"/>
              <a:t>36</a:t>
            </a:r>
            <a:r>
              <a:rPr lang="zh-CN" altLang="en-US" dirty="0"/>
              <a:t>个投影</a:t>
            </a:r>
          </a:p>
        </p:txBody>
      </p:sp>
      <p:sp>
        <p:nvSpPr>
          <p:cNvPr id="6" name="文本框 5"/>
          <p:cNvSpPr txBox="1"/>
          <p:nvPr/>
        </p:nvSpPr>
        <p:spPr>
          <a:xfrm>
            <a:off x="6110515" y="101600"/>
            <a:ext cx="1242648" cy="369332"/>
          </a:xfrm>
          <a:prstGeom prst="rect">
            <a:avLst/>
          </a:prstGeom>
          <a:noFill/>
        </p:spPr>
        <p:txBody>
          <a:bodyPr wrap="none" rtlCol="0">
            <a:spAutoFit/>
          </a:bodyPr>
          <a:lstStyle/>
          <a:p>
            <a:r>
              <a:rPr lang="en-US" altLang="zh-CN" dirty="0"/>
              <a:t>180</a:t>
            </a:r>
            <a:r>
              <a:rPr lang="zh-CN" altLang="en-US" dirty="0"/>
              <a:t>个投影</a:t>
            </a:r>
          </a:p>
        </p:txBody>
      </p:sp>
    </p:spTree>
    <p:extLst>
      <p:ext uri="{BB962C8B-B14F-4D97-AF65-F5344CB8AC3E}">
        <p14:creationId xmlns:p14="http://schemas.microsoft.com/office/powerpoint/2010/main" val="16095695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95460" y="539436"/>
            <a:ext cx="2511379" cy="2145213"/>
          </a:xfrm>
          <a:prstGeom prst="rect">
            <a:avLst/>
          </a:prstGeom>
        </p:spPr>
      </p:pic>
      <p:pic>
        <p:nvPicPr>
          <p:cNvPr id="4" name="图片 3"/>
          <p:cNvPicPr>
            <a:picLocks noChangeAspect="1"/>
          </p:cNvPicPr>
          <p:nvPr/>
        </p:nvPicPr>
        <p:blipFill>
          <a:blip r:embed="rId3"/>
          <a:stretch>
            <a:fillRect/>
          </a:stretch>
        </p:blipFill>
        <p:spPr>
          <a:xfrm>
            <a:off x="695459" y="2922028"/>
            <a:ext cx="2511381" cy="2145213"/>
          </a:xfrm>
          <a:prstGeom prst="rect">
            <a:avLst/>
          </a:prstGeom>
        </p:spPr>
      </p:pic>
    </p:spTree>
    <p:extLst>
      <p:ext uri="{BB962C8B-B14F-4D97-AF65-F5344CB8AC3E}">
        <p14:creationId xmlns:p14="http://schemas.microsoft.com/office/powerpoint/2010/main" val="29825789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等线 Light"/>
        <a:ea typeface="宋体"/>
        <a:cs typeface=""/>
      </a:majorFont>
      <a:minorFont>
        <a:latin typeface="等线"/>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13416</TotalTime>
  <Words>3025</Words>
  <Application>Microsoft Office PowerPoint</Application>
  <PresentationFormat>宽屏</PresentationFormat>
  <Paragraphs>258</Paragraphs>
  <Slides>49</Slides>
  <Notes>15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0" baseType="lpstr">
      <vt:lpstr>-apple-system</vt:lpstr>
      <vt:lpstr>TimesNewRomanPSMT</vt:lpstr>
      <vt:lpstr>等线</vt:lpstr>
      <vt:lpstr>等线 Light</vt:lpstr>
      <vt:lpstr>黑体</vt:lpstr>
      <vt:lpstr>SimSun</vt:lpstr>
      <vt:lpstr>SimSun</vt:lpstr>
      <vt:lpstr>Arial</vt:lpstr>
      <vt:lpstr>Courier New</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LXX</dc:creator>
  <cp:lastModifiedBy>LXX</cp:lastModifiedBy>
  <cp:revision>146</cp:revision>
  <dcterms:created xsi:type="dcterms:W3CDTF">2024-09-06T07:17:10Z</dcterms:created>
  <dcterms:modified xsi:type="dcterms:W3CDTF">2024-10-31T13:36:31Z</dcterms:modified>
</cp:coreProperties>
</file>